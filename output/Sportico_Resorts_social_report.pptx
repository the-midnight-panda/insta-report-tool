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Posts</c:v>
                </c:pt>
              </c:strCache>
            </c:strRef>
          </c:tx>
          <c:dPt>
            <c:idx val="0"/>
            <c:spPr>
              <a:solidFill>
                <a:srgbClr val="16A085"/>
              </a:solidFill>
            </c:spPr>
          </c:dPt>
          <c:dPt>
            <c:idx val="1"/>
            <c:spPr>
              <a:solidFill>
                <a:srgbClr val="D4AF37"/>
              </a:solidFill>
            </c:spPr>
          </c:dPt>
          <c:dPt>
            <c:idx val="2"/>
            <c:spPr>
              <a:solidFill>
                <a:srgbClr val="8E44AD"/>
              </a:solidFill>
            </c:spPr>
          </c:dPt>
          <c:cat>
            <c:strRef>
              <c:f>Sheet1!$A$2:$A$4</c:f>
              <c:strCache>
                <c:ptCount val="3"/>
                <c:pt idx="0">
                  <c:v>Images</c:v>
                </c:pt>
                <c:pt idx="1">
                  <c:v>Carousels</c:v>
                </c:pt>
                <c:pt idx="2">
                  <c:v>Videos/Reels</c:v>
                </c:pt>
              </c:strCache>
            </c:strRef>
          </c:cat>
          <c:val>
            <c:numRef>
              <c:f>Sheet1!$B$2:$B$4</c:f>
              <c:numCache>
                <c:formatCode>General</c:formatCode>
                <c:ptCount val="3"/>
                <c:pt idx="0">
                  <c:v>1</c:v>
                </c:pt>
                <c:pt idx="1">
                  <c:v>2</c:v>
                </c:pt>
                <c:pt idx="2">
                  <c:v>9</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200">
                <a:solidFill>
                  <a:srgbClr val="FFFFFF"/>
                </a:solidFil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100">
                <a:solidFill>
                  <a:srgbClr val="FFFFFF"/>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Followers/Subscribers</c:v>
                </c:pt>
              </c:strCache>
            </c:strRef>
          </c:tx>
          <c:dPt>
            <c:idx val="0"/>
            <c:spPr>
              <a:solidFill>
                <a:srgbClr val="2ECC71"/>
              </a:solidFill>
            </c:spPr>
          </c:dPt>
          <c:dPt>
            <c:idx val="1"/>
            <c:spPr>
              <a:solidFill>
                <a:srgbClr val="1A5AFF"/>
              </a:solidFill>
            </c:spPr>
          </c:dPt>
          <c:dPt>
            <c:idx val="2"/>
            <c:spPr>
              <a:solidFill>
                <a:srgbClr val="FF3B30"/>
              </a:solidFill>
            </c:spPr>
          </c:dPt>
          <c:dPt>
            <c:idx val="3"/>
            <c:spPr>
              <a:solidFill>
                <a:srgbClr val="16A085"/>
              </a:solidFill>
            </c:spPr>
          </c:dPt>
          <c:cat>
            <c:strRef>
              <c:f>Sheet1!$A$2:$A$5</c:f>
              <c:strCache>
                <c:ptCount val="4"/>
                <c:pt idx="0">
                  <c:v>Instagram</c:v>
                </c:pt>
                <c:pt idx="1">
                  <c:v>Facebook</c:v>
                </c:pt>
                <c:pt idx="2">
                  <c:v>YouTube</c:v>
                </c:pt>
                <c:pt idx="3">
                  <c:v>LinkedIn</c:v>
                </c:pt>
              </c:strCache>
            </c:strRef>
          </c:cat>
          <c:val>
            <c:numRef>
              <c:f>Sheet1!$B$2:$B$5</c:f>
              <c:numCache>
                <c:formatCode>General</c:formatCode>
                <c:ptCount val="4"/>
                <c:pt idx="0">
                  <c:v>12646.0</c:v>
                </c:pt>
                <c:pt idx="1">
                  <c:v>830.0</c:v>
                </c:pt>
                <c:pt idx="2">
                  <c:v>275.0</c:v>
                </c:pt>
                <c:pt idx="3">
                  <c:v>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200">
                <a:solidFill>
                  <a:srgbClr val="FFFFFF"/>
                </a:solidFil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solidFill>
                  <a:srgbClr val="FFFFFF"/>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5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828800"/>
            <a:ext cx="5486400" cy="5486400"/>
          </a:xfrm>
          <a:prstGeom prst="ellipse">
            <a:avLst/>
          </a:prstGeom>
          <a:solidFill>
            <a:srgbClr val="122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97280"/>
            <a:ext cx="9144000" cy="457200"/>
          </a:xfrm>
          <a:prstGeom prst="rect">
            <a:avLst/>
          </a:prstGeom>
          <a:noFill/>
        </p:spPr>
        <p:txBody>
          <a:bodyPr wrap="square">
            <a:spAutoFit/>
          </a:bodyPr>
          <a:lstStyle/>
          <a:p>
            <a:pPr algn="l">
              <a:defRPr sz="1200" b="1" i="1">
                <a:solidFill>
                  <a:srgbClr val="D4AF37"/>
                </a:solidFill>
              </a:defRPr>
            </a:pPr>
            <a:r>
              <a:t>SOCIAL MEDIA INTELLIGENCE REPORT</a:t>
            </a:r>
          </a:p>
        </p:txBody>
      </p:sp>
      <p:sp>
        <p:nvSpPr>
          <p:cNvPr id="5" name="TextBox 4"/>
          <p:cNvSpPr txBox="1"/>
          <p:nvPr/>
        </p:nvSpPr>
        <p:spPr>
          <a:xfrm>
            <a:off x="640080" y="1600200"/>
            <a:ext cx="9144000" cy="1005840"/>
          </a:xfrm>
          <a:prstGeom prst="rect">
            <a:avLst/>
          </a:prstGeom>
          <a:noFill/>
        </p:spPr>
        <p:txBody>
          <a:bodyPr wrap="square">
            <a:spAutoFit/>
          </a:bodyPr>
          <a:lstStyle/>
          <a:p>
            <a:pPr algn="l">
              <a:defRPr sz="4200" b="1" i="0">
                <a:solidFill>
                  <a:srgbClr val="FFFFFF"/>
                </a:solidFill>
              </a:defRPr>
            </a:pPr>
            <a:r>
              <a:t>Sportico Resorts</a:t>
            </a:r>
          </a:p>
        </p:txBody>
      </p:sp>
      <p:sp>
        <p:nvSpPr>
          <p:cNvPr id="6" name="TextBox 5"/>
          <p:cNvSpPr txBox="1"/>
          <p:nvPr/>
        </p:nvSpPr>
        <p:spPr>
          <a:xfrm>
            <a:off x="640080" y="2606040"/>
            <a:ext cx="8229600" cy="411480"/>
          </a:xfrm>
          <a:prstGeom prst="rect">
            <a:avLst/>
          </a:prstGeom>
          <a:noFill/>
        </p:spPr>
        <p:txBody>
          <a:bodyPr wrap="square">
            <a:spAutoFit/>
          </a:bodyPr>
          <a:lstStyle/>
          <a:p>
            <a:pPr algn="l">
              <a:defRPr sz="1600" b="0" i="1">
                <a:solidFill>
                  <a:srgbClr val="D4AF37"/>
                </a:solidFill>
              </a:defRPr>
            </a:pPr>
            <a:r>
              <a:t>Luxury Resort &amp; Adventure Tourism</a:t>
            </a:r>
          </a:p>
        </p:txBody>
      </p:sp>
      <p:sp>
        <p:nvSpPr>
          <p:cNvPr id="7" name="TextBox 6"/>
          <p:cNvSpPr txBox="1"/>
          <p:nvPr/>
        </p:nvSpPr>
        <p:spPr>
          <a:xfrm>
            <a:off x="640080" y="3108960"/>
            <a:ext cx="8229600" cy="365760"/>
          </a:xfrm>
          <a:prstGeom prst="rect">
            <a:avLst/>
          </a:prstGeom>
          <a:noFill/>
        </p:spPr>
        <p:txBody>
          <a:bodyPr wrap="square">
            <a:spAutoFit/>
          </a:bodyPr>
          <a:lstStyle/>
          <a:p>
            <a:pPr algn="l">
              <a:defRPr sz="1300" b="0" i="0">
                <a:solidFill>
                  <a:srgbClr val="C8D2E6"/>
                </a:solidFill>
              </a:defRPr>
            </a:pPr>
            <a:r>
              <a:t>🌐  https://www.sporticoresorts.com/</a:t>
            </a:r>
          </a:p>
        </p:txBody>
      </p:sp>
      <p:sp>
        <p:nvSpPr>
          <p:cNvPr id="8" name="Rectangle 7"/>
          <p:cNvSpPr/>
          <p:nvPr/>
        </p:nvSpPr>
        <p:spPr>
          <a:xfrm>
            <a:off x="640080" y="3703320"/>
            <a:ext cx="2651760" cy="457200"/>
          </a:xfrm>
          <a:prstGeom prst="rect">
            <a:avLst/>
          </a:prstGeom>
          <a:solidFill>
            <a:srgbClr val="0E1E3A"/>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67328"/>
            <a:ext cx="2377440" cy="329184"/>
          </a:xfrm>
          <a:prstGeom prst="rect">
            <a:avLst/>
          </a:prstGeom>
          <a:noFill/>
        </p:spPr>
        <p:txBody>
          <a:bodyPr wrap="square">
            <a:spAutoFit/>
          </a:bodyPr>
          <a:lstStyle/>
          <a:p>
            <a:pPr algn="l">
              <a:defRPr sz="1300" b="1" i="0">
                <a:solidFill>
                  <a:srgbClr val="FFFFFF"/>
                </a:solidFill>
              </a:defRPr>
            </a:pPr>
            <a:r>
              <a:t>📸 Instagram</a:t>
            </a:r>
          </a:p>
        </p:txBody>
      </p:sp>
      <p:sp>
        <p:nvSpPr>
          <p:cNvPr id="10" name="Rectangle 9"/>
          <p:cNvSpPr/>
          <p:nvPr/>
        </p:nvSpPr>
        <p:spPr>
          <a:xfrm>
            <a:off x="3520439" y="3703320"/>
            <a:ext cx="2651760" cy="457200"/>
          </a:xfrm>
          <a:prstGeom prst="rect">
            <a:avLst/>
          </a:prstGeom>
          <a:solidFill>
            <a:srgbClr val="0E1E3A"/>
          </a:solidFill>
          <a:ln w="12700">
            <a:solidFill>
              <a:srgbClr val="1A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3767328"/>
            <a:ext cx="2377440" cy="329184"/>
          </a:xfrm>
          <a:prstGeom prst="rect">
            <a:avLst/>
          </a:prstGeom>
          <a:noFill/>
        </p:spPr>
        <p:txBody>
          <a:bodyPr wrap="square">
            <a:spAutoFit/>
          </a:bodyPr>
          <a:lstStyle/>
          <a:p>
            <a:pPr algn="l">
              <a:defRPr sz="1300" b="1" i="0">
                <a:solidFill>
                  <a:srgbClr val="FFFFFF"/>
                </a:solidFill>
              </a:defRPr>
            </a:pPr>
            <a:r>
              <a:t>👥 Facebook</a:t>
            </a:r>
          </a:p>
        </p:txBody>
      </p:sp>
      <p:sp>
        <p:nvSpPr>
          <p:cNvPr id="12" name="Rectangle 11"/>
          <p:cNvSpPr/>
          <p:nvPr/>
        </p:nvSpPr>
        <p:spPr>
          <a:xfrm>
            <a:off x="6400800" y="3703320"/>
            <a:ext cx="2651760" cy="457200"/>
          </a:xfrm>
          <a:prstGeom prst="rect">
            <a:avLst/>
          </a:prstGeom>
          <a:solidFill>
            <a:srgbClr val="0E1E3A"/>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59" y="3767328"/>
            <a:ext cx="2377440" cy="329184"/>
          </a:xfrm>
          <a:prstGeom prst="rect">
            <a:avLst/>
          </a:prstGeom>
          <a:noFill/>
        </p:spPr>
        <p:txBody>
          <a:bodyPr wrap="square">
            <a:spAutoFit/>
          </a:bodyPr>
          <a:lstStyle/>
          <a:p>
            <a:pPr algn="l">
              <a:defRPr sz="1300" b="1" i="0">
                <a:solidFill>
                  <a:srgbClr val="FFFFFF"/>
                </a:solidFill>
              </a:defRPr>
            </a:pPr>
            <a:r>
              <a:t>▶️  YouTube</a:t>
            </a:r>
          </a:p>
        </p:txBody>
      </p:sp>
      <p:sp>
        <p:nvSpPr>
          <p:cNvPr id="14" name="Rectangle 13"/>
          <p:cNvSpPr/>
          <p:nvPr/>
        </p:nvSpPr>
        <p:spPr>
          <a:xfrm>
            <a:off x="9281159" y="3703320"/>
            <a:ext cx="2651760" cy="45720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19" y="3767328"/>
            <a:ext cx="2377440" cy="329184"/>
          </a:xfrm>
          <a:prstGeom prst="rect">
            <a:avLst/>
          </a:prstGeom>
          <a:noFill/>
        </p:spPr>
        <p:txBody>
          <a:bodyPr wrap="square">
            <a:spAutoFit/>
          </a:bodyPr>
          <a:lstStyle/>
          <a:p>
            <a:pPr algn="l">
              <a:defRPr sz="1300" b="1" i="0">
                <a:solidFill>
                  <a:srgbClr val="FFFFFF"/>
                </a:solidFill>
              </a:defRPr>
            </a:pPr>
            <a:r>
              <a:t>💼 LinkedIn</a:t>
            </a:r>
          </a:p>
        </p:txBody>
      </p:sp>
      <p:sp>
        <p:nvSpPr>
          <p:cNvPr id="16" name="Rectangle 15"/>
          <p:cNvSpPr/>
          <p:nvPr/>
        </p:nvSpPr>
        <p:spPr>
          <a:xfrm>
            <a:off x="640080" y="4389120"/>
            <a:ext cx="3474720" cy="1371600"/>
          </a:xfrm>
          <a:prstGeom prst="rect">
            <a:avLst/>
          </a:prstGeom>
          <a:solidFill>
            <a:srgbClr val="0E1E3A"/>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4389120"/>
            <a:ext cx="347472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19" y="4526280"/>
            <a:ext cx="3291839" cy="713232"/>
          </a:xfrm>
          <a:prstGeom prst="rect">
            <a:avLst/>
          </a:prstGeom>
          <a:noFill/>
        </p:spPr>
        <p:txBody>
          <a:bodyPr wrap="square">
            <a:spAutoFit/>
          </a:bodyPr>
          <a:lstStyle/>
          <a:p>
            <a:pPr algn="ctr">
              <a:defRPr sz="2200" b="1" i="0">
                <a:solidFill>
                  <a:srgbClr val="FFFFFF"/>
                </a:solidFill>
              </a:defRPr>
            </a:pPr>
            <a:r>
              <a:t>12646</a:t>
            </a:r>
          </a:p>
        </p:txBody>
      </p:sp>
      <p:sp>
        <p:nvSpPr>
          <p:cNvPr id="19" name="TextBox 18"/>
          <p:cNvSpPr txBox="1"/>
          <p:nvPr/>
        </p:nvSpPr>
        <p:spPr>
          <a:xfrm>
            <a:off x="713231" y="5212079"/>
            <a:ext cx="3328415" cy="480059"/>
          </a:xfrm>
          <a:prstGeom prst="rect">
            <a:avLst/>
          </a:prstGeom>
          <a:noFill/>
        </p:spPr>
        <p:txBody>
          <a:bodyPr wrap="square">
            <a:spAutoFit/>
          </a:bodyPr>
          <a:lstStyle/>
          <a:p>
            <a:pPr algn="ctr">
              <a:defRPr sz="1000" b="0" i="0">
                <a:solidFill>
                  <a:srgbClr val="C8D2E6"/>
                </a:solidFill>
              </a:defRPr>
            </a:pPr>
            <a:r>
              <a:t>INSTAGRAM FOLLOWERS</a:t>
            </a:r>
          </a:p>
        </p:txBody>
      </p:sp>
      <p:sp>
        <p:nvSpPr>
          <p:cNvPr id="20" name="Rectangle 19"/>
          <p:cNvSpPr/>
          <p:nvPr/>
        </p:nvSpPr>
        <p:spPr>
          <a:xfrm>
            <a:off x="4389120" y="4389120"/>
            <a:ext cx="3474720" cy="1371600"/>
          </a:xfrm>
          <a:prstGeom prst="rect">
            <a:avLst/>
          </a:prstGeom>
          <a:solidFill>
            <a:srgbClr val="0E1E3A"/>
          </a:solidFill>
          <a:ln w="12700">
            <a:solidFill>
              <a:srgbClr val="1A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89120" y="4389120"/>
            <a:ext cx="3474720" cy="54864"/>
          </a:xfrm>
          <a:prstGeom prst="rect">
            <a:avLst/>
          </a:prstGeom>
          <a:solidFill>
            <a:srgbClr val="1A5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59" y="4526280"/>
            <a:ext cx="3291839" cy="713232"/>
          </a:xfrm>
          <a:prstGeom prst="rect">
            <a:avLst/>
          </a:prstGeom>
          <a:noFill/>
        </p:spPr>
        <p:txBody>
          <a:bodyPr wrap="square">
            <a:spAutoFit/>
          </a:bodyPr>
          <a:lstStyle/>
          <a:p>
            <a:pPr algn="ctr">
              <a:defRPr sz="2200" b="1" i="0">
                <a:solidFill>
                  <a:srgbClr val="FFFFFF"/>
                </a:solidFill>
              </a:defRPr>
            </a:pPr>
            <a:r>
              <a:t>830</a:t>
            </a:r>
          </a:p>
        </p:txBody>
      </p:sp>
      <p:sp>
        <p:nvSpPr>
          <p:cNvPr id="23" name="TextBox 22"/>
          <p:cNvSpPr txBox="1"/>
          <p:nvPr/>
        </p:nvSpPr>
        <p:spPr>
          <a:xfrm>
            <a:off x="4462272" y="5212079"/>
            <a:ext cx="3328415" cy="480059"/>
          </a:xfrm>
          <a:prstGeom prst="rect">
            <a:avLst/>
          </a:prstGeom>
          <a:noFill/>
        </p:spPr>
        <p:txBody>
          <a:bodyPr wrap="square">
            <a:spAutoFit/>
          </a:bodyPr>
          <a:lstStyle/>
          <a:p>
            <a:pPr algn="ctr">
              <a:defRPr sz="1000" b="0" i="0">
                <a:solidFill>
                  <a:srgbClr val="C8D2E6"/>
                </a:solidFill>
              </a:defRPr>
            </a:pPr>
            <a:r>
              <a:t>FACEBOOK FOLLOWERS</a:t>
            </a:r>
          </a:p>
        </p:txBody>
      </p:sp>
      <p:sp>
        <p:nvSpPr>
          <p:cNvPr id="24" name="Rectangle 23"/>
          <p:cNvSpPr/>
          <p:nvPr/>
        </p:nvSpPr>
        <p:spPr>
          <a:xfrm>
            <a:off x="8138159" y="4389120"/>
            <a:ext cx="3474720" cy="1371600"/>
          </a:xfrm>
          <a:prstGeom prst="rect">
            <a:avLst/>
          </a:prstGeom>
          <a:solidFill>
            <a:srgbClr val="0E1E3A"/>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38159" y="4389120"/>
            <a:ext cx="3474720" cy="54864"/>
          </a:xfrm>
          <a:prstGeom prst="rect">
            <a:avLst/>
          </a:prstGeom>
          <a:solidFill>
            <a:srgbClr val="F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9" y="4526280"/>
            <a:ext cx="3291839" cy="713232"/>
          </a:xfrm>
          <a:prstGeom prst="rect">
            <a:avLst/>
          </a:prstGeom>
          <a:noFill/>
        </p:spPr>
        <p:txBody>
          <a:bodyPr wrap="square">
            <a:spAutoFit/>
          </a:bodyPr>
          <a:lstStyle/>
          <a:p>
            <a:pPr algn="ctr">
              <a:defRPr sz="2200" b="1" i="0">
                <a:solidFill>
                  <a:srgbClr val="FFFFFF"/>
                </a:solidFill>
              </a:defRPr>
            </a:pPr>
            <a:r>
              <a:t>275</a:t>
            </a:r>
          </a:p>
        </p:txBody>
      </p:sp>
      <p:sp>
        <p:nvSpPr>
          <p:cNvPr id="27" name="TextBox 26"/>
          <p:cNvSpPr txBox="1"/>
          <p:nvPr/>
        </p:nvSpPr>
        <p:spPr>
          <a:xfrm>
            <a:off x="8211311" y="5212079"/>
            <a:ext cx="3328415" cy="480059"/>
          </a:xfrm>
          <a:prstGeom prst="rect">
            <a:avLst/>
          </a:prstGeom>
          <a:noFill/>
        </p:spPr>
        <p:txBody>
          <a:bodyPr wrap="square">
            <a:spAutoFit/>
          </a:bodyPr>
          <a:lstStyle/>
          <a:p>
            <a:pPr algn="ctr">
              <a:defRPr sz="1000" b="0" i="0">
                <a:solidFill>
                  <a:srgbClr val="C8D2E6"/>
                </a:solidFill>
              </a:defRPr>
            </a:pPr>
            <a:r>
              <a:t>YOUTUBE SUBSCRIBERS</a:t>
            </a:r>
          </a:p>
        </p:txBody>
      </p:sp>
      <p:sp>
        <p:nvSpPr>
          <p:cNvPr id="28" name="TextBox 27"/>
          <p:cNvSpPr txBox="1"/>
          <p:nvPr/>
        </p:nvSpPr>
        <p:spPr>
          <a:xfrm>
            <a:off x="640080" y="6492240"/>
            <a:ext cx="10972800" cy="274320"/>
          </a:xfrm>
          <a:prstGeom prst="rect">
            <a:avLst/>
          </a:prstGeom>
          <a:noFill/>
        </p:spPr>
        <p:txBody>
          <a:bodyPr wrap="square">
            <a:spAutoFit/>
          </a:bodyPr>
          <a:lstStyle/>
          <a:p>
            <a:pPr algn="ctr">
              <a:defRPr sz="1000" b="0" i="1">
                <a:solidFill>
                  <a:srgbClr val="C8D2E6"/>
                </a:solidFill>
              </a:defRPr>
            </a:pPr>
            <a:r>
              <a:t>Powered by SearchAPI.io + Claude AI  •  https://www.sporticoresorts.com/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Social Media Overview</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Sportico Resorts  —  All platforms at a glance</a:t>
            </a:r>
          </a:p>
        </p:txBody>
      </p:sp>
      <p:graphicFrame>
        <p:nvGraphicFramePr>
          <p:cNvPr id="5" name="Table 4"/>
          <p:cNvGraphicFramePr>
            <a:graphicFrameLocks noGrp="1"/>
          </p:cNvGraphicFramePr>
          <p:nvPr/>
        </p:nvGraphicFramePr>
        <p:xfrm>
          <a:off x="457200" y="1188720"/>
          <a:ext cx="11247120" cy="3200400"/>
        </p:xfrm>
        <a:graphic>
          <a:graphicData uri="http://schemas.openxmlformats.org/drawingml/2006/table">
            <a:tbl>
              <a:tblPr firstRow="1" bandRow="1">
                <a:tableStyleId>{5C22544A-7EE6-4342-B048-85BDC9FD1C3A}</a:tableStyleId>
              </a:tblPr>
              <a:tblGrid>
                <a:gridCol w="2249424"/>
                <a:gridCol w="2249424"/>
                <a:gridCol w="2249424"/>
                <a:gridCol w="2249424"/>
                <a:gridCol w="2249424"/>
              </a:tblGrid>
              <a:tr h="640080">
                <a:tc>
                  <a:txBody>
                    <a:bodyPr/>
                    <a:lstStyle/>
                    <a:p>
                      <a:pPr algn="ctr">
                        <a:defRPr b="1" sz="1200">
                          <a:solidFill>
                            <a:srgbClr val="050C1A"/>
                          </a:solidFill>
                        </a:defRPr>
                      </a:pPr>
                      <a:r>
                        <a:t>Platform</a:t>
                      </a:r>
                    </a:p>
                  </a:txBody>
                  <a:tcPr>
                    <a:solidFill>
                      <a:srgbClr val="D4AF37"/>
                    </a:solidFill>
                  </a:tcPr>
                </a:tc>
                <a:tc>
                  <a:txBody>
                    <a:bodyPr/>
                    <a:lstStyle/>
                    <a:p>
                      <a:pPr algn="ctr">
                        <a:defRPr b="1" sz="1200">
                          <a:solidFill>
                            <a:srgbClr val="050C1A"/>
                          </a:solidFill>
                        </a:defRPr>
                      </a:pPr>
                      <a:r>
                        <a:t>Handle</a:t>
                      </a:r>
                    </a:p>
                  </a:txBody>
                  <a:tcPr>
                    <a:solidFill>
                      <a:srgbClr val="D4AF37"/>
                    </a:solidFill>
                  </a:tcPr>
                </a:tc>
                <a:tc>
                  <a:txBody>
                    <a:bodyPr/>
                    <a:lstStyle/>
                    <a:p>
                      <a:pPr algn="ctr">
                        <a:defRPr b="1" sz="1200">
                          <a:solidFill>
                            <a:srgbClr val="050C1A"/>
                          </a:solidFill>
                        </a:defRPr>
                      </a:pPr>
                      <a:r>
                        <a:t>Followers/Subscribers</a:t>
                      </a:r>
                    </a:p>
                  </a:txBody>
                  <a:tcPr>
                    <a:solidFill>
                      <a:srgbClr val="D4AF37"/>
                    </a:solidFill>
                  </a:tcPr>
                </a:tc>
                <a:tc>
                  <a:txBody>
                    <a:bodyPr/>
                    <a:lstStyle/>
                    <a:p>
                      <a:pPr algn="ctr">
                        <a:defRPr b="1" sz="1200">
                          <a:solidFill>
                            <a:srgbClr val="050C1A"/>
                          </a:solidFill>
                        </a:defRPr>
                      </a:pPr>
                      <a:r>
                        <a:t>Key Metric</a:t>
                      </a:r>
                    </a:p>
                  </a:txBody>
                  <a:tcPr>
                    <a:solidFill>
                      <a:srgbClr val="D4AF37"/>
                    </a:solidFill>
                  </a:tcPr>
                </a:tc>
                <a:tc>
                  <a:txBody>
                    <a:bodyPr/>
                    <a:lstStyle/>
                    <a:p>
                      <a:pPr algn="ctr">
                        <a:defRPr b="1" sz="1200">
                          <a:solidFill>
                            <a:srgbClr val="050C1A"/>
                          </a:solidFill>
                        </a:defRPr>
                      </a:pPr>
                      <a:r>
                        <a:t>Status</a:t>
                      </a:r>
                    </a:p>
                  </a:txBody>
                  <a:tcPr>
                    <a:solidFill>
                      <a:srgbClr val="D4AF37"/>
                    </a:solidFill>
                  </a:tcPr>
                </a:tc>
              </a:tr>
              <a:tr h="640080">
                <a:tc>
                  <a:txBody>
                    <a:bodyPr/>
                    <a:lstStyle/>
                    <a:p>
                      <a:pPr algn="ctr">
                        <a:defRPr sz="1100">
                          <a:solidFill>
                            <a:srgbClr val="FFFFFF"/>
                          </a:solidFill>
                        </a:defRPr>
                      </a:pPr>
                      <a:r>
                        <a:t>📸 Instagram</a:t>
                      </a:r>
                    </a:p>
                  </a:txBody>
                  <a:tcPr>
                    <a:solidFill>
                      <a:srgbClr val="0E1E3A"/>
                    </a:solidFill>
                  </a:tcPr>
                </a:tc>
                <a:tc>
                  <a:txBody>
                    <a:bodyPr/>
                    <a:lstStyle/>
                    <a:p>
                      <a:pPr algn="ctr">
                        <a:defRPr sz="1100">
                          <a:solidFill>
                            <a:srgbClr val="FFFFFF"/>
                          </a:solidFill>
                        </a:defRPr>
                      </a:pPr>
                      <a:r>
                        <a:t>@sportico_resorts</a:t>
                      </a:r>
                    </a:p>
                  </a:txBody>
                  <a:tcPr>
                    <a:solidFill>
                      <a:srgbClr val="0E1E3A"/>
                    </a:solidFill>
                  </a:tcPr>
                </a:tc>
                <a:tc>
                  <a:txBody>
                    <a:bodyPr/>
                    <a:lstStyle/>
                    <a:p>
                      <a:pPr algn="ctr">
                        <a:defRPr sz="1100">
                          <a:solidFill>
                            <a:srgbClr val="FFFFFF"/>
                          </a:solidFill>
                        </a:defRPr>
                      </a:pPr>
                      <a:r>
                        <a:t>12646</a:t>
                      </a:r>
                    </a:p>
                  </a:txBody>
                  <a:tcPr>
                    <a:solidFill>
                      <a:srgbClr val="0E1E3A"/>
                    </a:solidFill>
                  </a:tcPr>
                </a:tc>
                <a:tc>
                  <a:txBody>
                    <a:bodyPr/>
                    <a:lstStyle/>
                    <a:p>
                      <a:pPr algn="ctr">
                        <a:defRPr sz="1100">
                          <a:solidFill>
                            <a:srgbClr val="FFFFFF"/>
                          </a:solidFill>
                        </a:defRPr>
                      </a:pPr>
                      <a:r>
                        <a:t>ER: 0.28%</a:t>
                      </a:r>
                    </a:p>
                  </a:txBody>
                  <a:tcPr>
                    <a:solidFill>
                      <a:srgbClr val="0E1E3A"/>
                    </a:solidFill>
                  </a:tcPr>
                </a:tc>
                <a:tc>
                  <a:txBody>
                    <a:bodyPr/>
                    <a:lstStyle/>
                    <a:p>
                      <a:pPr algn="ctr">
                        <a:defRPr sz="1100">
                          <a:solidFill>
                            <a:srgbClr val="FFFFFF"/>
                          </a:solidFill>
                        </a:defRPr>
                      </a:pPr>
                      <a:r>
                        <a:t>✅ Active</a:t>
                      </a:r>
                    </a:p>
                  </a:txBody>
                  <a:tcPr>
                    <a:solidFill>
                      <a:srgbClr val="0E1E3A"/>
                    </a:solidFill>
                  </a:tcPr>
                </a:tc>
              </a:tr>
              <a:tr h="640080">
                <a:tc>
                  <a:txBody>
                    <a:bodyPr/>
                    <a:lstStyle/>
                    <a:p>
                      <a:pPr algn="ctr">
                        <a:defRPr sz="1100">
                          <a:solidFill>
                            <a:srgbClr val="FFFFFF"/>
                          </a:solidFill>
                        </a:defRPr>
                      </a:pPr>
                      <a:r>
                        <a:t>👥 Facebook</a:t>
                      </a:r>
                    </a:p>
                  </a:txBody>
                  <a:tcPr>
                    <a:solidFill>
                      <a:srgbClr val="050C1A"/>
                    </a:solidFill>
                  </a:tcPr>
                </a:tc>
                <a:tc>
                  <a:txBody>
                    <a:bodyPr/>
                    <a:lstStyle/>
                    <a:p>
                      <a:pPr algn="ctr">
                        <a:defRPr sz="1100">
                          <a:solidFill>
                            <a:srgbClr val="FFFFFF"/>
                          </a:solidFill>
                        </a:defRPr>
                      </a:pPr>
                      <a:r>
                        <a:t>Sporticoresorts</a:t>
                      </a:r>
                    </a:p>
                  </a:txBody>
                  <a:tcPr>
                    <a:solidFill>
                      <a:srgbClr val="050C1A"/>
                    </a:solidFill>
                  </a:tcPr>
                </a:tc>
                <a:tc>
                  <a:txBody>
                    <a:bodyPr/>
                    <a:lstStyle/>
                    <a:p>
                      <a:pPr algn="ctr">
                        <a:defRPr sz="1100">
                          <a:solidFill>
                            <a:srgbClr val="FFFFFF"/>
                          </a:solidFill>
                        </a:defRPr>
                      </a:pPr>
                      <a:r>
                        <a:t>830</a:t>
                      </a:r>
                    </a:p>
                  </a:txBody>
                  <a:tcPr>
                    <a:solidFill>
                      <a:srgbClr val="050C1A"/>
                    </a:solidFill>
                  </a:tcPr>
                </a:tc>
                <a:tc>
                  <a:txBody>
                    <a:bodyPr/>
                    <a:lstStyle/>
                    <a:p>
                      <a:pPr algn="ctr">
                        <a:defRPr sz="1100">
                          <a:solidFill>
                            <a:srgbClr val="FFFFFF"/>
                          </a:solidFill>
                        </a:defRPr>
                      </a:pPr>
                      <a:r>
                        <a:t>Rating: N/A</a:t>
                      </a:r>
                    </a:p>
                  </a:txBody>
                  <a:tcPr>
                    <a:solidFill>
                      <a:srgbClr val="050C1A"/>
                    </a:solidFill>
                  </a:tcPr>
                </a:tc>
                <a:tc>
                  <a:txBody>
                    <a:bodyPr/>
                    <a:lstStyle/>
                    <a:p>
                      <a:pPr algn="ctr">
                        <a:defRPr sz="1100">
                          <a:solidFill>
                            <a:srgbClr val="FFFFFF"/>
                          </a:solidFill>
                        </a:defRPr>
                      </a:pPr>
                      <a:r>
                        <a:t>✅ Active</a:t>
                      </a:r>
                    </a:p>
                  </a:txBody>
                  <a:tcPr>
                    <a:solidFill>
                      <a:srgbClr val="050C1A"/>
                    </a:solidFill>
                  </a:tcPr>
                </a:tc>
              </a:tr>
              <a:tr h="640080">
                <a:tc>
                  <a:txBody>
                    <a:bodyPr/>
                    <a:lstStyle/>
                    <a:p>
                      <a:pPr algn="ctr">
                        <a:defRPr sz="1100">
                          <a:solidFill>
                            <a:srgbClr val="FFFFFF"/>
                          </a:solidFill>
                        </a:defRPr>
                      </a:pPr>
                      <a:r>
                        <a:t>▶️ YouTube</a:t>
                      </a:r>
                    </a:p>
                  </a:txBody>
                  <a:tcPr>
                    <a:solidFill>
                      <a:srgbClr val="0E1E3A"/>
                    </a:solidFill>
                  </a:tcPr>
                </a:tc>
                <a:tc>
                  <a:txBody>
                    <a:bodyPr/>
                    <a:lstStyle/>
                    <a:p>
                      <a:pPr algn="ctr">
                        <a:defRPr sz="1100">
                          <a:solidFill>
                            <a:srgbClr val="FFFFFF"/>
                          </a:solidFill>
                        </a:defRPr>
                      </a:pPr>
                      <a:r>
                        <a:t>@SporticoResorts</a:t>
                      </a:r>
                    </a:p>
                  </a:txBody>
                  <a:tcPr>
                    <a:solidFill>
                      <a:srgbClr val="0E1E3A"/>
                    </a:solidFill>
                  </a:tcPr>
                </a:tc>
                <a:tc>
                  <a:txBody>
                    <a:bodyPr/>
                    <a:lstStyle/>
                    <a:p>
                      <a:pPr algn="ctr">
                        <a:defRPr sz="1100">
                          <a:solidFill>
                            <a:srgbClr val="FFFFFF"/>
                          </a:solidFill>
                        </a:defRPr>
                      </a:pPr>
                      <a:r>
                        <a:t>275</a:t>
                      </a:r>
                    </a:p>
                  </a:txBody>
                  <a:tcPr>
                    <a:solidFill>
                      <a:srgbClr val="0E1E3A"/>
                    </a:solidFill>
                  </a:tcPr>
                </a:tc>
                <a:tc>
                  <a:txBody>
                    <a:bodyPr/>
                    <a:lstStyle/>
                    <a:p>
                      <a:pPr algn="ctr">
                        <a:defRPr sz="1100">
                          <a:solidFill>
                            <a:srgbClr val="FFFFFF"/>
                          </a:solidFill>
                        </a:defRPr>
                      </a:pPr>
                      <a:r>
                        <a:t>Videos: 58</a:t>
                      </a:r>
                    </a:p>
                  </a:txBody>
                  <a:tcPr>
                    <a:solidFill>
                      <a:srgbClr val="0E1E3A"/>
                    </a:solidFill>
                  </a:tcPr>
                </a:tc>
                <a:tc>
                  <a:txBody>
                    <a:bodyPr/>
                    <a:lstStyle/>
                    <a:p>
                      <a:pPr algn="ctr">
                        <a:defRPr sz="1100">
                          <a:solidFill>
                            <a:srgbClr val="FFFFFF"/>
                          </a:solidFill>
                        </a:defRPr>
                      </a:pPr>
                      <a:r>
                        <a:t>✅ Active</a:t>
                      </a:r>
                    </a:p>
                  </a:txBody>
                  <a:tcPr>
                    <a:solidFill>
                      <a:srgbClr val="0E1E3A"/>
                    </a:solidFill>
                  </a:tcPr>
                </a:tc>
              </a:tr>
              <a:tr h="640080">
                <a:tc>
                  <a:txBody>
                    <a:bodyPr/>
                    <a:lstStyle/>
                    <a:p>
                      <a:pPr algn="ctr">
                        <a:defRPr sz="1100">
                          <a:solidFill>
                            <a:srgbClr val="FFFFFF"/>
                          </a:solidFill>
                        </a:defRPr>
                      </a:pPr>
                      <a:r>
                        <a:t>💼 LinkedIn</a:t>
                      </a:r>
                    </a:p>
                  </a:txBody>
                  <a:tcPr>
                    <a:solidFill>
                      <a:srgbClr val="050C1A"/>
                    </a:solidFill>
                  </a:tcPr>
                </a:tc>
                <a:tc>
                  <a:txBody>
                    <a:bodyPr/>
                    <a:lstStyle/>
                    <a:p>
                      <a:pPr algn="ctr">
                        <a:defRPr sz="1100">
                          <a:solidFill>
                            <a:srgbClr val="FFFFFF"/>
                          </a:solidFill>
                        </a:defRPr>
                      </a:pPr>
                      <a:r>
                        <a:t>sportico-resorts</a:t>
                      </a:r>
                    </a:p>
                  </a:txBody>
                  <a:tcPr>
                    <a:solidFill>
                      <a:srgbClr val="050C1A"/>
                    </a:solidFill>
                  </a:tcPr>
                </a:tc>
                <a:tc>
                  <a:txBody>
                    <a:bodyPr/>
                    <a:lstStyle/>
                    <a:p>
                      <a:pPr algn="ctr">
                        <a:defRPr sz="1100">
                          <a:solidFill>
                            <a:srgbClr val="FFFFFF"/>
                          </a:solidFill>
                        </a:defRPr>
                      </a:pPr>
                      <a:r>
                        <a:t>N/A</a:t>
                      </a:r>
                    </a:p>
                  </a:txBody>
                  <a:tcPr>
                    <a:solidFill>
                      <a:srgbClr val="050C1A"/>
                    </a:solidFill>
                  </a:tcPr>
                </a:tc>
                <a:tc>
                  <a:txBody>
                    <a:bodyPr/>
                    <a:lstStyle/>
                    <a:p>
                      <a:pPr algn="ctr">
                        <a:defRPr sz="1100">
                          <a:solidFill>
                            <a:srgbClr val="FFFFFF"/>
                          </a:solidFill>
                        </a:defRPr>
                      </a:pPr>
                      <a:r>
                        <a:t>Employees: N/A</a:t>
                      </a:r>
                    </a:p>
                  </a:txBody>
                  <a:tcPr>
                    <a:solidFill>
                      <a:srgbClr val="050C1A"/>
                    </a:solidFill>
                  </a:tcPr>
                </a:tc>
                <a:tc>
                  <a:txBody>
                    <a:bodyPr/>
                    <a:lstStyle/>
                    <a:p>
                      <a:pPr algn="ctr">
                        <a:defRPr sz="1100">
                          <a:solidFill>
                            <a:srgbClr val="FFFFFF"/>
                          </a:solidFill>
                        </a:defRPr>
                      </a:pPr>
                      <a:r>
                        <a:t>✅ Active</a:t>
                      </a:r>
                    </a:p>
                  </a:txBody>
                  <a:tcPr>
                    <a:solidFill>
                      <a:srgbClr val="050C1A"/>
                    </a:solidFill>
                  </a:tcPr>
                </a:tc>
              </a:tr>
            </a:tbl>
          </a:graphicData>
        </a:graphic>
      </p:graphicFrame>
      <p:sp>
        <p:nvSpPr>
          <p:cNvPr id="6" name="Rectangle 5"/>
          <p:cNvSpPr/>
          <p:nvPr/>
        </p:nvSpPr>
        <p:spPr>
          <a:xfrm>
            <a:off x="457200" y="4663440"/>
            <a:ext cx="11247120" cy="164592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4754880"/>
            <a:ext cx="4572000" cy="320040"/>
          </a:xfrm>
          <a:prstGeom prst="rect">
            <a:avLst/>
          </a:prstGeom>
          <a:noFill/>
        </p:spPr>
        <p:txBody>
          <a:bodyPr wrap="square">
            <a:spAutoFit/>
          </a:bodyPr>
          <a:lstStyle/>
          <a:p>
            <a:pPr algn="l">
              <a:defRPr sz="1100" b="1" i="0">
                <a:solidFill>
                  <a:srgbClr val="D4AF37"/>
                </a:solidFill>
              </a:defRPr>
            </a:pPr>
            <a:r>
              <a:t>OVERALL ANALYSIS</a:t>
            </a:r>
          </a:p>
        </p:txBody>
      </p:sp>
      <p:sp>
        <p:nvSpPr>
          <p:cNvPr id="8" name="TextBox 7"/>
          <p:cNvSpPr txBox="1"/>
          <p:nvPr/>
        </p:nvSpPr>
        <p:spPr>
          <a:xfrm>
            <a:off x="685800" y="5120640"/>
            <a:ext cx="10789920" cy="1005840"/>
          </a:xfrm>
          <a:prstGeom prst="rect">
            <a:avLst/>
          </a:prstGeom>
          <a:noFill/>
        </p:spPr>
        <p:txBody>
          <a:bodyPr wrap="square">
            <a:spAutoFit/>
          </a:bodyPr>
          <a:lstStyle/>
          <a:p>
            <a:pPr algn="l">
              <a:defRPr sz="1300" b="0" i="0">
                <a:solidFill>
                  <a:srgbClr val="FFFFFF"/>
                </a:solidFill>
              </a:defRPr>
            </a:pPr>
            <a:r>
              <a:t>Sportico Resorts has a modest but growing social media presence across four platforms, with Instagram being their most established channel at 12,646 followers. Their engagement rate is critically low at 0.28% on Instagram, suggesting content is not resonating deeply with their audience. YouTube shows promising traction with over 285,000 views despite limited subscribers, indicating strong content discoverability but weak community building.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Instagram Profile</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@sportico_resorts  —  The Instagram bio is currently empty, missing a critical opportunity to communicate the brand's value proposition to potential visitors.</a:t>
            </a:r>
          </a:p>
        </p:txBody>
      </p:sp>
      <p:sp>
        <p:nvSpPr>
          <p:cNvPr id="5" name="Rectangle 4"/>
          <p:cNvSpPr/>
          <p:nvPr/>
        </p:nvSpPr>
        <p:spPr>
          <a:xfrm>
            <a:off x="457200" y="1188720"/>
            <a:ext cx="3474720" cy="1737360"/>
          </a:xfrm>
          <a:prstGeom prst="rect">
            <a:avLst/>
          </a:prstGeom>
          <a:solidFill>
            <a:srgbClr val="0E1E3A"/>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347472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3291839" cy="903427"/>
          </a:xfrm>
          <a:prstGeom prst="rect">
            <a:avLst/>
          </a:prstGeom>
          <a:noFill/>
        </p:spPr>
        <p:txBody>
          <a:bodyPr wrap="square">
            <a:spAutoFit/>
          </a:bodyPr>
          <a:lstStyle/>
          <a:p>
            <a:pPr algn="ctr">
              <a:defRPr sz="2200" b="1" i="0">
                <a:solidFill>
                  <a:srgbClr val="FFFFFF"/>
                </a:solidFill>
              </a:defRPr>
            </a:pPr>
            <a:r>
              <a:t>12646</a:t>
            </a:r>
          </a:p>
        </p:txBody>
      </p:sp>
      <p:sp>
        <p:nvSpPr>
          <p:cNvPr id="8" name="TextBox 7"/>
          <p:cNvSpPr txBox="1"/>
          <p:nvPr/>
        </p:nvSpPr>
        <p:spPr>
          <a:xfrm>
            <a:off x="530352" y="2231136"/>
            <a:ext cx="3328415" cy="608075"/>
          </a:xfrm>
          <a:prstGeom prst="rect">
            <a:avLst/>
          </a:prstGeom>
          <a:noFill/>
        </p:spPr>
        <p:txBody>
          <a:bodyPr wrap="square">
            <a:spAutoFit/>
          </a:bodyPr>
          <a:lstStyle/>
          <a:p>
            <a:pPr algn="ctr">
              <a:defRPr sz="1000" b="0" i="0">
                <a:solidFill>
                  <a:srgbClr val="C8D2E6"/>
                </a:solidFill>
              </a:defRPr>
            </a:pPr>
            <a:r>
              <a:t>FOLLOWERS</a:t>
            </a:r>
          </a:p>
        </p:txBody>
      </p:sp>
      <p:sp>
        <p:nvSpPr>
          <p:cNvPr id="9" name="Rectangle 8"/>
          <p:cNvSpPr/>
          <p:nvPr/>
        </p:nvSpPr>
        <p:spPr>
          <a:xfrm>
            <a:off x="4297680" y="1188720"/>
            <a:ext cx="3474720" cy="173736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188720"/>
            <a:ext cx="3474720" cy="54864"/>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325880"/>
            <a:ext cx="3291839" cy="903427"/>
          </a:xfrm>
          <a:prstGeom prst="rect">
            <a:avLst/>
          </a:prstGeom>
          <a:noFill/>
        </p:spPr>
        <p:txBody>
          <a:bodyPr wrap="square">
            <a:spAutoFit/>
          </a:bodyPr>
          <a:lstStyle/>
          <a:p>
            <a:pPr algn="ctr">
              <a:defRPr sz="2200" b="1" i="0">
                <a:solidFill>
                  <a:srgbClr val="FFFFFF"/>
                </a:solidFill>
              </a:defRPr>
            </a:pPr>
            <a:r>
              <a:t>6</a:t>
            </a:r>
          </a:p>
        </p:txBody>
      </p:sp>
      <p:sp>
        <p:nvSpPr>
          <p:cNvPr id="12" name="TextBox 11"/>
          <p:cNvSpPr txBox="1"/>
          <p:nvPr/>
        </p:nvSpPr>
        <p:spPr>
          <a:xfrm>
            <a:off x="4370832" y="2231136"/>
            <a:ext cx="3328415" cy="608075"/>
          </a:xfrm>
          <a:prstGeom prst="rect">
            <a:avLst/>
          </a:prstGeom>
          <a:noFill/>
        </p:spPr>
        <p:txBody>
          <a:bodyPr wrap="square">
            <a:spAutoFit/>
          </a:bodyPr>
          <a:lstStyle/>
          <a:p>
            <a:pPr algn="ctr">
              <a:defRPr sz="1000" b="0" i="0">
                <a:solidFill>
                  <a:srgbClr val="C8D2E6"/>
                </a:solidFill>
              </a:defRPr>
            </a:pPr>
            <a:r>
              <a:t>FOLLOWING</a:t>
            </a:r>
          </a:p>
        </p:txBody>
      </p:sp>
      <p:sp>
        <p:nvSpPr>
          <p:cNvPr id="13" name="Rectangle 12"/>
          <p:cNvSpPr/>
          <p:nvPr/>
        </p:nvSpPr>
        <p:spPr>
          <a:xfrm>
            <a:off x="8138160" y="1188720"/>
            <a:ext cx="3474720" cy="173736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188720"/>
            <a:ext cx="347472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325880"/>
            <a:ext cx="3291839" cy="903427"/>
          </a:xfrm>
          <a:prstGeom prst="rect">
            <a:avLst/>
          </a:prstGeom>
          <a:noFill/>
        </p:spPr>
        <p:txBody>
          <a:bodyPr wrap="square">
            <a:spAutoFit/>
          </a:bodyPr>
          <a:lstStyle/>
          <a:p>
            <a:pPr algn="ctr">
              <a:defRPr sz="2200" b="1" i="0">
                <a:solidFill>
                  <a:srgbClr val="FFFFFF"/>
                </a:solidFill>
              </a:defRPr>
            </a:pPr>
            <a:r>
              <a:t>565</a:t>
            </a:r>
          </a:p>
        </p:txBody>
      </p:sp>
      <p:sp>
        <p:nvSpPr>
          <p:cNvPr id="16" name="TextBox 15"/>
          <p:cNvSpPr txBox="1"/>
          <p:nvPr/>
        </p:nvSpPr>
        <p:spPr>
          <a:xfrm>
            <a:off x="8211312" y="2231136"/>
            <a:ext cx="3328415" cy="608075"/>
          </a:xfrm>
          <a:prstGeom prst="rect">
            <a:avLst/>
          </a:prstGeom>
          <a:noFill/>
        </p:spPr>
        <p:txBody>
          <a:bodyPr wrap="square">
            <a:spAutoFit/>
          </a:bodyPr>
          <a:lstStyle/>
          <a:p>
            <a:pPr algn="ctr">
              <a:defRPr sz="1000" b="0" i="0">
                <a:solidFill>
                  <a:srgbClr val="C8D2E6"/>
                </a:solidFill>
              </a:defRPr>
            </a:pPr>
            <a:r>
              <a:t>TOTAL POSTS</a:t>
            </a:r>
          </a:p>
        </p:txBody>
      </p:sp>
      <p:sp>
        <p:nvSpPr>
          <p:cNvPr id="17" name="Rectangle 16"/>
          <p:cNvSpPr/>
          <p:nvPr/>
        </p:nvSpPr>
        <p:spPr>
          <a:xfrm>
            <a:off x="457200" y="3749039"/>
            <a:ext cx="3474720" cy="1737360"/>
          </a:xfrm>
          <a:prstGeom prst="rect">
            <a:avLst/>
          </a:prstGeom>
          <a:solidFill>
            <a:srgbClr val="0E1E3A"/>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749039"/>
            <a:ext cx="347472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886200"/>
            <a:ext cx="3291839" cy="903427"/>
          </a:xfrm>
          <a:prstGeom prst="rect">
            <a:avLst/>
          </a:prstGeom>
          <a:noFill/>
        </p:spPr>
        <p:txBody>
          <a:bodyPr wrap="square">
            <a:spAutoFit/>
          </a:bodyPr>
          <a:lstStyle/>
          <a:p>
            <a:pPr algn="ctr">
              <a:defRPr sz="2200" b="1" i="0">
                <a:solidFill>
                  <a:srgbClr val="FFFFFF"/>
                </a:solidFill>
              </a:defRPr>
            </a:pPr>
            <a:r>
              <a:t>0.28%</a:t>
            </a:r>
          </a:p>
        </p:txBody>
      </p:sp>
      <p:sp>
        <p:nvSpPr>
          <p:cNvPr id="20" name="TextBox 19"/>
          <p:cNvSpPr txBox="1"/>
          <p:nvPr/>
        </p:nvSpPr>
        <p:spPr>
          <a:xfrm>
            <a:off x="530352" y="4791455"/>
            <a:ext cx="3328415" cy="608075"/>
          </a:xfrm>
          <a:prstGeom prst="rect">
            <a:avLst/>
          </a:prstGeom>
          <a:noFill/>
        </p:spPr>
        <p:txBody>
          <a:bodyPr wrap="square">
            <a:spAutoFit/>
          </a:bodyPr>
          <a:lstStyle/>
          <a:p>
            <a:pPr algn="ctr">
              <a:defRPr sz="1000" b="0" i="0">
                <a:solidFill>
                  <a:srgbClr val="C8D2E6"/>
                </a:solidFill>
              </a:defRPr>
            </a:pPr>
            <a:r>
              <a:t>ENGAGEMENT RATE</a:t>
            </a:r>
          </a:p>
        </p:txBody>
      </p:sp>
      <p:sp>
        <p:nvSpPr>
          <p:cNvPr id="21" name="Rectangle 20"/>
          <p:cNvSpPr/>
          <p:nvPr/>
        </p:nvSpPr>
        <p:spPr>
          <a:xfrm>
            <a:off x="4297680" y="3749039"/>
            <a:ext cx="3474720" cy="1737360"/>
          </a:xfrm>
          <a:prstGeom prst="rect">
            <a:avLst/>
          </a:prstGeom>
          <a:solidFill>
            <a:srgbClr val="0E1E3A"/>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3749039"/>
            <a:ext cx="3474720" cy="54864"/>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0" y="3886200"/>
            <a:ext cx="3291839" cy="903427"/>
          </a:xfrm>
          <a:prstGeom prst="rect">
            <a:avLst/>
          </a:prstGeom>
          <a:noFill/>
        </p:spPr>
        <p:txBody>
          <a:bodyPr wrap="square">
            <a:spAutoFit/>
          </a:bodyPr>
          <a:lstStyle/>
          <a:p>
            <a:pPr algn="ctr">
              <a:defRPr sz="2200" b="1" i="0">
                <a:solidFill>
                  <a:srgbClr val="FFFFFF"/>
                </a:solidFill>
              </a:defRPr>
            </a:pPr>
            <a:r>
              <a:t>34</a:t>
            </a:r>
          </a:p>
        </p:txBody>
      </p:sp>
      <p:sp>
        <p:nvSpPr>
          <p:cNvPr id="24" name="TextBox 23"/>
          <p:cNvSpPr txBox="1"/>
          <p:nvPr/>
        </p:nvSpPr>
        <p:spPr>
          <a:xfrm>
            <a:off x="4370832" y="4791455"/>
            <a:ext cx="3328415" cy="608075"/>
          </a:xfrm>
          <a:prstGeom prst="rect">
            <a:avLst/>
          </a:prstGeom>
          <a:noFill/>
        </p:spPr>
        <p:txBody>
          <a:bodyPr wrap="square">
            <a:spAutoFit/>
          </a:bodyPr>
          <a:lstStyle/>
          <a:p>
            <a:pPr algn="ctr">
              <a:defRPr sz="1000" b="0" i="0">
                <a:solidFill>
                  <a:srgbClr val="C8D2E6"/>
                </a:solidFill>
              </a:defRPr>
            </a:pPr>
            <a:r>
              <a:t>AVG LIKES/POST</a:t>
            </a:r>
          </a:p>
        </p:txBody>
      </p:sp>
      <p:sp>
        <p:nvSpPr>
          <p:cNvPr id="25" name="Rectangle 24"/>
          <p:cNvSpPr/>
          <p:nvPr/>
        </p:nvSpPr>
        <p:spPr>
          <a:xfrm>
            <a:off x="8138160" y="3749039"/>
            <a:ext cx="3474720" cy="1737360"/>
          </a:xfrm>
          <a:prstGeom prst="rect">
            <a:avLst/>
          </a:prstGeom>
          <a:solidFill>
            <a:srgbClr val="0E1E3A"/>
          </a:solidFill>
          <a:ln w="127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60" y="3749039"/>
            <a:ext cx="3474720" cy="54864"/>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3886200"/>
            <a:ext cx="3291839" cy="903427"/>
          </a:xfrm>
          <a:prstGeom prst="rect">
            <a:avLst/>
          </a:prstGeom>
          <a:noFill/>
        </p:spPr>
        <p:txBody>
          <a:bodyPr wrap="square">
            <a:spAutoFit/>
          </a:bodyPr>
          <a:lstStyle/>
          <a:p>
            <a:pPr algn="ctr">
              <a:defRPr sz="2200" b="1" i="0">
                <a:solidFill>
                  <a:srgbClr val="FFFFFF"/>
                </a:solidFill>
              </a:defRPr>
            </a:pPr>
            <a:r>
              <a:t>1</a:t>
            </a:r>
          </a:p>
        </p:txBody>
      </p:sp>
      <p:sp>
        <p:nvSpPr>
          <p:cNvPr id="28" name="TextBox 27"/>
          <p:cNvSpPr txBox="1"/>
          <p:nvPr/>
        </p:nvSpPr>
        <p:spPr>
          <a:xfrm>
            <a:off x="8211312" y="4791455"/>
            <a:ext cx="3328415" cy="608075"/>
          </a:xfrm>
          <a:prstGeom prst="rect">
            <a:avLst/>
          </a:prstGeom>
          <a:noFill/>
        </p:spPr>
        <p:txBody>
          <a:bodyPr wrap="square">
            <a:spAutoFit/>
          </a:bodyPr>
          <a:lstStyle/>
          <a:p>
            <a:pPr algn="ctr">
              <a:defRPr sz="1000" b="0" i="0">
                <a:solidFill>
                  <a:srgbClr val="C8D2E6"/>
                </a:solidFill>
              </a:defRPr>
            </a:pPr>
            <a:r>
              <a:t>AVG COMMENTS/POST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Instagram Content Strategy</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Content mix from recent 12 posts</a:t>
            </a:r>
          </a:p>
        </p:txBody>
      </p:sp>
      <p:graphicFrame>
        <p:nvGraphicFramePr>
          <p:cNvPr id="5" name="Chart 4"/>
          <p:cNvGraphicFramePr>
            <a:graphicFrameLocks noGrp="1"/>
          </p:cNvGraphicFramePr>
          <p:nvPr/>
        </p:nvGraphicFramePr>
        <p:xfrm>
          <a:off x="457200" y="1188720"/>
          <a:ext cx="6583680" cy="4572000"/>
        </p:xfrm>
        <a:graphic>
          <a:graphicData uri="http://schemas.openxmlformats.org/drawingml/2006/chart">
            <c:chart xmlns:c="http://schemas.openxmlformats.org/drawingml/2006/chart" r:id="rId2"/>
          </a:graphicData>
        </a:graphic>
      </p:graphicFrame>
      <p:sp>
        <p:nvSpPr>
          <p:cNvPr id="6" name="Rectangle 5"/>
          <p:cNvSpPr/>
          <p:nvPr/>
        </p:nvSpPr>
        <p:spPr>
          <a:xfrm>
            <a:off x="7406640" y="1188720"/>
            <a:ext cx="4297680" cy="150876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06640" y="1188720"/>
            <a:ext cx="4297680" cy="54864"/>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79" y="1325880"/>
            <a:ext cx="4114800" cy="784555"/>
          </a:xfrm>
          <a:prstGeom prst="rect">
            <a:avLst/>
          </a:prstGeom>
          <a:noFill/>
        </p:spPr>
        <p:txBody>
          <a:bodyPr wrap="square">
            <a:spAutoFit/>
          </a:bodyPr>
          <a:lstStyle/>
          <a:p>
            <a:pPr algn="ctr">
              <a:defRPr sz="2200" b="1" i="0">
                <a:solidFill>
                  <a:srgbClr val="FFFFFF"/>
                </a:solidFill>
              </a:defRPr>
            </a:pPr>
            <a:r>
              <a:t>1 posts (8%)</a:t>
            </a:r>
          </a:p>
        </p:txBody>
      </p:sp>
      <p:sp>
        <p:nvSpPr>
          <p:cNvPr id="9" name="TextBox 8"/>
          <p:cNvSpPr txBox="1"/>
          <p:nvPr/>
        </p:nvSpPr>
        <p:spPr>
          <a:xfrm>
            <a:off x="7479792" y="2093976"/>
            <a:ext cx="4151376" cy="528065"/>
          </a:xfrm>
          <a:prstGeom prst="rect">
            <a:avLst/>
          </a:prstGeom>
          <a:noFill/>
        </p:spPr>
        <p:txBody>
          <a:bodyPr wrap="square">
            <a:spAutoFit/>
          </a:bodyPr>
          <a:lstStyle/>
          <a:p>
            <a:pPr algn="ctr">
              <a:defRPr sz="1000" b="0" i="0">
                <a:solidFill>
                  <a:srgbClr val="C8D2E6"/>
                </a:solidFill>
              </a:defRPr>
            </a:pPr>
            <a:r>
              <a:t>IMAGES</a:t>
            </a:r>
          </a:p>
        </p:txBody>
      </p:sp>
      <p:sp>
        <p:nvSpPr>
          <p:cNvPr id="10" name="Rectangle 9"/>
          <p:cNvSpPr/>
          <p:nvPr/>
        </p:nvSpPr>
        <p:spPr>
          <a:xfrm>
            <a:off x="7406640" y="2926080"/>
            <a:ext cx="4297680" cy="150876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06640" y="2926080"/>
            <a:ext cx="429768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3063240"/>
            <a:ext cx="4114800" cy="784555"/>
          </a:xfrm>
          <a:prstGeom prst="rect">
            <a:avLst/>
          </a:prstGeom>
          <a:noFill/>
        </p:spPr>
        <p:txBody>
          <a:bodyPr wrap="square">
            <a:spAutoFit/>
          </a:bodyPr>
          <a:lstStyle/>
          <a:p>
            <a:pPr algn="ctr">
              <a:defRPr sz="2200" b="1" i="0">
                <a:solidFill>
                  <a:srgbClr val="FFFFFF"/>
                </a:solidFill>
              </a:defRPr>
            </a:pPr>
            <a:r>
              <a:t>2 posts (16%)</a:t>
            </a:r>
          </a:p>
        </p:txBody>
      </p:sp>
      <p:sp>
        <p:nvSpPr>
          <p:cNvPr id="13" name="TextBox 12"/>
          <p:cNvSpPr txBox="1"/>
          <p:nvPr/>
        </p:nvSpPr>
        <p:spPr>
          <a:xfrm>
            <a:off x="7479792" y="3831336"/>
            <a:ext cx="4151376" cy="528065"/>
          </a:xfrm>
          <a:prstGeom prst="rect">
            <a:avLst/>
          </a:prstGeom>
          <a:noFill/>
        </p:spPr>
        <p:txBody>
          <a:bodyPr wrap="square">
            <a:spAutoFit/>
          </a:bodyPr>
          <a:lstStyle/>
          <a:p>
            <a:pPr algn="ctr">
              <a:defRPr sz="1000" b="0" i="0">
                <a:solidFill>
                  <a:srgbClr val="C8D2E6"/>
                </a:solidFill>
              </a:defRPr>
            </a:pPr>
            <a:r>
              <a:t>CAROUSELS</a:t>
            </a:r>
          </a:p>
        </p:txBody>
      </p:sp>
      <p:sp>
        <p:nvSpPr>
          <p:cNvPr id="14" name="Rectangle 13"/>
          <p:cNvSpPr/>
          <p:nvPr/>
        </p:nvSpPr>
        <p:spPr>
          <a:xfrm>
            <a:off x="7406640" y="4663440"/>
            <a:ext cx="4297680" cy="1508760"/>
          </a:xfrm>
          <a:prstGeom prst="rect">
            <a:avLst/>
          </a:prstGeom>
          <a:solidFill>
            <a:srgbClr val="0E1E3A"/>
          </a:solidFill>
          <a:ln w="127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06640" y="4663440"/>
            <a:ext cx="4297680" cy="54864"/>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79" y="4800600"/>
            <a:ext cx="4114800" cy="784555"/>
          </a:xfrm>
          <a:prstGeom prst="rect">
            <a:avLst/>
          </a:prstGeom>
          <a:noFill/>
        </p:spPr>
        <p:txBody>
          <a:bodyPr wrap="square">
            <a:spAutoFit/>
          </a:bodyPr>
          <a:lstStyle/>
          <a:p>
            <a:pPr algn="ctr">
              <a:defRPr sz="2200" b="1" i="0">
                <a:solidFill>
                  <a:srgbClr val="FFFFFF"/>
                </a:solidFill>
              </a:defRPr>
            </a:pPr>
            <a:r>
              <a:t>9 posts (75%)</a:t>
            </a:r>
          </a:p>
        </p:txBody>
      </p:sp>
      <p:sp>
        <p:nvSpPr>
          <p:cNvPr id="17" name="TextBox 16"/>
          <p:cNvSpPr txBox="1"/>
          <p:nvPr/>
        </p:nvSpPr>
        <p:spPr>
          <a:xfrm>
            <a:off x="7479792" y="5568696"/>
            <a:ext cx="4151376" cy="528065"/>
          </a:xfrm>
          <a:prstGeom prst="rect">
            <a:avLst/>
          </a:prstGeom>
          <a:noFill/>
        </p:spPr>
        <p:txBody>
          <a:bodyPr wrap="square">
            <a:spAutoFit/>
          </a:bodyPr>
          <a:lstStyle/>
          <a:p>
            <a:pPr algn="ctr">
              <a:defRPr sz="1000" b="0" i="0">
                <a:solidFill>
                  <a:srgbClr val="C8D2E6"/>
                </a:solidFill>
              </a:defRPr>
            </a:pPr>
            <a:r>
              <a:t>VIDEOS/REELS</a:t>
            </a:r>
          </a:p>
        </p:txBody>
      </p:sp>
      <p:sp>
        <p:nvSpPr>
          <p:cNvPr id="18" name="Rectangle 17"/>
          <p:cNvSpPr/>
          <p:nvPr/>
        </p:nvSpPr>
        <p:spPr>
          <a:xfrm>
            <a:off x="457200" y="5989320"/>
            <a:ext cx="11247120" cy="685800"/>
          </a:xfrm>
          <a:prstGeom prst="rect">
            <a:avLst/>
          </a:prstGeom>
          <a:solidFill>
            <a:srgbClr val="0E1E3A"/>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6080759"/>
            <a:ext cx="10972800" cy="320040"/>
          </a:xfrm>
          <a:prstGeom prst="rect">
            <a:avLst/>
          </a:prstGeom>
          <a:noFill/>
        </p:spPr>
        <p:txBody>
          <a:bodyPr wrap="square">
            <a:spAutoFit/>
          </a:bodyPr>
          <a:lstStyle/>
          <a:p>
            <a:pPr algn="l">
              <a:defRPr sz="1200" b="1" i="0">
                <a:solidFill>
                  <a:srgbClr val="2ECC71"/>
                </a:solidFill>
              </a:defRPr>
            </a:pPr>
            <a:r>
              <a:t>💡 Instagram Strength</a:t>
            </a:r>
          </a:p>
        </p:txBody>
      </p:sp>
      <p:sp>
        <p:nvSpPr>
          <p:cNvPr id="20" name="TextBox 19"/>
          <p:cNvSpPr txBox="1"/>
          <p:nvPr/>
        </p:nvSpPr>
        <p:spPr>
          <a:xfrm>
            <a:off x="594360" y="6400800"/>
            <a:ext cx="10972800" cy="182879"/>
          </a:xfrm>
          <a:prstGeom prst="rect">
            <a:avLst/>
          </a:prstGeom>
          <a:noFill/>
        </p:spPr>
        <p:txBody>
          <a:bodyPr wrap="square">
            <a:spAutoFit/>
          </a:bodyPr>
          <a:lstStyle/>
          <a:p>
            <a:pPr algn="l">
              <a:defRPr sz="1100" b="0" i="0">
                <a:solidFill>
                  <a:srgbClr val="FFFFFF"/>
                </a:solidFill>
              </a:defRPr>
            </a:pPr>
            <a:r>
              <a:t>Largest social following across all platforms with 12,646 followers and a substantial post history of 565 posts showing consistent posting activity.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Facebook Page</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Sporticoresorts  —  N/A</a:t>
            </a:r>
          </a:p>
        </p:txBody>
      </p:sp>
      <p:sp>
        <p:nvSpPr>
          <p:cNvPr id="5" name="Rectangle 4"/>
          <p:cNvSpPr/>
          <p:nvPr/>
        </p:nvSpPr>
        <p:spPr>
          <a:xfrm>
            <a:off x="457200" y="1188720"/>
            <a:ext cx="3474720" cy="1737360"/>
          </a:xfrm>
          <a:prstGeom prst="rect">
            <a:avLst/>
          </a:prstGeom>
          <a:solidFill>
            <a:srgbClr val="0E1E3A"/>
          </a:solidFill>
          <a:ln w="12700">
            <a:solidFill>
              <a:srgbClr val="1A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3474720" cy="54864"/>
          </a:xfrm>
          <a:prstGeom prst="rect">
            <a:avLst/>
          </a:prstGeom>
          <a:solidFill>
            <a:srgbClr val="1A5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3291839" cy="903427"/>
          </a:xfrm>
          <a:prstGeom prst="rect">
            <a:avLst/>
          </a:prstGeom>
          <a:noFill/>
        </p:spPr>
        <p:txBody>
          <a:bodyPr wrap="square">
            <a:spAutoFit/>
          </a:bodyPr>
          <a:lstStyle/>
          <a:p>
            <a:pPr algn="ctr">
              <a:defRPr sz="2200" b="1" i="0">
                <a:solidFill>
                  <a:srgbClr val="FFFFFF"/>
                </a:solidFill>
              </a:defRPr>
            </a:pPr>
            <a:r>
              <a:t>830</a:t>
            </a:r>
          </a:p>
        </p:txBody>
      </p:sp>
      <p:sp>
        <p:nvSpPr>
          <p:cNvPr id="8" name="TextBox 7"/>
          <p:cNvSpPr txBox="1"/>
          <p:nvPr/>
        </p:nvSpPr>
        <p:spPr>
          <a:xfrm>
            <a:off x="530352" y="2231136"/>
            <a:ext cx="3328415" cy="608075"/>
          </a:xfrm>
          <a:prstGeom prst="rect">
            <a:avLst/>
          </a:prstGeom>
          <a:noFill/>
        </p:spPr>
        <p:txBody>
          <a:bodyPr wrap="square">
            <a:spAutoFit/>
          </a:bodyPr>
          <a:lstStyle/>
          <a:p>
            <a:pPr algn="ctr">
              <a:defRPr sz="1000" b="0" i="0">
                <a:solidFill>
                  <a:srgbClr val="C8D2E6"/>
                </a:solidFill>
              </a:defRPr>
            </a:pPr>
            <a:r>
              <a:t>PAGE FOLLOWERS</a:t>
            </a:r>
          </a:p>
        </p:txBody>
      </p:sp>
      <p:sp>
        <p:nvSpPr>
          <p:cNvPr id="9" name="Rectangle 8"/>
          <p:cNvSpPr/>
          <p:nvPr/>
        </p:nvSpPr>
        <p:spPr>
          <a:xfrm>
            <a:off x="4297680" y="1188720"/>
            <a:ext cx="3474720" cy="173736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188720"/>
            <a:ext cx="3474720" cy="54864"/>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325880"/>
            <a:ext cx="3291839" cy="903427"/>
          </a:xfrm>
          <a:prstGeom prst="rect">
            <a:avLst/>
          </a:prstGeom>
          <a:noFill/>
        </p:spPr>
        <p:txBody>
          <a:bodyPr wrap="square">
            <a:spAutoFit/>
          </a:bodyPr>
          <a:lstStyle/>
          <a:p>
            <a:pPr algn="ctr">
              <a:defRPr sz="2200" b="1" i="0">
                <a:solidFill>
                  <a:srgbClr val="FFFFFF"/>
                </a:solidFill>
              </a:defRPr>
            </a:pPr>
            <a:r>
              <a:t>1</a:t>
            </a:r>
          </a:p>
        </p:txBody>
      </p:sp>
      <p:sp>
        <p:nvSpPr>
          <p:cNvPr id="12" name="TextBox 11"/>
          <p:cNvSpPr txBox="1"/>
          <p:nvPr/>
        </p:nvSpPr>
        <p:spPr>
          <a:xfrm>
            <a:off x="4370832" y="2231136"/>
            <a:ext cx="3328415" cy="608075"/>
          </a:xfrm>
          <a:prstGeom prst="rect">
            <a:avLst/>
          </a:prstGeom>
          <a:noFill/>
        </p:spPr>
        <p:txBody>
          <a:bodyPr wrap="square">
            <a:spAutoFit/>
          </a:bodyPr>
          <a:lstStyle/>
          <a:p>
            <a:pPr algn="ctr">
              <a:defRPr sz="1000" b="0" i="0">
                <a:solidFill>
                  <a:srgbClr val="C8D2E6"/>
                </a:solidFill>
              </a:defRPr>
            </a:pPr>
            <a:r>
              <a:t>FOLLOWING</a:t>
            </a:r>
          </a:p>
        </p:txBody>
      </p:sp>
      <p:sp>
        <p:nvSpPr>
          <p:cNvPr id="13" name="Rectangle 12"/>
          <p:cNvSpPr/>
          <p:nvPr/>
        </p:nvSpPr>
        <p:spPr>
          <a:xfrm>
            <a:off x="8138160" y="1188720"/>
            <a:ext cx="3474720" cy="173736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188720"/>
            <a:ext cx="347472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325880"/>
            <a:ext cx="3291839" cy="903427"/>
          </a:xfrm>
          <a:prstGeom prst="rect">
            <a:avLst/>
          </a:prstGeom>
          <a:noFill/>
        </p:spPr>
        <p:txBody>
          <a:bodyPr wrap="square">
            <a:spAutoFit/>
          </a:bodyPr>
          <a:lstStyle/>
          <a:p>
            <a:pPr algn="ctr">
              <a:defRPr sz="2200" b="1" i="0">
                <a:solidFill>
                  <a:srgbClr val="FFFFFF"/>
                </a:solidFill>
              </a:defRPr>
            </a:pPr>
            <a:r>
              <a:t>N/A</a:t>
            </a:r>
          </a:p>
        </p:txBody>
      </p:sp>
      <p:sp>
        <p:nvSpPr>
          <p:cNvPr id="16" name="TextBox 15"/>
          <p:cNvSpPr txBox="1"/>
          <p:nvPr/>
        </p:nvSpPr>
        <p:spPr>
          <a:xfrm>
            <a:off x="8211312" y="2231136"/>
            <a:ext cx="3328415" cy="608075"/>
          </a:xfrm>
          <a:prstGeom prst="rect">
            <a:avLst/>
          </a:prstGeom>
          <a:noFill/>
        </p:spPr>
        <p:txBody>
          <a:bodyPr wrap="square">
            <a:spAutoFit/>
          </a:bodyPr>
          <a:lstStyle/>
          <a:p>
            <a:pPr algn="ctr">
              <a:defRPr sz="1000" b="0" i="0">
                <a:solidFill>
                  <a:srgbClr val="C8D2E6"/>
                </a:solidFill>
              </a:defRPr>
            </a:pPr>
            <a:r>
              <a:t>PAGE RATING</a:t>
            </a:r>
          </a:p>
        </p:txBody>
      </p:sp>
      <p:sp>
        <p:nvSpPr>
          <p:cNvPr id="17" name="Rectangle 16"/>
          <p:cNvSpPr/>
          <p:nvPr/>
        </p:nvSpPr>
        <p:spPr>
          <a:xfrm>
            <a:off x="457200" y="3749039"/>
            <a:ext cx="3474720" cy="1737360"/>
          </a:xfrm>
          <a:prstGeom prst="rect">
            <a:avLst/>
          </a:prstGeom>
          <a:solidFill>
            <a:srgbClr val="0E1E3A"/>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749039"/>
            <a:ext cx="347472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886200"/>
            <a:ext cx="3291839" cy="903427"/>
          </a:xfrm>
          <a:prstGeom prst="rect">
            <a:avLst/>
          </a:prstGeom>
          <a:noFill/>
        </p:spPr>
        <p:txBody>
          <a:bodyPr wrap="square">
            <a:spAutoFit/>
          </a:bodyPr>
          <a:lstStyle/>
          <a:p>
            <a:pPr algn="ctr">
              <a:defRPr sz="2200" b="1" i="0">
                <a:solidFill>
                  <a:srgbClr val="FFFFFF"/>
                </a:solidFill>
              </a:defRPr>
            </a:pPr>
            <a:r>
              <a:t>No</a:t>
            </a:r>
          </a:p>
        </p:txBody>
      </p:sp>
      <p:sp>
        <p:nvSpPr>
          <p:cNvPr id="20" name="TextBox 19"/>
          <p:cNvSpPr txBox="1"/>
          <p:nvPr/>
        </p:nvSpPr>
        <p:spPr>
          <a:xfrm>
            <a:off x="530352" y="4791455"/>
            <a:ext cx="3328415" cy="608075"/>
          </a:xfrm>
          <a:prstGeom prst="rect">
            <a:avLst/>
          </a:prstGeom>
          <a:noFill/>
        </p:spPr>
        <p:txBody>
          <a:bodyPr wrap="square">
            <a:spAutoFit/>
          </a:bodyPr>
          <a:lstStyle/>
          <a:p>
            <a:pPr algn="ctr">
              <a:defRPr sz="1000" b="0" i="0">
                <a:solidFill>
                  <a:srgbClr val="C8D2E6"/>
                </a:solidFill>
              </a:defRPr>
            </a:pPr>
            <a:r>
              <a:t>VERIFIED</a:t>
            </a:r>
          </a:p>
        </p:txBody>
      </p:sp>
      <p:sp>
        <p:nvSpPr>
          <p:cNvPr id="21" name="Rectangle 20"/>
          <p:cNvSpPr/>
          <p:nvPr/>
        </p:nvSpPr>
        <p:spPr>
          <a:xfrm>
            <a:off x="4297680" y="3749039"/>
            <a:ext cx="3474720" cy="1737360"/>
          </a:xfrm>
          <a:prstGeom prst="rect">
            <a:avLst/>
          </a:prstGeom>
          <a:solidFill>
            <a:srgbClr val="0E1E3A"/>
          </a:solidFill>
          <a:ln w="127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3749039"/>
            <a:ext cx="3474720" cy="54864"/>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0" y="3886200"/>
            <a:ext cx="3291839" cy="903427"/>
          </a:xfrm>
          <a:prstGeom prst="rect">
            <a:avLst/>
          </a:prstGeom>
          <a:noFill/>
        </p:spPr>
        <p:txBody>
          <a:bodyPr wrap="square">
            <a:spAutoFit/>
          </a:bodyPr>
          <a:lstStyle/>
          <a:p>
            <a:pPr algn="ctr">
              <a:defRPr sz="2200" b="1" i="0">
                <a:solidFill>
                  <a:srgbClr val="FFFFFF"/>
                </a:solidFill>
              </a:defRPr>
            </a:pPr>
            <a:r>
              <a:t>N/A</a:t>
            </a:r>
          </a:p>
        </p:txBody>
      </p:sp>
      <p:sp>
        <p:nvSpPr>
          <p:cNvPr id="24" name="TextBox 23"/>
          <p:cNvSpPr txBox="1"/>
          <p:nvPr/>
        </p:nvSpPr>
        <p:spPr>
          <a:xfrm>
            <a:off x="4370832" y="4791455"/>
            <a:ext cx="3328415" cy="608075"/>
          </a:xfrm>
          <a:prstGeom prst="rect">
            <a:avLst/>
          </a:prstGeom>
          <a:noFill/>
        </p:spPr>
        <p:txBody>
          <a:bodyPr wrap="square">
            <a:spAutoFit/>
          </a:bodyPr>
          <a:lstStyle/>
          <a:p>
            <a:pPr algn="ctr">
              <a:defRPr sz="1000" b="0" i="0">
                <a:solidFill>
                  <a:srgbClr val="C8D2E6"/>
                </a:solidFill>
              </a:defRPr>
            </a:pPr>
            <a:r>
              <a:t>CATEGORY</a:t>
            </a:r>
          </a:p>
        </p:txBody>
      </p:sp>
      <p:sp>
        <p:nvSpPr>
          <p:cNvPr id="25" name="Rectangle 24"/>
          <p:cNvSpPr/>
          <p:nvPr/>
        </p:nvSpPr>
        <p:spPr>
          <a:xfrm>
            <a:off x="8138160" y="3749039"/>
            <a:ext cx="3474720" cy="1737360"/>
          </a:xfrm>
          <a:prstGeom prst="rect">
            <a:avLst/>
          </a:prstGeom>
          <a:solidFill>
            <a:srgbClr val="0E1E3A"/>
          </a:solidFill>
          <a:ln w="12700">
            <a:solidFill>
              <a:srgbClr val="1A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60" y="3749039"/>
            <a:ext cx="3474720" cy="54864"/>
          </a:xfrm>
          <a:prstGeom prst="rect">
            <a:avLst/>
          </a:prstGeom>
          <a:solidFill>
            <a:srgbClr val="1A5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3886200"/>
            <a:ext cx="3291839" cy="903427"/>
          </a:xfrm>
          <a:prstGeom prst="rect">
            <a:avLst/>
          </a:prstGeom>
          <a:noFill/>
        </p:spPr>
        <p:txBody>
          <a:bodyPr wrap="square">
            <a:spAutoFit/>
          </a:bodyPr>
          <a:lstStyle/>
          <a:p>
            <a:pPr algn="ctr">
              <a:defRPr sz="2200" b="1" i="0">
                <a:solidFill>
                  <a:srgbClr val="FFFFFF"/>
                </a:solidFill>
              </a:defRPr>
            </a:pPr>
            <a:r>
              <a:t>Facebook</a:t>
            </a:r>
          </a:p>
        </p:txBody>
      </p:sp>
      <p:sp>
        <p:nvSpPr>
          <p:cNvPr id="28" name="TextBox 27"/>
          <p:cNvSpPr txBox="1"/>
          <p:nvPr/>
        </p:nvSpPr>
        <p:spPr>
          <a:xfrm>
            <a:off x="8211312" y="4791455"/>
            <a:ext cx="3328415" cy="608075"/>
          </a:xfrm>
          <a:prstGeom prst="rect">
            <a:avLst/>
          </a:prstGeom>
          <a:noFill/>
        </p:spPr>
        <p:txBody>
          <a:bodyPr wrap="square">
            <a:spAutoFit/>
          </a:bodyPr>
          <a:lstStyle/>
          <a:p>
            <a:pPr algn="ctr">
              <a:defRPr sz="1000" b="0" i="0">
                <a:solidFill>
                  <a:srgbClr val="C8D2E6"/>
                </a:solidFill>
              </a:defRPr>
            </a:pPr>
            <a:r>
              <a:t>PLATFORM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Facebook Insights</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Page details and strategic analysis</a:t>
            </a:r>
          </a:p>
        </p:txBody>
      </p:sp>
      <p:sp>
        <p:nvSpPr>
          <p:cNvPr id="5" name="Rectangle 4"/>
          <p:cNvSpPr/>
          <p:nvPr/>
        </p:nvSpPr>
        <p:spPr>
          <a:xfrm>
            <a:off x="457200" y="1188720"/>
            <a:ext cx="11247120" cy="2011680"/>
          </a:xfrm>
          <a:prstGeom prst="rect">
            <a:avLst/>
          </a:prstGeom>
          <a:solidFill>
            <a:srgbClr val="0E1E3A"/>
          </a:solidFill>
          <a:ln w="12700">
            <a:solidFill>
              <a:srgbClr val="1A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80160"/>
            <a:ext cx="3657600" cy="320040"/>
          </a:xfrm>
          <a:prstGeom prst="rect">
            <a:avLst/>
          </a:prstGeom>
          <a:noFill/>
        </p:spPr>
        <p:txBody>
          <a:bodyPr wrap="square">
            <a:spAutoFit/>
          </a:bodyPr>
          <a:lstStyle/>
          <a:p>
            <a:pPr algn="l">
              <a:defRPr sz="1100" b="1" i="0">
                <a:solidFill>
                  <a:srgbClr val="1A5AFF"/>
                </a:solidFill>
              </a:defRPr>
            </a:pPr>
            <a:r>
              <a:t>PAGE ABOUT</a:t>
            </a:r>
          </a:p>
        </p:txBody>
      </p:sp>
      <p:sp>
        <p:nvSpPr>
          <p:cNvPr id="7" name="TextBox 6"/>
          <p:cNvSpPr txBox="1"/>
          <p:nvPr/>
        </p:nvSpPr>
        <p:spPr>
          <a:xfrm>
            <a:off x="685800" y="1645920"/>
            <a:ext cx="10789920" cy="1371600"/>
          </a:xfrm>
          <a:prstGeom prst="rect">
            <a:avLst/>
          </a:prstGeom>
          <a:noFill/>
        </p:spPr>
        <p:txBody>
          <a:bodyPr wrap="square">
            <a:spAutoFit/>
          </a:bodyPr>
          <a:lstStyle/>
          <a:p>
            <a:pPr algn="l">
              <a:defRPr sz="1300" b="0" i="0">
                <a:solidFill>
                  <a:srgbClr val="FFFFFF"/>
                </a:solidFill>
              </a:defRPr>
            </a:pPr>
            <a:r>
              <a:t>The Facebook page is severely underdeveloped with no about section, category, contact details, or rating, limiting discoverability and credibility.</a:t>
            </a:r>
          </a:p>
        </p:txBody>
      </p:sp>
      <p:graphicFrame>
        <p:nvGraphicFramePr>
          <p:cNvPr id="8" name="Table 7"/>
          <p:cNvGraphicFramePr>
            <a:graphicFrameLocks noGrp="1"/>
          </p:cNvGraphicFramePr>
          <p:nvPr/>
        </p:nvGraphicFramePr>
        <p:xfrm>
          <a:off x="457200" y="3383280"/>
          <a:ext cx="5486400" cy="2286000"/>
        </p:xfrm>
        <a:graphic>
          <a:graphicData uri="http://schemas.openxmlformats.org/drawingml/2006/table">
            <a:tbl>
              <a:tblPr firstRow="1" bandRow="1">
                <a:tableStyleId>{5C22544A-7EE6-4342-B048-85BDC9FD1C3A}</a:tableStyleId>
              </a:tblPr>
              <a:tblGrid>
                <a:gridCol w="2743200"/>
                <a:gridCol w="2743200"/>
              </a:tblGrid>
              <a:tr h="457200">
                <a:tc>
                  <a:txBody>
                    <a:bodyPr/>
                    <a:lstStyle/>
                    <a:p>
                      <a:pPr algn="ctr">
                        <a:defRPr b="1" sz="1200">
                          <a:solidFill>
                            <a:srgbClr val="050C1A"/>
                          </a:solidFill>
                        </a:defRPr>
                      </a:pPr>
                      <a:r>
                        <a:t>Detail</a:t>
                      </a:r>
                    </a:p>
                  </a:txBody>
                  <a:tcPr>
                    <a:solidFill>
                      <a:srgbClr val="D4AF37"/>
                    </a:solidFill>
                  </a:tcPr>
                </a:tc>
                <a:tc>
                  <a:txBody>
                    <a:bodyPr/>
                    <a:lstStyle/>
                    <a:p>
                      <a:pPr algn="ctr">
                        <a:defRPr b="1" sz="1200">
                          <a:solidFill>
                            <a:srgbClr val="050C1A"/>
                          </a:solidFill>
                        </a:defRPr>
                      </a:pPr>
                      <a:r>
                        <a:t>Value</a:t>
                      </a:r>
                    </a:p>
                  </a:txBody>
                  <a:tcPr>
                    <a:solidFill>
                      <a:srgbClr val="D4AF37"/>
                    </a:solidFill>
                  </a:tcPr>
                </a:tc>
              </a:tr>
              <a:tr h="457200">
                <a:tc>
                  <a:txBody>
                    <a:bodyPr/>
                    <a:lstStyle/>
                    <a:p>
                      <a:pPr algn="ctr">
                        <a:defRPr sz="1100">
                          <a:solidFill>
                            <a:srgbClr val="FFFFFF"/>
                          </a:solidFill>
                        </a:defRPr>
                      </a:pPr>
                      <a:r>
                        <a:t>Address</a:t>
                      </a:r>
                    </a:p>
                  </a:txBody>
                  <a:tcPr>
                    <a:solidFill>
                      <a:srgbClr val="0E1E3A"/>
                    </a:solidFill>
                  </a:tcPr>
                </a:tc>
                <a:tc>
                  <a:txBody>
                    <a:bodyPr/>
                    <a:lstStyle/>
                    <a:p>
                      <a:pPr algn="ctr">
                        <a:defRPr sz="1100">
                          <a:solidFill>
                            <a:srgbClr val="FFFFFF"/>
                          </a:solidFill>
                        </a:defRPr>
                      </a:pPr>
                      <a:r>
                        <a:t>N/A</a:t>
                      </a:r>
                    </a:p>
                  </a:txBody>
                  <a:tcPr>
                    <a:solidFill>
                      <a:srgbClr val="0E1E3A"/>
                    </a:solidFill>
                  </a:tcPr>
                </a:tc>
              </a:tr>
              <a:tr h="457200">
                <a:tc>
                  <a:txBody>
                    <a:bodyPr/>
                    <a:lstStyle/>
                    <a:p>
                      <a:pPr algn="ctr">
                        <a:defRPr sz="1100">
                          <a:solidFill>
                            <a:srgbClr val="FFFFFF"/>
                          </a:solidFill>
                        </a:defRPr>
                      </a:pPr>
                      <a:r>
                        <a:t>Phone</a:t>
                      </a:r>
                    </a:p>
                  </a:txBody>
                  <a:tcPr>
                    <a:solidFill>
                      <a:srgbClr val="050C1A"/>
                    </a:solidFill>
                  </a:tcPr>
                </a:tc>
                <a:tc>
                  <a:txBody>
                    <a:bodyPr/>
                    <a:lstStyle/>
                    <a:p>
                      <a:pPr algn="ctr">
                        <a:defRPr sz="1100">
                          <a:solidFill>
                            <a:srgbClr val="FFFFFF"/>
                          </a:solidFill>
                        </a:defRPr>
                      </a:pPr>
                      <a:r>
                        <a:t>N/A</a:t>
                      </a:r>
                    </a:p>
                  </a:txBody>
                  <a:tcPr>
                    <a:solidFill>
                      <a:srgbClr val="050C1A"/>
                    </a:solidFill>
                  </a:tcPr>
                </a:tc>
              </a:tr>
              <a:tr h="457200">
                <a:tc>
                  <a:txBody>
                    <a:bodyPr/>
                    <a:lstStyle/>
                    <a:p>
                      <a:pPr algn="ctr">
                        <a:defRPr sz="1100">
                          <a:solidFill>
                            <a:srgbClr val="FFFFFF"/>
                          </a:solidFill>
                        </a:defRPr>
                      </a:pPr>
                      <a:r>
                        <a:t>Email</a:t>
                      </a:r>
                    </a:p>
                  </a:txBody>
                  <a:tcPr>
                    <a:solidFill>
                      <a:srgbClr val="0E1E3A"/>
                    </a:solidFill>
                  </a:tcPr>
                </a:tc>
                <a:tc>
                  <a:txBody>
                    <a:bodyPr/>
                    <a:lstStyle/>
                    <a:p>
                      <a:pPr algn="ctr">
                        <a:defRPr sz="1100">
                          <a:solidFill>
                            <a:srgbClr val="FFFFFF"/>
                          </a:solidFill>
                        </a:defRPr>
                      </a:pPr>
                      <a:r>
                        <a:t>N/A</a:t>
                      </a:r>
                    </a:p>
                  </a:txBody>
                  <a:tcPr>
                    <a:solidFill>
                      <a:srgbClr val="0E1E3A"/>
                    </a:solidFill>
                  </a:tcPr>
                </a:tc>
              </a:tr>
              <a:tr h="457200">
                <a:tc>
                  <a:txBody>
                    <a:bodyPr/>
                    <a:lstStyle/>
                    <a:p>
                      <a:pPr algn="ctr">
                        <a:defRPr sz="1100">
                          <a:solidFill>
                            <a:srgbClr val="FFFFFF"/>
                          </a:solidFill>
                        </a:defRPr>
                      </a:pPr>
                      <a:r>
                        <a:t>Website</a:t>
                      </a:r>
                    </a:p>
                  </a:txBody>
                  <a:tcPr>
                    <a:solidFill>
                      <a:srgbClr val="050C1A"/>
                    </a:solidFill>
                  </a:tcPr>
                </a:tc>
                <a:tc>
                  <a:txBody>
                    <a:bodyPr/>
                    <a:lstStyle/>
                    <a:p>
                      <a:pPr algn="ctr">
                        <a:defRPr sz="1100">
                          <a:solidFill>
                            <a:srgbClr val="FFFFFF"/>
                          </a:solidFill>
                        </a:defRPr>
                      </a:pPr>
                      <a:r>
                        <a:t>N/A</a:t>
                      </a:r>
                    </a:p>
                  </a:txBody>
                  <a:tcPr>
                    <a:solidFill>
                      <a:srgbClr val="050C1A"/>
                    </a:solidFill>
                  </a:tcPr>
                </a:tc>
              </a:tr>
            </a:tbl>
          </a:graphicData>
        </a:graphic>
      </p:graphicFrame>
      <p:sp>
        <p:nvSpPr>
          <p:cNvPr id="9" name="Rectangle 8"/>
          <p:cNvSpPr/>
          <p:nvPr/>
        </p:nvSpPr>
        <p:spPr>
          <a:xfrm>
            <a:off x="6217920" y="3383280"/>
            <a:ext cx="5394960" cy="1005840"/>
          </a:xfrm>
          <a:prstGeom prst="rect">
            <a:avLst/>
          </a:prstGeom>
          <a:solidFill>
            <a:srgbClr val="0E1E3A"/>
          </a:solidFill>
          <a:ln w="12700">
            <a:solidFill>
              <a:srgbClr val="1A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474720"/>
            <a:ext cx="5120640" cy="320040"/>
          </a:xfrm>
          <a:prstGeom prst="rect">
            <a:avLst/>
          </a:prstGeom>
          <a:noFill/>
        </p:spPr>
        <p:txBody>
          <a:bodyPr wrap="square">
            <a:spAutoFit/>
          </a:bodyPr>
          <a:lstStyle/>
          <a:p>
            <a:pPr algn="l">
              <a:defRPr sz="1200" b="1" i="0">
                <a:solidFill>
                  <a:srgbClr val="1A5AFF"/>
                </a:solidFill>
              </a:defRPr>
            </a:pPr>
            <a:r>
              <a:t>💡 Strength</a:t>
            </a:r>
          </a:p>
        </p:txBody>
      </p:sp>
      <p:sp>
        <p:nvSpPr>
          <p:cNvPr id="11" name="TextBox 10"/>
          <p:cNvSpPr txBox="1"/>
          <p:nvPr/>
        </p:nvSpPr>
        <p:spPr>
          <a:xfrm>
            <a:off x="6355080" y="3794760"/>
            <a:ext cx="5120640" cy="502920"/>
          </a:xfrm>
          <a:prstGeom prst="rect">
            <a:avLst/>
          </a:prstGeom>
          <a:noFill/>
        </p:spPr>
        <p:txBody>
          <a:bodyPr wrap="square">
            <a:spAutoFit/>
          </a:bodyPr>
          <a:lstStyle/>
          <a:p>
            <a:pPr algn="l">
              <a:defRPr sz="1100" b="0" i="0">
                <a:solidFill>
                  <a:srgbClr val="FFFFFF"/>
                </a:solidFill>
              </a:defRPr>
            </a:pPr>
            <a:r>
              <a:t>The page exists as a secondary touchpoint for audiences who prefer Facebook, maintaining a basic brand presence on a platform popular with event and wedding planners.</a:t>
            </a:r>
          </a:p>
        </p:txBody>
      </p:sp>
      <p:sp>
        <p:nvSpPr>
          <p:cNvPr id="12" name="Rectangle 11"/>
          <p:cNvSpPr/>
          <p:nvPr/>
        </p:nvSpPr>
        <p:spPr>
          <a:xfrm>
            <a:off x="6309359" y="3383280"/>
            <a:ext cx="5394960" cy="100584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120640" cy="320040"/>
          </a:xfrm>
          <a:prstGeom prst="rect">
            <a:avLst/>
          </a:prstGeom>
          <a:noFill/>
        </p:spPr>
        <p:txBody>
          <a:bodyPr wrap="square">
            <a:spAutoFit/>
          </a:bodyPr>
          <a:lstStyle/>
          <a:p>
            <a:pPr algn="l">
              <a:defRPr sz="1200" b="1" i="0">
                <a:solidFill>
                  <a:srgbClr val="D4AF37"/>
                </a:solidFill>
              </a:defRPr>
            </a:pPr>
            <a:r>
              <a:t>🎯 Recommendation</a:t>
            </a:r>
          </a:p>
        </p:txBody>
      </p:sp>
      <p:sp>
        <p:nvSpPr>
          <p:cNvPr id="14" name="TextBox 13"/>
          <p:cNvSpPr txBox="1"/>
          <p:nvPr/>
        </p:nvSpPr>
        <p:spPr>
          <a:xfrm>
            <a:off x="6446520" y="3794760"/>
            <a:ext cx="5120640" cy="502920"/>
          </a:xfrm>
          <a:prstGeom prst="rect">
            <a:avLst/>
          </a:prstGeom>
          <a:noFill/>
        </p:spPr>
        <p:txBody>
          <a:bodyPr wrap="square">
            <a:spAutoFit/>
          </a:bodyPr>
          <a:lstStyle/>
          <a:p>
            <a:pPr algn="l">
              <a:defRPr sz="1100" b="0" i="0">
                <a:solidFill>
                  <a:srgbClr val="FFFFFF"/>
                </a:solidFill>
              </a:defRPr>
            </a:pPr>
            <a:r>
              <a:t>Complete the entire Facebook page profile including category, address, phone, email, website, and about section to improve local SEO and trust signals for potential wedding and corporate event clients.</a:t>
            </a:r>
          </a:p>
        </p:txBody>
      </p:sp>
      <p:sp>
        <p:nvSpPr>
          <p:cNvPr id="15" name="Rectangle 14"/>
          <p:cNvSpPr/>
          <p:nvPr/>
        </p:nvSpPr>
        <p:spPr>
          <a:xfrm>
            <a:off x="6217920" y="3383280"/>
            <a:ext cx="5394960" cy="1005840"/>
          </a:xfrm>
          <a:prstGeom prst="rect">
            <a:avLst/>
          </a:prstGeom>
          <a:solidFill>
            <a:srgbClr val="0E1E3A"/>
          </a:solidFill>
          <a:ln w="12700">
            <a:solidFill>
              <a:srgbClr val="1A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3474720"/>
            <a:ext cx="5120640" cy="320040"/>
          </a:xfrm>
          <a:prstGeom prst="rect">
            <a:avLst/>
          </a:prstGeom>
          <a:noFill/>
        </p:spPr>
        <p:txBody>
          <a:bodyPr wrap="square">
            <a:spAutoFit/>
          </a:bodyPr>
          <a:lstStyle/>
          <a:p>
            <a:pPr algn="l">
              <a:defRPr sz="1200" b="1" i="0">
                <a:solidFill>
                  <a:srgbClr val="1A5AFF"/>
                </a:solidFill>
              </a:defRPr>
            </a:pPr>
            <a:r>
              <a:t>💡 Strength</a:t>
            </a:r>
          </a:p>
        </p:txBody>
      </p:sp>
      <p:sp>
        <p:nvSpPr>
          <p:cNvPr id="17" name="TextBox 16"/>
          <p:cNvSpPr txBox="1"/>
          <p:nvPr/>
        </p:nvSpPr>
        <p:spPr>
          <a:xfrm>
            <a:off x="6355080" y="3794760"/>
            <a:ext cx="5120640" cy="502920"/>
          </a:xfrm>
          <a:prstGeom prst="rect">
            <a:avLst/>
          </a:prstGeom>
          <a:noFill/>
        </p:spPr>
        <p:txBody>
          <a:bodyPr wrap="square">
            <a:spAutoFit/>
          </a:bodyPr>
          <a:lstStyle/>
          <a:p>
            <a:pPr algn="l">
              <a:defRPr sz="1100" b="0" i="0">
                <a:solidFill>
                  <a:srgbClr val="FFFFFF"/>
                </a:solidFill>
              </a:defRPr>
            </a:pPr>
            <a:r>
              <a:t>The page exists as a secondary touchpoint for audiences who prefer Facebook, maintaining a basic brand presence on a platform popular with event and wedding planners.</a:t>
            </a:r>
          </a:p>
        </p:txBody>
      </p:sp>
      <p:sp>
        <p:nvSpPr>
          <p:cNvPr id="18" name="Rectangle 17"/>
          <p:cNvSpPr/>
          <p:nvPr/>
        </p:nvSpPr>
        <p:spPr>
          <a:xfrm>
            <a:off x="6217920" y="4617720"/>
            <a:ext cx="5394960" cy="100584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709159"/>
            <a:ext cx="5120640" cy="320040"/>
          </a:xfrm>
          <a:prstGeom prst="rect">
            <a:avLst/>
          </a:prstGeom>
          <a:noFill/>
        </p:spPr>
        <p:txBody>
          <a:bodyPr wrap="square">
            <a:spAutoFit/>
          </a:bodyPr>
          <a:lstStyle/>
          <a:p>
            <a:pPr algn="l">
              <a:defRPr sz="1200" b="1" i="0">
                <a:solidFill>
                  <a:srgbClr val="D4AF37"/>
                </a:solidFill>
              </a:defRPr>
            </a:pPr>
            <a:r>
              <a:t>🎯 Recommendation</a:t>
            </a:r>
          </a:p>
        </p:txBody>
      </p:sp>
      <p:sp>
        <p:nvSpPr>
          <p:cNvPr id="20" name="TextBox 19"/>
          <p:cNvSpPr txBox="1"/>
          <p:nvPr/>
        </p:nvSpPr>
        <p:spPr>
          <a:xfrm>
            <a:off x="6355080" y="5029200"/>
            <a:ext cx="5120640" cy="502920"/>
          </a:xfrm>
          <a:prstGeom prst="rect">
            <a:avLst/>
          </a:prstGeom>
          <a:noFill/>
        </p:spPr>
        <p:txBody>
          <a:bodyPr wrap="square">
            <a:spAutoFit/>
          </a:bodyPr>
          <a:lstStyle/>
          <a:p>
            <a:pPr algn="l">
              <a:defRPr sz="1100" b="0" i="0">
                <a:solidFill>
                  <a:srgbClr val="FFFFFF"/>
                </a:solidFill>
              </a:defRPr>
            </a:pPr>
            <a:r>
              <a:t>Complete the entire Facebook page profile including category, address, phone, email, website, and about section to improve local SEO and trust signals for potential wedding and corporate event clients.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YouTube Channel</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@SporticoResorts  —  Sportico Resorts positions itself as a luxury Bangalore resort offering weddings, corporate events, adventure sports, and scenic tourism experiences curated with in-house guides and transport facilities.</a:t>
            </a:r>
          </a:p>
        </p:txBody>
      </p:sp>
      <p:sp>
        <p:nvSpPr>
          <p:cNvPr id="5" name="Rectangle 4"/>
          <p:cNvSpPr/>
          <p:nvPr/>
        </p:nvSpPr>
        <p:spPr>
          <a:xfrm>
            <a:off x="457200" y="1188720"/>
            <a:ext cx="3474720" cy="1737360"/>
          </a:xfrm>
          <a:prstGeom prst="rect">
            <a:avLst/>
          </a:prstGeom>
          <a:solidFill>
            <a:srgbClr val="0E1E3A"/>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3474720" cy="54864"/>
          </a:xfrm>
          <a:prstGeom prst="rect">
            <a:avLst/>
          </a:prstGeom>
          <a:solidFill>
            <a:srgbClr val="F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3291839" cy="903427"/>
          </a:xfrm>
          <a:prstGeom prst="rect">
            <a:avLst/>
          </a:prstGeom>
          <a:noFill/>
        </p:spPr>
        <p:txBody>
          <a:bodyPr wrap="square">
            <a:spAutoFit/>
          </a:bodyPr>
          <a:lstStyle/>
          <a:p>
            <a:pPr algn="ctr">
              <a:defRPr sz="2200" b="1" i="0">
                <a:solidFill>
                  <a:srgbClr val="FFFFFF"/>
                </a:solidFill>
              </a:defRPr>
            </a:pPr>
            <a:r>
              <a:t>275</a:t>
            </a:r>
          </a:p>
        </p:txBody>
      </p:sp>
      <p:sp>
        <p:nvSpPr>
          <p:cNvPr id="8" name="TextBox 7"/>
          <p:cNvSpPr txBox="1"/>
          <p:nvPr/>
        </p:nvSpPr>
        <p:spPr>
          <a:xfrm>
            <a:off x="530352" y="2231136"/>
            <a:ext cx="3328415" cy="608075"/>
          </a:xfrm>
          <a:prstGeom prst="rect">
            <a:avLst/>
          </a:prstGeom>
          <a:noFill/>
        </p:spPr>
        <p:txBody>
          <a:bodyPr wrap="square">
            <a:spAutoFit/>
          </a:bodyPr>
          <a:lstStyle/>
          <a:p>
            <a:pPr algn="ctr">
              <a:defRPr sz="1000" b="0" i="0">
                <a:solidFill>
                  <a:srgbClr val="C8D2E6"/>
                </a:solidFill>
              </a:defRPr>
            </a:pPr>
            <a:r>
              <a:t>SUBSCRIBERS</a:t>
            </a:r>
          </a:p>
        </p:txBody>
      </p:sp>
      <p:sp>
        <p:nvSpPr>
          <p:cNvPr id="9" name="Rectangle 8"/>
          <p:cNvSpPr/>
          <p:nvPr/>
        </p:nvSpPr>
        <p:spPr>
          <a:xfrm>
            <a:off x="4297680" y="1188720"/>
            <a:ext cx="3474720" cy="1737360"/>
          </a:xfrm>
          <a:prstGeom prst="rect">
            <a:avLst/>
          </a:prstGeom>
          <a:solidFill>
            <a:srgbClr val="0E1E3A"/>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188720"/>
            <a:ext cx="3474720" cy="54864"/>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325880"/>
            <a:ext cx="3291839" cy="903427"/>
          </a:xfrm>
          <a:prstGeom prst="rect">
            <a:avLst/>
          </a:prstGeom>
          <a:noFill/>
        </p:spPr>
        <p:txBody>
          <a:bodyPr wrap="square">
            <a:spAutoFit/>
          </a:bodyPr>
          <a:lstStyle/>
          <a:p>
            <a:pPr algn="ctr">
              <a:defRPr sz="2200" b="1" i="0">
                <a:solidFill>
                  <a:srgbClr val="FFFFFF"/>
                </a:solidFill>
              </a:defRPr>
            </a:pPr>
            <a:r>
              <a:t>58</a:t>
            </a:r>
          </a:p>
        </p:txBody>
      </p:sp>
      <p:sp>
        <p:nvSpPr>
          <p:cNvPr id="12" name="TextBox 11"/>
          <p:cNvSpPr txBox="1"/>
          <p:nvPr/>
        </p:nvSpPr>
        <p:spPr>
          <a:xfrm>
            <a:off x="4370832" y="2231136"/>
            <a:ext cx="3328415" cy="608075"/>
          </a:xfrm>
          <a:prstGeom prst="rect">
            <a:avLst/>
          </a:prstGeom>
          <a:noFill/>
        </p:spPr>
        <p:txBody>
          <a:bodyPr wrap="square">
            <a:spAutoFit/>
          </a:bodyPr>
          <a:lstStyle/>
          <a:p>
            <a:pPr algn="ctr">
              <a:defRPr sz="1000" b="0" i="0">
                <a:solidFill>
                  <a:srgbClr val="C8D2E6"/>
                </a:solidFill>
              </a:defRPr>
            </a:pPr>
            <a:r>
              <a:t>TOTAL VIDEOS</a:t>
            </a:r>
          </a:p>
        </p:txBody>
      </p:sp>
      <p:sp>
        <p:nvSpPr>
          <p:cNvPr id="13" name="Rectangle 12"/>
          <p:cNvSpPr/>
          <p:nvPr/>
        </p:nvSpPr>
        <p:spPr>
          <a:xfrm>
            <a:off x="8138160" y="1188720"/>
            <a:ext cx="3474720" cy="173736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188720"/>
            <a:ext cx="3474720" cy="54864"/>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325880"/>
            <a:ext cx="3291839" cy="903427"/>
          </a:xfrm>
          <a:prstGeom prst="rect">
            <a:avLst/>
          </a:prstGeom>
          <a:noFill/>
        </p:spPr>
        <p:txBody>
          <a:bodyPr wrap="square">
            <a:spAutoFit/>
          </a:bodyPr>
          <a:lstStyle/>
          <a:p>
            <a:pPr algn="ctr">
              <a:defRPr sz="2200" b="1" i="0">
                <a:solidFill>
                  <a:srgbClr val="FFFFFF"/>
                </a:solidFill>
              </a:defRPr>
            </a:pPr>
            <a:r>
              <a:t>285683</a:t>
            </a:r>
          </a:p>
        </p:txBody>
      </p:sp>
      <p:sp>
        <p:nvSpPr>
          <p:cNvPr id="16" name="TextBox 15"/>
          <p:cNvSpPr txBox="1"/>
          <p:nvPr/>
        </p:nvSpPr>
        <p:spPr>
          <a:xfrm>
            <a:off x="8211312" y="2231136"/>
            <a:ext cx="3328415" cy="608075"/>
          </a:xfrm>
          <a:prstGeom prst="rect">
            <a:avLst/>
          </a:prstGeom>
          <a:noFill/>
        </p:spPr>
        <p:txBody>
          <a:bodyPr wrap="square">
            <a:spAutoFit/>
          </a:bodyPr>
          <a:lstStyle/>
          <a:p>
            <a:pPr algn="ctr">
              <a:defRPr sz="1000" b="0" i="0">
                <a:solidFill>
                  <a:srgbClr val="C8D2E6"/>
                </a:solidFill>
              </a:defRPr>
            </a:pPr>
            <a:r>
              <a:t>TOTAL VIEWS</a:t>
            </a:r>
          </a:p>
        </p:txBody>
      </p:sp>
      <p:sp>
        <p:nvSpPr>
          <p:cNvPr id="17" name="Rectangle 16"/>
          <p:cNvSpPr/>
          <p:nvPr/>
        </p:nvSpPr>
        <p:spPr>
          <a:xfrm>
            <a:off x="457200" y="3749039"/>
            <a:ext cx="3474720" cy="1737360"/>
          </a:xfrm>
          <a:prstGeom prst="rect">
            <a:avLst/>
          </a:prstGeom>
          <a:solidFill>
            <a:srgbClr val="0E1E3A"/>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749039"/>
            <a:ext cx="347472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886200"/>
            <a:ext cx="3291839" cy="903427"/>
          </a:xfrm>
          <a:prstGeom prst="rect">
            <a:avLst/>
          </a:prstGeom>
          <a:noFill/>
        </p:spPr>
        <p:txBody>
          <a:bodyPr wrap="square">
            <a:spAutoFit/>
          </a:bodyPr>
          <a:lstStyle/>
          <a:p>
            <a:pPr algn="ctr">
              <a:defRPr sz="2200" b="1" i="0">
                <a:solidFill>
                  <a:srgbClr val="FFFFFF"/>
                </a:solidFill>
              </a:defRPr>
            </a:pPr>
            <a:r>
              <a:t>No</a:t>
            </a:r>
          </a:p>
        </p:txBody>
      </p:sp>
      <p:sp>
        <p:nvSpPr>
          <p:cNvPr id="20" name="TextBox 19"/>
          <p:cNvSpPr txBox="1"/>
          <p:nvPr/>
        </p:nvSpPr>
        <p:spPr>
          <a:xfrm>
            <a:off x="530352" y="4791455"/>
            <a:ext cx="3328415" cy="608075"/>
          </a:xfrm>
          <a:prstGeom prst="rect">
            <a:avLst/>
          </a:prstGeom>
          <a:noFill/>
        </p:spPr>
        <p:txBody>
          <a:bodyPr wrap="square">
            <a:spAutoFit/>
          </a:bodyPr>
          <a:lstStyle/>
          <a:p>
            <a:pPr algn="ctr">
              <a:defRPr sz="1000" b="0" i="0">
                <a:solidFill>
                  <a:srgbClr val="C8D2E6"/>
                </a:solidFill>
              </a:defRPr>
            </a:pPr>
            <a:r>
              <a:t>VERIFIED</a:t>
            </a:r>
          </a:p>
        </p:txBody>
      </p:sp>
      <p:sp>
        <p:nvSpPr>
          <p:cNvPr id="21" name="Rectangle 20"/>
          <p:cNvSpPr/>
          <p:nvPr/>
        </p:nvSpPr>
        <p:spPr>
          <a:xfrm>
            <a:off x="4297680" y="3749039"/>
            <a:ext cx="3474720" cy="173736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3749039"/>
            <a:ext cx="3474720" cy="54864"/>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0" y="3886200"/>
            <a:ext cx="3291839" cy="903427"/>
          </a:xfrm>
          <a:prstGeom prst="rect">
            <a:avLst/>
          </a:prstGeom>
          <a:noFill/>
        </p:spPr>
        <p:txBody>
          <a:bodyPr wrap="square">
            <a:spAutoFit/>
          </a:bodyPr>
          <a:lstStyle/>
          <a:p>
            <a:pPr algn="ctr">
              <a:defRPr sz="2200" b="1" i="0">
                <a:solidFill>
                  <a:srgbClr val="FFFFFF"/>
                </a:solidFill>
              </a:defRPr>
            </a:pPr>
            <a:r>
              <a:t>2023-11-07</a:t>
            </a:r>
          </a:p>
        </p:txBody>
      </p:sp>
      <p:sp>
        <p:nvSpPr>
          <p:cNvPr id="24" name="TextBox 23"/>
          <p:cNvSpPr txBox="1"/>
          <p:nvPr/>
        </p:nvSpPr>
        <p:spPr>
          <a:xfrm>
            <a:off x="4370832" y="4791455"/>
            <a:ext cx="3328415" cy="608075"/>
          </a:xfrm>
          <a:prstGeom prst="rect">
            <a:avLst/>
          </a:prstGeom>
          <a:noFill/>
        </p:spPr>
        <p:txBody>
          <a:bodyPr wrap="square">
            <a:spAutoFit/>
          </a:bodyPr>
          <a:lstStyle/>
          <a:p>
            <a:pPr algn="ctr">
              <a:defRPr sz="1000" b="0" i="0">
                <a:solidFill>
                  <a:srgbClr val="C8D2E6"/>
                </a:solidFill>
              </a:defRPr>
            </a:pPr>
            <a:r>
              <a:t>JOINED DATE</a:t>
            </a:r>
          </a:p>
        </p:txBody>
      </p:sp>
      <p:sp>
        <p:nvSpPr>
          <p:cNvPr id="25" name="Rectangle 24"/>
          <p:cNvSpPr/>
          <p:nvPr/>
        </p:nvSpPr>
        <p:spPr>
          <a:xfrm>
            <a:off x="8138160" y="3749039"/>
            <a:ext cx="3474720" cy="1737360"/>
          </a:xfrm>
          <a:prstGeom prst="rect">
            <a:avLst/>
          </a:prstGeom>
          <a:solidFill>
            <a:srgbClr val="0E1E3A"/>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60" y="3749039"/>
            <a:ext cx="3474720" cy="54864"/>
          </a:xfrm>
          <a:prstGeom prst="rect">
            <a:avLst/>
          </a:prstGeom>
          <a:solidFill>
            <a:srgbClr val="F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3886200"/>
            <a:ext cx="3291839" cy="903427"/>
          </a:xfrm>
          <a:prstGeom prst="rect">
            <a:avLst/>
          </a:prstGeom>
          <a:noFill/>
        </p:spPr>
        <p:txBody>
          <a:bodyPr wrap="square">
            <a:spAutoFit/>
          </a:bodyPr>
          <a:lstStyle/>
          <a:p>
            <a:pPr algn="ctr">
              <a:defRPr sz="2200" b="1" i="0">
                <a:solidFill>
                  <a:srgbClr val="FFFFFF"/>
                </a:solidFill>
              </a:defRPr>
            </a:pPr>
            <a:r>
              <a:t>YouTube</a:t>
            </a:r>
          </a:p>
        </p:txBody>
      </p:sp>
      <p:sp>
        <p:nvSpPr>
          <p:cNvPr id="28" name="TextBox 27"/>
          <p:cNvSpPr txBox="1"/>
          <p:nvPr/>
        </p:nvSpPr>
        <p:spPr>
          <a:xfrm>
            <a:off x="8211312" y="4791455"/>
            <a:ext cx="3328415" cy="608075"/>
          </a:xfrm>
          <a:prstGeom prst="rect">
            <a:avLst/>
          </a:prstGeom>
          <a:noFill/>
        </p:spPr>
        <p:txBody>
          <a:bodyPr wrap="square">
            <a:spAutoFit/>
          </a:bodyPr>
          <a:lstStyle/>
          <a:p>
            <a:pPr algn="ctr">
              <a:defRPr sz="1000" b="0" i="0">
                <a:solidFill>
                  <a:srgbClr val="C8D2E6"/>
                </a:solidFill>
              </a:defRPr>
            </a:pPr>
            <a:r>
              <a:t>PLATFORM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YouTube Channel Insights</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Channel performance and strategic analysis</a:t>
            </a:r>
          </a:p>
        </p:txBody>
      </p:sp>
      <p:sp>
        <p:nvSpPr>
          <p:cNvPr id="5" name="Rectangle 4"/>
          <p:cNvSpPr/>
          <p:nvPr/>
        </p:nvSpPr>
        <p:spPr>
          <a:xfrm>
            <a:off x="457200" y="1188720"/>
            <a:ext cx="11247120" cy="1828800"/>
          </a:xfrm>
          <a:prstGeom prst="rect">
            <a:avLst/>
          </a:prstGeom>
          <a:solidFill>
            <a:srgbClr val="0E1E3A"/>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80160"/>
            <a:ext cx="5486400" cy="320040"/>
          </a:xfrm>
          <a:prstGeom prst="rect">
            <a:avLst/>
          </a:prstGeom>
          <a:noFill/>
        </p:spPr>
        <p:txBody>
          <a:bodyPr wrap="square">
            <a:spAutoFit/>
          </a:bodyPr>
          <a:lstStyle/>
          <a:p>
            <a:pPr algn="l">
              <a:defRPr sz="1100" b="1" i="0">
                <a:solidFill>
                  <a:srgbClr val="FF3B30"/>
                </a:solidFill>
              </a:defRPr>
            </a:pPr>
            <a:r>
              <a:t>CHANNEL DESCRIPTION</a:t>
            </a:r>
          </a:p>
        </p:txBody>
      </p:sp>
      <p:sp>
        <p:nvSpPr>
          <p:cNvPr id="7" name="TextBox 6"/>
          <p:cNvSpPr txBox="1"/>
          <p:nvPr/>
        </p:nvSpPr>
        <p:spPr>
          <a:xfrm>
            <a:off x="685800" y="1645920"/>
            <a:ext cx="10789920" cy="1188720"/>
          </a:xfrm>
          <a:prstGeom prst="rect">
            <a:avLst/>
          </a:prstGeom>
          <a:noFill/>
        </p:spPr>
        <p:txBody>
          <a:bodyPr wrap="square">
            <a:spAutoFit/>
          </a:bodyPr>
          <a:lstStyle/>
          <a:p>
            <a:pPr algn="l">
              <a:defRPr sz="1300" b="0" i="0">
                <a:solidFill>
                  <a:srgbClr val="FFFFFF"/>
                </a:solidFill>
              </a:defRPr>
            </a:pPr>
            <a:r>
              <a:t>Sportico Resorts positions itself as a luxury Bangalore resort offering weddings, corporate events, adventure sports, and scenic tourism experiences curated with in-house guides and transport facilities.</a:t>
            </a:r>
          </a:p>
        </p:txBody>
      </p:sp>
      <p:sp>
        <p:nvSpPr>
          <p:cNvPr id="8" name="Rectangle 7"/>
          <p:cNvSpPr/>
          <p:nvPr/>
        </p:nvSpPr>
        <p:spPr>
          <a:xfrm>
            <a:off x="457200" y="3246120"/>
            <a:ext cx="5486400" cy="1280160"/>
          </a:xfrm>
          <a:prstGeom prst="rect">
            <a:avLst/>
          </a:prstGeom>
          <a:solidFill>
            <a:srgbClr val="0E1E3A"/>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3337560"/>
            <a:ext cx="5212080" cy="320040"/>
          </a:xfrm>
          <a:prstGeom prst="rect">
            <a:avLst/>
          </a:prstGeom>
          <a:noFill/>
        </p:spPr>
        <p:txBody>
          <a:bodyPr wrap="square">
            <a:spAutoFit/>
          </a:bodyPr>
          <a:lstStyle/>
          <a:p>
            <a:pPr algn="l">
              <a:defRPr sz="1200" b="1" i="0">
                <a:solidFill>
                  <a:srgbClr val="FF3B30"/>
                </a:solidFill>
              </a:defRPr>
            </a:pPr>
            <a:r>
              <a:t>💡 Strength</a:t>
            </a:r>
          </a:p>
        </p:txBody>
      </p:sp>
      <p:sp>
        <p:nvSpPr>
          <p:cNvPr id="10" name="TextBox 9"/>
          <p:cNvSpPr txBox="1"/>
          <p:nvPr/>
        </p:nvSpPr>
        <p:spPr>
          <a:xfrm>
            <a:off x="594360" y="3657600"/>
            <a:ext cx="5212080" cy="777239"/>
          </a:xfrm>
          <a:prstGeom prst="rect">
            <a:avLst/>
          </a:prstGeom>
          <a:noFill/>
        </p:spPr>
        <p:txBody>
          <a:bodyPr wrap="square">
            <a:spAutoFit/>
          </a:bodyPr>
          <a:lstStyle/>
          <a:p>
            <a:pPr algn="l">
              <a:defRPr sz="1100" b="0" i="0">
                <a:solidFill>
                  <a:srgbClr val="FFFFFF"/>
                </a:solidFill>
              </a:defRPr>
            </a:pPr>
            <a:r>
              <a:t>Exceptional view-to-subscriber ratio with 285,683 total views from only 275 subscribers, indicating strong organic discoverability and compelling video content that reaches beyond their subscriber base.</a:t>
            </a:r>
          </a:p>
        </p:txBody>
      </p:sp>
      <p:sp>
        <p:nvSpPr>
          <p:cNvPr id="11" name="Rectangle 10"/>
          <p:cNvSpPr/>
          <p:nvPr/>
        </p:nvSpPr>
        <p:spPr>
          <a:xfrm>
            <a:off x="6263640" y="3246120"/>
            <a:ext cx="5394960" cy="128016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337560"/>
            <a:ext cx="5120640" cy="320040"/>
          </a:xfrm>
          <a:prstGeom prst="rect">
            <a:avLst/>
          </a:prstGeom>
          <a:noFill/>
        </p:spPr>
        <p:txBody>
          <a:bodyPr wrap="square">
            <a:spAutoFit/>
          </a:bodyPr>
          <a:lstStyle/>
          <a:p>
            <a:pPr algn="l">
              <a:defRPr sz="1200" b="1" i="0">
                <a:solidFill>
                  <a:srgbClr val="D4AF37"/>
                </a:solidFill>
              </a:defRPr>
            </a:pPr>
            <a:r>
              <a:t>🎯 Recommendation</a:t>
            </a:r>
          </a:p>
        </p:txBody>
      </p:sp>
      <p:sp>
        <p:nvSpPr>
          <p:cNvPr id="13" name="TextBox 12"/>
          <p:cNvSpPr txBox="1"/>
          <p:nvPr/>
        </p:nvSpPr>
        <p:spPr>
          <a:xfrm>
            <a:off x="6400800" y="3657600"/>
            <a:ext cx="5120640" cy="777239"/>
          </a:xfrm>
          <a:prstGeom prst="rect">
            <a:avLst/>
          </a:prstGeom>
          <a:noFill/>
        </p:spPr>
        <p:txBody>
          <a:bodyPr wrap="square">
            <a:spAutoFit/>
          </a:bodyPr>
          <a:lstStyle/>
          <a:p>
            <a:pPr algn="l">
              <a:defRPr sz="1100" b="0" i="0">
                <a:solidFill>
                  <a:srgbClr val="FFFFFF"/>
                </a:solidFill>
              </a:defRPr>
            </a:pPr>
            <a:r>
              <a:t>Add end screens, subscribe prompts, and a channel trailer to convert the high volume of viewers into subscribers, and create dedicated playlists for weddings, corporate retreats, and adventure sports to improve session watch time.</a:t>
            </a:r>
          </a:p>
        </p:txBody>
      </p:sp>
      <p:graphicFrame>
        <p:nvGraphicFramePr>
          <p:cNvPr id="14" name="Table 13"/>
          <p:cNvGraphicFramePr>
            <a:graphicFrameLocks noGrp="1"/>
          </p:cNvGraphicFramePr>
          <p:nvPr/>
        </p:nvGraphicFramePr>
        <p:xfrm>
          <a:off x="457200" y="4663440"/>
          <a:ext cx="5486400" cy="1920240"/>
        </p:xfrm>
        <a:graphic>
          <a:graphicData uri="http://schemas.openxmlformats.org/drawingml/2006/table">
            <a:tbl>
              <a:tblPr firstRow="1" bandRow="1">
                <a:tableStyleId>{5C22544A-7EE6-4342-B048-85BDC9FD1C3A}</a:tableStyleId>
              </a:tblPr>
              <a:tblGrid>
                <a:gridCol w="2743200"/>
                <a:gridCol w="2743200"/>
              </a:tblGrid>
              <a:tr h="384048">
                <a:tc>
                  <a:txBody>
                    <a:bodyPr/>
                    <a:lstStyle/>
                    <a:p>
                      <a:pPr algn="ctr">
                        <a:defRPr b="1" sz="1200">
                          <a:solidFill>
                            <a:srgbClr val="050C1A"/>
                          </a:solidFill>
                        </a:defRPr>
                      </a:pPr>
                      <a:r>
                        <a:t>Metric</a:t>
                      </a:r>
                    </a:p>
                  </a:txBody>
                  <a:tcPr>
                    <a:solidFill>
                      <a:srgbClr val="D4AF37"/>
                    </a:solidFill>
                  </a:tcPr>
                </a:tc>
                <a:tc>
                  <a:txBody>
                    <a:bodyPr/>
                    <a:lstStyle/>
                    <a:p>
                      <a:pPr algn="ctr">
                        <a:defRPr b="1" sz="1200">
                          <a:solidFill>
                            <a:srgbClr val="050C1A"/>
                          </a:solidFill>
                        </a:defRPr>
                      </a:pPr>
                      <a:r>
                        <a:t>Value</a:t>
                      </a:r>
                    </a:p>
                  </a:txBody>
                  <a:tcPr>
                    <a:solidFill>
                      <a:srgbClr val="D4AF37"/>
                    </a:solidFill>
                  </a:tcPr>
                </a:tc>
              </a:tr>
              <a:tr h="384048">
                <a:tc>
                  <a:txBody>
                    <a:bodyPr/>
                    <a:lstStyle/>
                    <a:p>
                      <a:pPr algn="ctr">
                        <a:defRPr sz="1100">
                          <a:solidFill>
                            <a:srgbClr val="FFFFFF"/>
                          </a:solidFill>
                        </a:defRPr>
                      </a:pPr>
                      <a:r>
                        <a:t>Subscribers</a:t>
                      </a:r>
                    </a:p>
                  </a:txBody>
                  <a:tcPr>
                    <a:solidFill>
                      <a:srgbClr val="0E1E3A"/>
                    </a:solidFill>
                  </a:tcPr>
                </a:tc>
                <a:tc>
                  <a:txBody>
                    <a:bodyPr/>
                    <a:lstStyle/>
                    <a:p>
                      <a:pPr algn="ctr">
                        <a:defRPr sz="1100">
                          <a:solidFill>
                            <a:srgbClr val="FFFFFF"/>
                          </a:solidFill>
                        </a:defRPr>
                      </a:pPr>
                      <a:r>
                        <a:t>275</a:t>
                      </a:r>
                    </a:p>
                  </a:txBody>
                  <a:tcPr>
                    <a:solidFill>
                      <a:srgbClr val="0E1E3A"/>
                    </a:solidFill>
                  </a:tcPr>
                </a:tc>
              </a:tr>
              <a:tr h="384048">
                <a:tc>
                  <a:txBody>
                    <a:bodyPr/>
                    <a:lstStyle/>
                    <a:p>
                      <a:pPr algn="ctr">
                        <a:defRPr sz="1100">
                          <a:solidFill>
                            <a:srgbClr val="FFFFFF"/>
                          </a:solidFill>
                        </a:defRPr>
                      </a:pPr>
                      <a:r>
                        <a:t>Total Videos</a:t>
                      </a:r>
                    </a:p>
                  </a:txBody>
                  <a:tcPr>
                    <a:solidFill>
                      <a:srgbClr val="050C1A"/>
                    </a:solidFill>
                  </a:tcPr>
                </a:tc>
                <a:tc>
                  <a:txBody>
                    <a:bodyPr/>
                    <a:lstStyle/>
                    <a:p>
                      <a:pPr algn="ctr">
                        <a:defRPr sz="1100">
                          <a:solidFill>
                            <a:srgbClr val="FFFFFF"/>
                          </a:solidFill>
                        </a:defRPr>
                      </a:pPr>
                      <a:r>
                        <a:t>58</a:t>
                      </a:r>
                    </a:p>
                  </a:txBody>
                  <a:tcPr>
                    <a:solidFill>
                      <a:srgbClr val="050C1A"/>
                    </a:solidFill>
                  </a:tcPr>
                </a:tc>
              </a:tr>
              <a:tr h="384048">
                <a:tc>
                  <a:txBody>
                    <a:bodyPr/>
                    <a:lstStyle/>
                    <a:p>
                      <a:pPr algn="ctr">
                        <a:defRPr sz="1100">
                          <a:solidFill>
                            <a:srgbClr val="FFFFFF"/>
                          </a:solidFill>
                        </a:defRPr>
                      </a:pPr>
                      <a:r>
                        <a:t>Total Views</a:t>
                      </a:r>
                    </a:p>
                  </a:txBody>
                  <a:tcPr>
                    <a:solidFill>
                      <a:srgbClr val="0E1E3A"/>
                    </a:solidFill>
                  </a:tcPr>
                </a:tc>
                <a:tc>
                  <a:txBody>
                    <a:bodyPr/>
                    <a:lstStyle/>
                    <a:p>
                      <a:pPr algn="ctr">
                        <a:defRPr sz="1100">
                          <a:solidFill>
                            <a:srgbClr val="FFFFFF"/>
                          </a:solidFill>
                        </a:defRPr>
                      </a:pPr>
                      <a:r>
                        <a:t>285683</a:t>
                      </a:r>
                    </a:p>
                  </a:txBody>
                  <a:tcPr>
                    <a:solidFill>
                      <a:srgbClr val="0E1E3A"/>
                    </a:solidFill>
                  </a:tcPr>
                </a:tc>
              </a:tr>
              <a:tr h="384048">
                <a:tc>
                  <a:txBody>
                    <a:bodyPr/>
                    <a:lstStyle/>
                    <a:p>
                      <a:pPr algn="ctr">
                        <a:defRPr sz="1100">
                          <a:solidFill>
                            <a:srgbClr val="FFFFFF"/>
                          </a:solidFill>
                        </a:defRPr>
                      </a:pPr>
                      <a:r>
                        <a:t>Channel Age</a:t>
                      </a:r>
                    </a:p>
                  </a:txBody>
                  <a:tcPr>
                    <a:solidFill>
                      <a:srgbClr val="050C1A"/>
                    </a:solidFill>
                  </a:tcPr>
                </a:tc>
                <a:tc>
                  <a:txBody>
                    <a:bodyPr/>
                    <a:lstStyle/>
                    <a:p>
                      <a:pPr algn="ctr">
                        <a:defRPr sz="1100">
                          <a:solidFill>
                            <a:srgbClr val="FFFFFF"/>
                          </a:solidFill>
                        </a:defRPr>
                      </a:pPr>
                      <a:r>
                        <a:t>2023-11-07</a:t>
                      </a:r>
                    </a:p>
                  </a:txBody>
                  <a:tcPr>
                    <a:solidFill>
                      <a:srgbClr val="050C1A"/>
                    </a:solidFill>
                  </a:tcPr>
                </a:tc>
              </a:tr>
            </a:tbl>
          </a:graphicData>
        </a:graphic>
      </p:graphicFrame>
      <p:sp>
        <p:nvSpPr>
          <p:cNvPr id="15" name="Rectangle 14"/>
          <p:cNvSpPr/>
          <p:nvPr/>
        </p:nvSpPr>
        <p:spPr>
          <a:xfrm>
            <a:off x="6263640" y="4663440"/>
            <a:ext cx="5394960" cy="1920240"/>
          </a:xfrm>
          <a:prstGeom prst="rect">
            <a:avLst/>
          </a:prstGeom>
          <a:solidFill>
            <a:srgbClr val="0E1E3A"/>
          </a:solidFill>
          <a:ln w="127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4754880"/>
            <a:ext cx="4937760" cy="320040"/>
          </a:xfrm>
          <a:prstGeom prst="rect">
            <a:avLst/>
          </a:prstGeom>
          <a:noFill/>
        </p:spPr>
        <p:txBody>
          <a:bodyPr wrap="square">
            <a:spAutoFit/>
          </a:bodyPr>
          <a:lstStyle/>
          <a:p>
            <a:pPr algn="l">
              <a:defRPr sz="1100" b="1" i="0">
                <a:solidFill>
                  <a:srgbClr val="E67E22"/>
                </a:solidFill>
              </a:defRPr>
            </a:pPr>
            <a:r>
              <a:t>VIEWS PER VIDEO (EST.)</a:t>
            </a:r>
          </a:p>
        </p:txBody>
      </p:sp>
      <p:sp>
        <p:nvSpPr>
          <p:cNvPr id="17" name="TextBox 16"/>
          <p:cNvSpPr txBox="1"/>
          <p:nvPr/>
        </p:nvSpPr>
        <p:spPr>
          <a:xfrm>
            <a:off x="6492240" y="5166360"/>
            <a:ext cx="4937760" cy="914400"/>
          </a:xfrm>
          <a:prstGeom prst="rect">
            <a:avLst/>
          </a:prstGeom>
          <a:noFill/>
        </p:spPr>
        <p:txBody>
          <a:bodyPr wrap="square">
            <a:spAutoFit/>
          </a:bodyPr>
          <a:lstStyle/>
          <a:p>
            <a:pPr algn="ctr">
              <a:defRPr sz="3200" b="1" i="0">
                <a:solidFill>
                  <a:srgbClr val="FFFFFF"/>
                </a:solidFill>
              </a:defRPr>
            </a:pPr>
            <a:r>
              <a:t>4,925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LinkedIn Company Page</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linkedin.com/company/sportico-resorts</a:t>
            </a:r>
          </a:p>
        </p:txBody>
      </p:sp>
      <p:sp>
        <p:nvSpPr>
          <p:cNvPr id="5" name="Rectangle 4"/>
          <p:cNvSpPr/>
          <p:nvPr/>
        </p:nvSpPr>
        <p:spPr>
          <a:xfrm>
            <a:off x="457200" y="1188720"/>
            <a:ext cx="3474720" cy="173736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88720"/>
            <a:ext cx="3474720" cy="54864"/>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3291839" cy="903427"/>
          </a:xfrm>
          <a:prstGeom prst="rect">
            <a:avLst/>
          </a:prstGeom>
          <a:noFill/>
        </p:spPr>
        <p:txBody>
          <a:bodyPr wrap="square">
            <a:spAutoFit/>
          </a:bodyPr>
          <a:lstStyle/>
          <a:p>
            <a:pPr algn="ctr">
              <a:defRPr sz="2200" b="1" i="0">
                <a:solidFill>
                  <a:srgbClr val="FFFFFF"/>
                </a:solidFill>
              </a:defRPr>
            </a:pPr>
            <a:r>
              <a:t>N/A</a:t>
            </a:r>
          </a:p>
        </p:txBody>
      </p:sp>
      <p:sp>
        <p:nvSpPr>
          <p:cNvPr id="8" name="TextBox 7"/>
          <p:cNvSpPr txBox="1"/>
          <p:nvPr/>
        </p:nvSpPr>
        <p:spPr>
          <a:xfrm>
            <a:off x="530352" y="2231136"/>
            <a:ext cx="3328415" cy="608075"/>
          </a:xfrm>
          <a:prstGeom prst="rect">
            <a:avLst/>
          </a:prstGeom>
          <a:noFill/>
        </p:spPr>
        <p:txBody>
          <a:bodyPr wrap="square">
            <a:spAutoFit/>
          </a:bodyPr>
          <a:lstStyle/>
          <a:p>
            <a:pPr algn="ctr">
              <a:defRPr sz="1000" b="0" i="0">
                <a:solidFill>
                  <a:srgbClr val="C8D2E6"/>
                </a:solidFill>
              </a:defRPr>
            </a:pPr>
            <a:r>
              <a:t>FOLLOWERS</a:t>
            </a:r>
          </a:p>
        </p:txBody>
      </p:sp>
      <p:sp>
        <p:nvSpPr>
          <p:cNvPr id="9" name="Rectangle 8"/>
          <p:cNvSpPr/>
          <p:nvPr/>
        </p:nvSpPr>
        <p:spPr>
          <a:xfrm>
            <a:off x="4297680" y="1188720"/>
            <a:ext cx="3474720" cy="1737360"/>
          </a:xfrm>
          <a:prstGeom prst="rect">
            <a:avLst/>
          </a:prstGeom>
          <a:solidFill>
            <a:srgbClr val="0E1E3A"/>
          </a:solidFill>
          <a:ln w="12700">
            <a:solidFill>
              <a:srgbClr val="1A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188720"/>
            <a:ext cx="3474720" cy="54864"/>
          </a:xfrm>
          <a:prstGeom prst="rect">
            <a:avLst/>
          </a:prstGeom>
          <a:solidFill>
            <a:srgbClr val="1A5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325880"/>
            <a:ext cx="3291839" cy="903427"/>
          </a:xfrm>
          <a:prstGeom prst="rect">
            <a:avLst/>
          </a:prstGeom>
          <a:noFill/>
        </p:spPr>
        <p:txBody>
          <a:bodyPr wrap="square">
            <a:spAutoFit/>
          </a:bodyPr>
          <a:lstStyle/>
          <a:p>
            <a:pPr algn="ctr">
              <a:defRPr sz="2200" b="1" i="0">
                <a:solidFill>
                  <a:srgbClr val="FFFFFF"/>
                </a:solidFill>
              </a:defRPr>
            </a:pPr>
            <a:r>
              <a:t>N/A</a:t>
            </a:r>
          </a:p>
        </p:txBody>
      </p:sp>
      <p:sp>
        <p:nvSpPr>
          <p:cNvPr id="12" name="TextBox 11"/>
          <p:cNvSpPr txBox="1"/>
          <p:nvPr/>
        </p:nvSpPr>
        <p:spPr>
          <a:xfrm>
            <a:off x="4370832" y="2231136"/>
            <a:ext cx="3328415" cy="608075"/>
          </a:xfrm>
          <a:prstGeom prst="rect">
            <a:avLst/>
          </a:prstGeom>
          <a:noFill/>
        </p:spPr>
        <p:txBody>
          <a:bodyPr wrap="square">
            <a:spAutoFit/>
          </a:bodyPr>
          <a:lstStyle/>
          <a:p>
            <a:pPr algn="ctr">
              <a:defRPr sz="1000" b="0" i="0">
                <a:solidFill>
                  <a:srgbClr val="C8D2E6"/>
                </a:solidFill>
              </a:defRPr>
            </a:pPr>
            <a:r>
              <a:t>EMPLOYEES</a:t>
            </a:r>
          </a:p>
        </p:txBody>
      </p:sp>
      <p:sp>
        <p:nvSpPr>
          <p:cNvPr id="13" name="Rectangle 12"/>
          <p:cNvSpPr/>
          <p:nvPr/>
        </p:nvSpPr>
        <p:spPr>
          <a:xfrm>
            <a:off x="8138160" y="1188720"/>
            <a:ext cx="3474720" cy="173736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188720"/>
            <a:ext cx="3474720" cy="54864"/>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325880"/>
            <a:ext cx="3291839" cy="903427"/>
          </a:xfrm>
          <a:prstGeom prst="rect">
            <a:avLst/>
          </a:prstGeom>
          <a:noFill/>
        </p:spPr>
        <p:txBody>
          <a:bodyPr wrap="square">
            <a:spAutoFit/>
          </a:bodyPr>
          <a:lstStyle/>
          <a:p>
            <a:pPr algn="ctr">
              <a:defRPr sz="2200" b="1" i="0">
                <a:solidFill>
                  <a:srgbClr val="FFFFFF"/>
                </a:solidFill>
              </a:defRPr>
            </a:pPr>
            <a:r>
              <a:t>LinkedIn</a:t>
            </a:r>
          </a:p>
        </p:txBody>
      </p:sp>
      <p:sp>
        <p:nvSpPr>
          <p:cNvPr id="16" name="TextBox 15"/>
          <p:cNvSpPr txBox="1"/>
          <p:nvPr/>
        </p:nvSpPr>
        <p:spPr>
          <a:xfrm>
            <a:off x="8211312" y="2231136"/>
            <a:ext cx="3328415" cy="608075"/>
          </a:xfrm>
          <a:prstGeom prst="rect">
            <a:avLst/>
          </a:prstGeom>
          <a:noFill/>
        </p:spPr>
        <p:txBody>
          <a:bodyPr wrap="square">
            <a:spAutoFit/>
          </a:bodyPr>
          <a:lstStyle/>
          <a:p>
            <a:pPr algn="ctr">
              <a:defRPr sz="1000" b="0" i="0">
                <a:solidFill>
                  <a:srgbClr val="C8D2E6"/>
                </a:solidFill>
              </a:defRPr>
            </a:pPr>
            <a:r>
              <a:t>PLATFORM</a:t>
            </a:r>
          </a:p>
        </p:txBody>
      </p:sp>
      <p:sp>
        <p:nvSpPr>
          <p:cNvPr id="17" name="Rectangle 16"/>
          <p:cNvSpPr/>
          <p:nvPr/>
        </p:nvSpPr>
        <p:spPr>
          <a:xfrm>
            <a:off x="457200" y="3749039"/>
            <a:ext cx="3474720" cy="1737360"/>
          </a:xfrm>
          <a:prstGeom prst="rect">
            <a:avLst/>
          </a:prstGeom>
          <a:solidFill>
            <a:srgbClr val="0E1E3A"/>
          </a:solidFill>
          <a:ln w="12700">
            <a:solidFill>
              <a:srgbClr val="C8D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749039"/>
            <a:ext cx="3474720" cy="54864"/>
          </a:xfrm>
          <a:prstGeom prst="rect">
            <a:avLst/>
          </a:prstGeom>
          <a:solidFill>
            <a:srgbClr val="C8D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886200"/>
            <a:ext cx="3291839" cy="903427"/>
          </a:xfrm>
          <a:prstGeom prst="rect">
            <a:avLst/>
          </a:prstGeom>
          <a:noFill/>
        </p:spPr>
        <p:txBody>
          <a:bodyPr wrap="square">
            <a:spAutoFit/>
          </a:bodyPr>
          <a:lstStyle/>
          <a:p>
            <a:pPr algn="ctr">
              <a:defRPr sz="2200" b="1" i="0">
                <a:solidFill>
                  <a:srgbClr val="FFFFFF"/>
                </a:solidFill>
              </a:defRPr>
            </a:pPr>
            <a:r>
              <a:t>Google Search</a:t>
            </a:r>
          </a:p>
        </p:txBody>
      </p:sp>
      <p:sp>
        <p:nvSpPr>
          <p:cNvPr id="20" name="TextBox 19"/>
          <p:cNvSpPr txBox="1"/>
          <p:nvPr/>
        </p:nvSpPr>
        <p:spPr>
          <a:xfrm>
            <a:off x="530352" y="4791455"/>
            <a:ext cx="3328415" cy="608075"/>
          </a:xfrm>
          <a:prstGeom prst="rect">
            <a:avLst/>
          </a:prstGeom>
          <a:noFill/>
        </p:spPr>
        <p:txBody>
          <a:bodyPr wrap="square">
            <a:spAutoFit/>
          </a:bodyPr>
          <a:lstStyle/>
          <a:p>
            <a:pPr algn="ctr">
              <a:defRPr sz="1000" b="0" i="0">
                <a:solidFill>
                  <a:srgbClr val="C8D2E6"/>
                </a:solidFill>
              </a:defRPr>
            </a:pPr>
            <a:r>
              <a:t>DATA SOURCE</a:t>
            </a:r>
          </a:p>
        </p:txBody>
      </p:sp>
      <p:sp>
        <p:nvSpPr>
          <p:cNvPr id="21" name="Rectangle 20"/>
          <p:cNvSpPr/>
          <p:nvPr/>
        </p:nvSpPr>
        <p:spPr>
          <a:xfrm>
            <a:off x="457200" y="3657600"/>
            <a:ext cx="11247120" cy="192024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749039"/>
            <a:ext cx="4572000" cy="320040"/>
          </a:xfrm>
          <a:prstGeom prst="rect">
            <a:avLst/>
          </a:prstGeom>
          <a:noFill/>
        </p:spPr>
        <p:txBody>
          <a:bodyPr wrap="square">
            <a:spAutoFit/>
          </a:bodyPr>
          <a:lstStyle/>
          <a:p>
            <a:pPr algn="l">
              <a:defRPr sz="1100" b="1" i="0">
                <a:solidFill>
                  <a:srgbClr val="16A085"/>
                </a:solidFill>
              </a:defRPr>
            </a:pPr>
            <a:r>
              <a:t>COMPANY SUMMARY</a:t>
            </a:r>
          </a:p>
        </p:txBody>
      </p:sp>
      <p:sp>
        <p:nvSpPr>
          <p:cNvPr id="23" name="TextBox 22"/>
          <p:cNvSpPr txBox="1"/>
          <p:nvPr/>
        </p:nvSpPr>
        <p:spPr>
          <a:xfrm>
            <a:off x="685800" y="4114800"/>
            <a:ext cx="10789920" cy="1280160"/>
          </a:xfrm>
          <a:prstGeom prst="rect">
            <a:avLst/>
          </a:prstGeom>
          <a:noFill/>
        </p:spPr>
        <p:txBody>
          <a:bodyPr wrap="square">
            <a:spAutoFit/>
          </a:bodyPr>
          <a:lstStyle/>
          <a:p>
            <a:pPr algn="l">
              <a:defRPr sz="1300" b="0" i="0">
                <a:solidFill>
                  <a:srgbClr val="FFFFFF"/>
                </a:solidFill>
              </a:defRPr>
            </a:pPr>
            <a:r>
              <a:t>Sportico Resorts is positioned on LinkedIn as a 28-acre corporate retreat destination in Bangalore, targeting B2B clients for corporate events and team outings.</a:t>
            </a:r>
          </a:p>
        </p:txBody>
      </p:sp>
      <p:sp>
        <p:nvSpPr>
          <p:cNvPr id="24" name="Rectangle 23"/>
          <p:cNvSpPr/>
          <p:nvPr/>
        </p:nvSpPr>
        <p:spPr>
          <a:xfrm>
            <a:off x="457200" y="5760720"/>
            <a:ext cx="5486400" cy="82296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5852159"/>
            <a:ext cx="5212080" cy="320040"/>
          </a:xfrm>
          <a:prstGeom prst="rect">
            <a:avLst/>
          </a:prstGeom>
          <a:noFill/>
        </p:spPr>
        <p:txBody>
          <a:bodyPr wrap="square">
            <a:spAutoFit/>
          </a:bodyPr>
          <a:lstStyle/>
          <a:p>
            <a:pPr algn="l">
              <a:defRPr sz="1200" b="1" i="0">
                <a:solidFill>
                  <a:srgbClr val="16A085"/>
                </a:solidFill>
              </a:defRPr>
            </a:pPr>
            <a:r>
              <a:t>💡 Strength</a:t>
            </a:r>
          </a:p>
        </p:txBody>
      </p:sp>
      <p:sp>
        <p:nvSpPr>
          <p:cNvPr id="26" name="TextBox 25"/>
          <p:cNvSpPr txBox="1"/>
          <p:nvPr/>
        </p:nvSpPr>
        <p:spPr>
          <a:xfrm>
            <a:off x="594360" y="6172200"/>
            <a:ext cx="5212080" cy="320040"/>
          </a:xfrm>
          <a:prstGeom prst="rect">
            <a:avLst/>
          </a:prstGeom>
          <a:noFill/>
        </p:spPr>
        <p:txBody>
          <a:bodyPr wrap="square">
            <a:spAutoFit/>
          </a:bodyPr>
          <a:lstStyle/>
          <a:p>
            <a:pPr algn="l">
              <a:defRPr sz="1100" b="0" i="0">
                <a:solidFill>
                  <a:srgbClr val="FFFFFF"/>
                </a:solidFill>
              </a:defRPr>
            </a:pPr>
            <a:r>
              <a:t>The LinkedIn presence targets a high-value B2B audience of corporate decision-makers, aligning well with their corporate retreat and venue offering.</a:t>
            </a:r>
          </a:p>
        </p:txBody>
      </p:sp>
      <p:sp>
        <p:nvSpPr>
          <p:cNvPr id="27" name="Rectangle 26"/>
          <p:cNvSpPr/>
          <p:nvPr/>
        </p:nvSpPr>
        <p:spPr>
          <a:xfrm>
            <a:off x="6263640" y="5760720"/>
            <a:ext cx="5394960" cy="82296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5852159"/>
            <a:ext cx="5120640" cy="320040"/>
          </a:xfrm>
          <a:prstGeom prst="rect">
            <a:avLst/>
          </a:prstGeom>
          <a:noFill/>
        </p:spPr>
        <p:txBody>
          <a:bodyPr wrap="square">
            <a:spAutoFit/>
          </a:bodyPr>
          <a:lstStyle/>
          <a:p>
            <a:pPr algn="l">
              <a:defRPr sz="1200" b="1" i="0">
                <a:solidFill>
                  <a:srgbClr val="D4AF37"/>
                </a:solidFill>
              </a:defRPr>
            </a:pPr>
            <a:r>
              <a:t>🎯 Recommendation</a:t>
            </a:r>
          </a:p>
        </p:txBody>
      </p:sp>
      <p:sp>
        <p:nvSpPr>
          <p:cNvPr id="29" name="TextBox 28"/>
          <p:cNvSpPr txBox="1"/>
          <p:nvPr/>
        </p:nvSpPr>
        <p:spPr>
          <a:xfrm>
            <a:off x="6400800" y="6172200"/>
            <a:ext cx="5120640" cy="320040"/>
          </a:xfrm>
          <a:prstGeom prst="rect">
            <a:avLst/>
          </a:prstGeom>
          <a:noFill/>
        </p:spPr>
        <p:txBody>
          <a:bodyPr wrap="square">
            <a:spAutoFit/>
          </a:bodyPr>
          <a:lstStyle/>
          <a:p>
            <a:pPr algn="l">
              <a:defRPr sz="1100" b="0" i="0">
                <a:solidFill>
                  <a:srgbClr val="FFFFFF"/>
                </a:solidFill>
              </a:defRPr>
            </a:pPr>
            <a:r>
              <a:t>Actively build the LinkedIn page by posting corporate event case studies, team outing packages, and client testimonials to attract HR managers and event planners, while filling in employee count and company details to improve credibility.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LinkedIn Strategic Analysis</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Professional presence and B2B opportunities</a:t>
            </a:r>
          </a:p>
        </p:txBody>
      </p:sp>
      <p:graphicFrame>
        <p:nvGraphicFramePr>
          <p:cNvPr id="5" name="Table 4"/>
          <p:cNvGraphicFramePr>
            <a:graphicFrameLocks noGrp="1"/>
          </p:cNvGraphicFramePr>
          <p:nvPr/>
        </p:nvGraphicFramePr>
        <p:xfrm>
          <a:off x="457200" y="1188720"/>
          <a:ext cx="11247120" cy="3657600"/>
        </p:xfrm>
        <a:graphic>
          <a:graphicData uri="http://schemas.openxmlformats.org/drawingml/2006/table">
            <a:tbl>
              <a:tblPr firstRow="1" bandRow="1">
                <a:tableStyleId>{5C22544A-7EE6-4342-B048-85BDC9FD1C3A}</a:tableStyleId>
              </a:tblPr>
              <a:tblGrid>
                <a:gridCol w="3749040"/>
                <a:gridCol w="3749040"/>
                <a:gridCol w="3749040"/>
              </a:tblGrid>
              <a:tr h="609600">
                <a:tc>
                  <a:txBody>
                    <a:bodyPr/>
                    <a:lstStyle/>
                    <a:p>
                      <a:pPr algn="ctr">
                        <a:defRPr b="1" sz="1200">
                          <a:solidFill>
                            <a:srgbClr val="050C1A"/>
                          </a:solidFill>
                        </a:defRPr>
                      </a:pPr>
                      <a:r>
                        <a:t>Metric</a:t>
                      </a:r>
                    </a:p>
                  </a:txBody>
                  <a:tcPr>
                    <a:solidFill>
                      <a:srgbClr val="D4AF37"/>
                    </a:solidFill>
                  </a:tcPr>
                </a:tc>
                <a:tc>
                  <a:txBody>
                    <a:bodyPr/>
                    <a:lstStyle/>
                    <a:p>
                      <a:pPr algn="ctr">
                        <a:defRPr b="1" sz="1200">
                          <a:solidFill>
                            <a:srgbClr val="050C1A"/>
                          </a:solidFill>
                        </a:defRPr>
                      </a:pPr>
                      <a:r>
                        <a:t>Value</a:t>
                      </a:r>
                    </a:p>
                  </a:txBody>
                  <a:tcPr>
                    <a:solidFill>
                      <a:srgbClr val="D4AF37"/>
                    </a:solidFill>
                  </a:tcPr>
                </a:tc>
                <a:tc>
                  <a:txBody>
                    <a:bodyPr/>
                    <a:lstStyle/>
                    <a:p>
                      <a:pPr algn="ctr">
                        <a:defRPr b="1" sz="1200">
                          <a:solidFill>
                            <a:srgbClr val="050C1A"/>
                          </a:solidFill>
                        </a:defRPr>
                      </a:pPr>
                      <a:r>
                        <a:t>Insight</a:t>
                      </a:r>
                    </a:p>
                  </a:txBody>
                  <a:tcPr>
                    <a:solidFill>
                      <a:srgbClr val="D4AF37"/>
                    </a:solidFill>
                  </a:tcPr>
                </a:tc>
              </a:tr>
              <a:tr h="609600">
                <a:tc>
                  <a:txBody>
                    <a:bodyPr/>
                    <a:lstStyle/>
                    <a:p>
                      <a:pPr algn="ctr">
                        <a:defRPr sz="1100">
                          <a:solidFill>
                            <a:srgbClr val="FFFFFF"/>
                          </a:solidFill>
                        </a:defRPr>
                      </a:pPr>
                      <a:r>
                        <a:t>Followers</a:t>
                      </a:r>
                    </a:p>
                  </a:txBody>
                  <a:tcPr>
                    <a:solidFill>
                      <a:srgbClr val="0E1E3A"/>
                    </a:solidFill>
                  </a:tcPr>
                </a:tc>
                <a:tc>
                  <a:txBody>
                    <a:bodyPr/>
                    <a:lstStyle/>
                    <a:p>
                      <a:pPr algn="ctr">
                        <a:defRPr sz="1100">
                          <a:solidFill>
                            <a:srgbClr val="FFFFFF"/>
                          </a:solidFill>
                        </a:defRPr>
                      </a:pPr>
                      <a:r>
                        <a:t>N/A</a:t>
                      </a:r>
                    </a:p>
                  </a:txBody>
                  <a:tcPr>
                    <a:solidFill>
                      <a:srgbClr val="0E1E3A"/>
                    </a:solidFill>
                  </a:tcPr>
                </a:tc>
                <a:tc>
                  <a:txBody>
                    <a:bodyPr/>
                    <a:lstStyle/>
                    <a:p>
                      <a:pPr algn="ctr">
                        <a:defRPr sz="1100">
                          <a:solidFill>
                            <a:srgbClr val="FFFFFF"/>
                          </a:solidFill>
                        </a:defRPr>
                      </a:pPr>
                      <a:r>
                        <a:t>Professional audience size</a:t>
                      </a:r>
                    </a:p>
                  </a:txBody>
                  <a:tcPr>
                    <a:solidFill>
                      <a:srgbClr val="0E1E3A"/>
                    </a:solidFill>
                  </a:tcPr>
                </a:tc>
              </a:tr>
              <a:tr h="609600">
                <a:tc>
                  <a:txBody>
                    <a:bodyPr/>
                    <a:lstStyle/>
                    <a:p>
                      <a:pPr algn="ctr">
                        <a:defRPr sz="1100">
                          <a:solidFill>
                            <a:srgbClr val="FFFFFF"/>
                          </a:solidFill>
                        </a:defRPr>
                      </a:pPr>
                      <a:r>
                        <a:t>Employees</a:t>
                      </a:r>
                    </a:p>
                  </a:txBody>
                  <a:tcPr>
                    <a:solidFill>
                      <a:srgbClr val="050C1A"/>
                    </a:solidFill>
                  </a:tcPr>
                </a:tc>
                <a:tc>
                  <a:txBody>
                    <a:bodyPr/>
                    <a:lstStyle/>
                    <a:p>
                      <a:pPr algn="ctr">
                        <a:defRPr sz="1100">
                          <a:solidFill>
                            <a:srgbClr val="FFFFFF"/>
                          </a:solidFill>
                        </a:defRPr>
                      </a:pPr>
                      <a:r>
                        <a:t>N/A</a:t>
                      </a:r>
                    </a:p>
                  </a:txBody>
                  <a:tcPr>
                    <a:solidFill>
                      <a:srgbClr val="050C1A"/>
                    </a:solidFill>
                  </a:tcPr>
                </a:tc>
                <a:tc>
                  <a:txBody>
                    <a:bodyPr/>
                    <a:lstStyle/>
                    <a:p>
                      <a:pPr algn="ctr">
                        <a:defRPr sz="1100">
                          <a:solidFill>
                            <a:srgbClr val="FFFFFF"/>
                          </a:solidFill>
                        </a:defRPr>
                      </a:pPr>
                      <a:r>
                        <a:t>Company scale indicator</a:t>
                      </a:r>
                    </a:p>
                  </a:txBody>
                  <a:tcPr>
                    <a:solidFill>
                      <a:srgbClr val="050C1A"/>
                    </a:solidFill>
                  </a:tcPr>
                </a:tc>
              </a:tr>
              <a:tr h="609600">
                <a:tc>
                  <a:txBody>
                    <a:bodyPr/>
                    <a:lstStyle/>
                    <a:p>
                      <a:pPr algn="ctr">
                        <a:defRPr sz="1100">
                          <a:solidFill>
                            <a:srgbClr val="FFFFFF"/>
                          </a:solidFill>
                        </a:defRPr>
                      </a:pPr>
                      <a:r>
                        <a:t>Content Focus</a:t>
                      </a:r>
                    </a:p>
                  </a:txBody>
                  <a:tcPr>
                    <a:solidFill>
                      <a:srgbClr val="0E1E3A"/>
                    </a:solidFill>
                  </a:tcPr>
                </a:tc>
                <a:tc>
                  <a:txBody>
                    <a:bodyPr/>
                    <a:lstStyle/>
                    <a:p>
                      <a:pPr algn="ctr">
                        <a:defRPr sz="1100">
                          <a:solidFill>
                            <a:srgbClr val="FFFFFF"/>
                          </a:solidFill>
                        </a:defRPr>
                      </a:pPr>
                      <a:r>
                        <a:t>B2B &amp; Professional</a:t>
                      </a:r>
                    </a:p>
                  </a:txBody>
                  <a:tcPr>
                    <a:solidFill>
                      <a:srgbClr val="0E1E3A"/>
                    </a:solidFill>
                  </a:tcPr>
                </a:tc>
                <a:tc>
                  <a:txBody>
                    <a:bodyPr/>
                    <a:lstStyle/>
                    <a:p>
                      <a:pPr algn="ctr">
                        <a:defRPr sz="1100">
                          <a:solidFill>
                            <a:srgbClr val="FFFFFF"/>
                          </a:solidFill>
                        </a:defRPr>
                      </a:pPr>
                      <a:r>
                        <a:t>Key content strategy</a:t>
                      </a:r>
                    </a:p>
                  </a:txBody>
                  <a:tcPr>
                    <a:solidFill>
                      <a:srgbClr val="0E1E3A"/>
                    </a:solidFill>
                  </a:tcPr>
                </a:tc>
              </a:tr>
              <a:tr h="609600">
                <a:tc>
                  <a:txBody>
                    <a:bodyPr/>
                    <a:lstStyle/>
                    <a:p>
                      <a:pPr algn="ctr">
                        <a:defRPr sz="1100">
                          <a:solidFill>
                            <a:srgbClr val="FFFFFF"/>
                          </a:solidFill>
                        </a:defRPr>
                      </a:pPr>
                      <a:r>
                        <a:t>Best Post Type</a:t>
                      </a:r>
                    </a:p>
                  </a:txBody>
                  <a:tcPr>
                    <a:solidFill>
                      <a:srgbClr val="050C1A"/>
                    </a:solidFill>
                  </a:tcPr>
                </a:tc>
                <a:tc>
                  <a:txBody>
                    <a:bodyPr/>
                    <a:lstStyle/>
                    <a:p>
                      <a:pPr algn="ctr">
                        <a:defRPr sz="1100">
                          <a:solidFill>
                            <a:srgbClr val="FFFFFF"/>
                          </a:solidFill>
                        </a:defRPr>
                      </a:pPr>
                      <a:r>
                        <a:t>Articles &amp; Updates</a:t>
                      </a:r>
                    </a:p>
                  </a:txBody>
                  <a:tcPr>
                    <a:solidFill>
                      <a:srgbClr val="050C1A"/>
                    </a:solidFill>
                  </a:tcPr>
                </a:tc>
                <a:tc>
                  <a:txBody>
                    <a:bodyPr/>
                    <a:lstStyle/>
                    <a:p>
                      <a:pPr algn="ctr">
                        <a:defRPr sz="1100">
                          <a:solidFill>
                            <a:srgbClr val="FFFFFF"/>
                          </a:solidFill>
                        </a:defRPr>
                      </a:pPr>
                      <a:r>
                        <a:t>Highest LinkedIn engagement</a:t>
                      </a:r>
                    </a:p>
                  </a:txBody>
                  <a:tcPr>
                    <a:solidFill>
                      <a:srgbClr val="050C1A"/>
                    </a:solidFill>
                  </a:tcPr>
                </a:tc>
              </a:tr>
              <a:tr h="609600">
                <a:tc>
                  <a:txBody>
                    <a:bodyPr/>
                    <a:lstStyle/>
                    <a:p>
                      <a:pPr algn="ctr">
                        <a:defRPr sz="1100">
                          <a:solidFill>
                            <a:srgbClr val="FFFFFF"/>
                          </a:solidFill>
                        </a:defRPr>
                      </a:pPr>
                      <a:r>
                        <a:t>Posting Freq.</a:t>
                      </a:r>
                    </a:p>
                  </a:txBody>
                  <a:tcPr>
                    <a:solidFill>
                      <a:srgbClr val="0E1E3A"/>
                    </a:solidFill>
                  </a:tcPr>
                </a:tc>
                <a:tc>
                  <a:txBody>
                    <a:bodyPr/>
                    <a:lstStyle/>
                    <a:p>
                      <a:pPr algn="ctr">
                        <a:defRPr sz="1100">
                          <a:solidFill>
                            <a:srgbClr val="FFFFFF"/>
                          </a:solidFill>
                        </a:defRPr>
                      </a:pPr>
                      <a:r>
                        <a:t>2-3x per week</a:t>
                      </a:r>
                    </a:p>
                  </a:txBody>
                  <a:tcPr>
                    <a:solidFill>
                      <a:srgbClr val="0E1E3A"/>
                    </a:solidFill>
                  </a:tcPr>
                </a:tc>
                <a:tc>
                  <a:txBody>
                    <a:bodyPr/>
                    <a:lstStyle/>
                    <a:p>
                      <a:pPr algn="ctr">
                        <a:defRPr sz="1100">
                          <a:solidFill>
                            <a:srgbClr val="FFFFFF"/>
                          </a:solidFill>
                        </a:defRPr>
                      </a:pPr>
                      <a:r>
                        <a:t>LinkedIn best practice</a:t>
                      </a:r>
                    </a:p>
                  </a:txBody>
                  <a:tcPr>
                    <a:solidFill>
                      <a:srgbClr val="0E1E3A"/>
                    </a:solidFill>
                  </a:tcPr>
                </a:tc>
              </a:tr>
            </a:tbl>
          </a:graphicData>
        </a:graphic>
      </p:graphicFrame>
      <p:sp>
        <p:nvSpPr>
          <p:cNvPr id="6" name="Rectangle 5"/>
          <p:cNvSpPr/>
          <p:nvPr/>
        </p:nvSpPr>
        <p:spPr>
          <a:xfrm>
            <a:off x="457200" y="5074920"/>
            <a:ext cx="5486400" cy="150876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5166359"/>
            <a:ext cx="5212080" cy="320040"/>
          </a:xfrm>
          <a:prstGeom prst="rect">
            <a:avLst/>
          </a:prstGeom>
          <a:noFill/>
        </p:spPr>
        <p:txBody>
          <a:bodyPr wrap="square">
            <a:spAutoFit/>
          </a:bodyPr>
          <a:lstStyle/>
          <a:p>
            <a:pPr algn="l">
              <a:defRPr sz="1200" b="1" i="0">
                <a:solidFill>
                  <a:srgbClr val="16A085"/>
                </a:solidFill>
              </a:defRPr>
            </a:pPr>
            <a:r>
              <a:t>💡 Strength</a:t>
            </a:r>
          </a:p>
        </p:txBody>
      </p:sp>
      <p:sp>
        <p:nvSpPr>
          <p:cNvPr id="8" name="TextBox 7"/>
          <p:cNvSpPr txBox="1"/>
          <p:nvPr/>
        </p:nvSpPr>
        <p:spPr>
          <a:xfrm>
            <a:off x="594360" y="5486400"/>
            <a:ext cx="5212080" cy="1005839"/>
          </a:xfrm>
          <a:prstGeom prst="rect">
            <a:avLst/>
          </a:prstGeom>
          <a:noFill/>
        </p:spPr>
        <p:txBody>
          <a:bodyPr wrap="square">
            <a:spAutoFit/>
          </a:bodyPr>
          <a:lstStyle/>
          <a:p>
            <a:pPr algn="l">
              <a:defRPr sz="1100" b="0" i="0">
                <a:solidFill>
                  <a:srgbClr val="FFFFFF"/>
                </a:solidFill>
              </a:defRPr>
            </a:pPr>
            <a:r>
              <a:t>The LinkedIn presence targets a high-value B2B audience of corporate decision-makers, aligning well with their corporate retreat and venue offering.</a:t>
            </a:r>
          </a:p>
        </p:txBody>
      </p:sp>
      <p:sp>
        <p:nvSpPr>
          <p:cNvPr id="9" name="Rectangle 8"/>
          <p:cNvSpPr/>
          <p:nvPr/>
        </p:nvSpPr>
        <p:spPr>
          <a:xfrm>
            <a:off x="6263640" y="5074920"/>
            <a:ext cx="5394960" cy="150876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5166359"/>
            <a:ext cx="5120640" cy="320040"/>
          </a:xfrm>
          <a:prstGeom prst="rect">
            <a:avLst/>
          </a:prstGeom>
          <a:noFill/>
        </p:spPr>
        <p:txBody>
          <a:bodyPr wrap="square">
            <a:spAutoFit/>
          </a:bodyPr>
          <a:lstStyle/>
          <a:p>
            <a:pPr algn="l">
              <a:defRPr sz="1200" b="1" i="0">
                <a:solidFill>
                  <a:srgbClr val="D4AF37"/>
                </a:solidFill>
              </a:defRPr>
            </a:pPr>
            <a:r>
              <a:t>🎯 Recommendation</a:t>
            </a:r>
          </a:p>
        </p:txBody>
      </p:sp>
      <p:sp>
        <p:nvSpPr>
          <p:cNvPr id="11" name="TextBox 10"/>
          <p:cNvSpPr txBox="1"/>
          <p:nvPr/>
        </p:nvSpPr>
        <p:spPr>
          <a:xfrm>
            <a:off x="6400800" y="5486400"/>
            <a:ext cx="5120640" cy="1005839"/>
          </a:xfrm>
          <a:prstGeom prst="rect">
            <a:avLst/>
          </a:prstGeom>
          <a:noFill/>
        </p:spPr>
        <p:txBody>
          <a:bodyPr wrap="square">
            <a:spAutoFit/>
          </a:bodyPr>
          <a:lstStyle/>
          <a:p>
            <a:pPr algn="l">
              <a:defRPr sz="1100" b="0" i="0">
                <a:solidFill>
                  <a:srgbClr val="FFFFFF"/>
                </a:solidFill>
              </a:defRPr>
            </a:pPr>
            <a:r>
              <a:t>Actively build the LinkedIn page by posting corporate event case studies, team outing packages, and client testimonials to attract HR managers and event planners, while filling in employee count and company details to improve credibility.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Cross-Platform Follower Comparison</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Audience size across all platforms</a:t>
            </a:r>
          </a:p>
        </p:txBody>
      </p:sp>
      <p:graphicFrame>
        <p:nvGraphicFramePr>
          <p:cNvPr id="5" name="Chart 4"/>
          <p:cNvGraphicFramePr>
            <a:graphicFrameLocks noGrp="1"/>
          </p:cNvGraphicFramePr>
          <p:nvPr/>
        </p:nvGraphicFramePr>
        <p:xfrm>
          <a:off x="457200" y="1188720"/>
          <a:ext cx="7315200" cy="5029200"/>
        </p:xfrm>
        <a:graphic>
          <a:graphicData uri="http://schemas.openxmlformats.org/drawingml/2006/chart">
            <c:chart xmlns:c="http://schemas.openxmlformats.org/drawingml/2006/chart" r:id="rId2"/>
          </a:graphicData>
        </a:graphic>
      </p:graphicFrame>
      <p:sp>
        <p:nvSpPr>
          <p:cNvPr id="6" name="Rectangle 5"/>
          <p:cNvSpPr/>
          <p:nvPr/>
        </p:nvSpPr>
        <p:spPr>
          <a:xfrm>
            <a:off x="8092440" y="1188720"/>
            <a:ext cx="3657600" cy="1188720"/>
          </a:xfrm>
          <a:prstGeom prst="rect">
            <a:avLst/>
          </a:prstGeom>
          <a:solidFill>
            <a:srgbClr val="0E1E3A"/>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92440" y="1188720"/>
            <a:ext cx="365760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83879" y="1325880"/>
            <a:ext cx="3474720" cy="618134"/>
          </a:xfrm>
          <a:prstGeom prst="rect">
            <a:avLst/>
          </a:prstGeom>
          <a:noFill/>
        </p:spPr>
        <p:txBody>
          <a:bodyPr wrap="square">
            <a:spAutoFit/>
          </a:bodyPr>
          <a:lstStyle/>
          <a:p>
            <a:pPr algn="ctr">
              <a:defRPr sz="2200" b="1" i="0">
                <a:solidFill>
                  <a:srgbClr val="FFFFFF"/>
                </a:solidFill>
              </a:defRPr>
            </a:pPr>
            <a:r>
              <a:t>12646</a:t>
            </a:r>
          </a:p>
        </p:txBody>
      </p:sp>
      <p:sp>
        <p:nvSpPr>
          <p:cNvPr id="9" name="TextBox 8"/>
          <p:cNvSpPr txBox="1"/>
          <p:nvPr/>
        </p:nvSpPr>
        <p:spPr>
          <a:xfrm>
            <a:off x="8165592" y="1901952"/>
            <a:ext cx="3511296" cy="416051"/>
          </a:xfrm>
          <a:prstGeom prst="rect">
            <a:avLst/>
          </a:prstGeom>
          <a:noFill/>
        </p:spPr>
        <p:txBody>
          <a:bodyPr wrap="square">
            <a:spAutoFit/>
          </a:bodyPr>
          <a:lstStyle/>
          <a:p>
            <a:pPr algn="ctr">
              <a:defRPr sz="1000" b="0" i="0">
                <a:solidFill>
                  <a:srgbClr val="C8D2E6"/>
                </a:solidFill>
              </a:defRPr>
            </a:pPr>
            <a:r>
              <a:t>INSTAGRAM</a:t>
            </a:r>
          </a:p>
        </p:txBody>
      </p:sp>
      <p:sp>
        <p:nvSpPr>
          <p:cNvPr id="10" name="Rectangle 9"/>
          <p:cNvSpPr/>
          <p:nvPr/>
        </p:nvSpPr>
        <p:spPr>
          <a:xfrm>
            <a:off x="8092440" y="2606040"/>
            <a:ext cx="3657600" cy="1188720"/>
          </a:xfrm>
          <a:prstGeom prst="rect">
            <a:avLst/>
          </a:prstGeom>
          <a:solidFill>
            <a:srgbClr val="0E1E3A"/>
          </a:solidFill>
          <a:ln w="12700">
            <a:solidFill>
              <a:srgbClr val="1A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92440" y="2606040"/>
            <a:ext cx="3657600" cy="54864"/>
          </a:xfrm>
          <a:prstGeom prst="rect">
            <a:avLst/>
          </a:prstGeom>
          <a:solidFill>
            <a:srgbClr val="1A5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79" y="2743200"/>
            <a:ext cx="3474720" cy="618134"/>
          </a:xfrm>
          <a:prstGeom prst="rect">
            <a:avLst/>
          </a:prstGeom>
          <a:noFill/>
        </p:spPr>
        <p:txBody>
          <a:bodyPr wrap="square">
            <a:spAutoFit/>
          </a:bodyPr>
          <a:lstStyle/>
          <a:p>
            <a:pPr algn="ctr">
              <a:defRPr sz="2200" b="1" i="0">
                <a:solidFill>
                  <a:srgbClr val="FFFFFF"/>
                </a:solidFill>
              </a:defRPr>
            </a:pPr>
            <a:r>
              <a:t>830</a:t>
            </a:r>
          </a:p>
        </p:txBody>
      </p:sp>
      <p:sp>
        <p:nvSpPr>
          <p:cNvPr id="13" name="TextBox 12"/>
          <p:cNvSpPr txBox="1"/>
          <p:nvPr/>
        </p:nvSpPr>
        <p:spPr>
          <a:xfrm>
            <a:off x="8165592" y="3319272"/>
            <a:ext cx="3511296" cy="416051"/>
          </a:xfrm>
          <a:prstGeom prst="rect">
            <a:avLst/>
          </a:prstGeom>
          <a:noFill/>
        </p:spPr>
        <p:txBody>
          <a:bodyPr wrap="square">
            <a:spAutoFit/>
          </a:bodyPr>
          <a:lstStyle/>
          <a:p>
            <a:pPr algn="ctr">
              <a:defRPr sz="1000" b="0" i="0">
                <a:solidFill>
                  <a:srgbClr val="C8D2E6"/>
                </a:solidFill>
              </a:defRPr>
            </a:pPr>
            <a:r>
              <a:t>FACEBOOK</a:t>
            </a:r>
          </a:p>
        </p:txBody>
      </p:sp>
      <p:sp>
        <p:nvSpPr>
          <p:cNvPr id="14" name="Rectangle 13"/>
          <p:cNvSpPr/>
          <p:nvPr/>
        </p:nvSpPr>
        <p:spPr>
          <a:xfrm>
            <a:off x="8092440" y="4023360"/>
            <a:ext cx="3657600" cy="1188720"/>
          </a:xfrm>
          <a:prstGeom prst="rect">
            <a:avLst/>
          </a:prstGeom>
          <a:solidFill>
            <a:srgbClr val="0E1E3A"/>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2440" y="4023360"/>
            <a:ext cx="3657600" cy="54864"/>
          </a:xfrm>
          <a:prstGeom prst="rect">
            <a:avLst/>
          </a:prstGeom>
          <a:solidFill>
            <a:srgbClr val="F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79" y="4160520"/>
            <a:ext cx="3474720" cy="618134"/>
          </a:xfrm>
          <a:prstGeom prst="rect">
            <a:avLst/>
          </a:prstGeom>
          <a:noFill/>
        </p:spPr>
        <p:txBody>
          <a:bodyPr wrap="square">
            <a:spAutoFit/>
          </a:bodyPr>
          <a:lstStyle/>
          <a:p>
            <a:pPr algn="ctr">
              <a:defRPr sz="2200" b="1" i="0">
                <a:solidFill>
                  <a:srgbClr val="FFFFFF"/>
                </a:solidFill>
              </a:defRPr>
            </a:pPr>
            <a:r>
              <a:t>275</a:t>
            </a:r>
          </a:p>
        </p:txBody>
      </p:sp>
      <p:sp>
        <p:nvSpPr>
          <p:cNvPr id="17" name="TextBox 16"/>
          <p:cNvSpPr txBox="1"/>
          <p:nvPr/>
        </p:nvSpPr>
        <p:spPr>
          <a:xfrm>
            <a:off x="8165592" y="4736592"/>
            <a:ext cx="3511296" cy="416051"/>
          </a:xfrm>
          <a:prstGeom prst="rect">
            <a:avLst/>
          </a:prstGeom>
          <a:noFill/>
        </p:spPr>
        <p:txBody>
          <a:bodyPr wrap="square">
            <a:spAutoFit/>
          </a:bodyPr>
          <a:lstStyle/>
          <a:p>
            <a:pPr algn="ctr">
              <a:defRPr sz="1000" b="0" i="0">
                <a:solidFill>
                  <a:srgbClr val="C8D2E6"/>
                </a:solidFill>
              </a:defRPr>
            </a:pPr>
            <a:r>
              <a:t>YOUTUBE</a:t>
            </a:r>
          </a:p>
        </p:txBody>
      </p:sp>
      <p:sp>
        <p:nvSpPr>
          <p:cNvPr id="18" name="Rectangle 17"/>
          <p:cNvSpPr/>
          <p:nvPr/>
        </p:nvSpPr>
        <p:spPr>
          <a:xfrm>
            <a:off x="8092440" y="5440680"/>
            <a:ext cx="3657600" cy="118872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2440" y="5440680"/>
            <a:ext cx="3657600" cy="54864"/>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3879" y="5577840"/>
            <a:ext cx="3474720" cy="618134"/>
          </a:xfrm>
          <a:prstGeom prst="rect">
            <a:avLst/>
          </a:prstGeom>
          <a:noFill/>
        </p:spPr>
        <p:txBody>
          <a:bodyPr wrap="square">
            <a:spAutoFit/>
          </a:bodyPr>
          <a:lstStyle/>
          <a:p>
            <a:pPr algn="ctr">
              <a:defRPr sz="2200" b="1" i="0">
                <a:solidFill>
                  <a:srgbClr val="FFFFFF"/>
                </a:solidFill>
              </a:defRPr>
            </a:pPr>
            <a:r>
              <a:t>N/A</a:t>
            </a:r>
          </a:p>
        </p:txBody>
      </p:sp>
      <p:sp>
        <p:nvSpPr>
          <p:cNvPr id="21" name="TextBox 20"/>
          <p:cNvSpPr txBox="1"/>
          <p:nvPr/>
        </p:nvSpPr>
        <p:spPr>
          <a:xfrm>
            <a:off x="8165592" y="6153912"/>
            <a:ext cx="3511296" cy="416051"/>
          </a:xfrm>
          <a:prstGeom prst="rect">
            <a:avLst/>
          </a:prstGeom>
          <a:noFill/>
        </p:spPr>
        <p:txBody>
          <a:bodyPr wrap="square">
            <a:spAutoFit/>
          </a:bodyPr>
          <a:lstStyle/>
          <a:p>
            <a:pPr algn="ctr">
              <a:defRPr sz="1000" b="0" i="0">
                <a:solidFill>
                  <a:srgbClr val="C8D2E6"/>
                </a:solidFill>
              </a:defRPr>
            </a:pPr>
            <a:r>
              <a:t>LINKEDIN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Engagement Benchmarks</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Performance metrics compared to industry standards</a:t>
            </a:r>
          </a:p>
        </p:txBody>
      </p:sp>
      <p:graphicFrame>
        <p:nvGraphicFramePr>
          <p:cNvPr id="5" name="Table 4"/>
          <p:cNvGraphicFramePr>
            <a:graphicFrameLocks noGrp="1"/>
          </p:cNvGraphicFramePr>
          <p:nvPr/>
        </p:nvGraphicFramePr>
        <p:xfrm>
          <a:off x="457200" y="1188720"/>
          <a:ext cx="11247120" cy="5303520"/>
        </p:xfrm>
        <a:graphic>
          <a:graphicData uri="http://schemas.openxmlformats.org/drawingml/2006/table">
            <a:tbl>
              <a:tblPr firstRow="1" bandRow="1">
                <a:tableStyleId>{5C22544A-7EE6-4342-B048-85BDC9FD1C3A}</a:tableStyleId>
              </a:tblPr>
              <a:tblGrid>
                <a:gridCol w="2249424"/>
                <a:gridCol w="2249424"/>
                <a:gridCol w="2249424"/>
                <a:gridCol w="2249424"/>
                <a:gridCol w="2249424"/>
              </a:tblGrid>
              <a:tr h="589280">
                <a:tc>
                  <a:txBody>
                    <a:bodyPr/>
                    <a:lstStyle/>
                    <a:p>
                      <a:pPr algn="ctr">
                        <a:defRPr b="1" sz="1200">
                          <a:solidFill>
                            <a:srgbClr val="050C1A"/>
                          </a:solidFill>
                        </a:defRPr>
                      </a:pPr>
                      <a:r>
                        <a:t>Platform</a:t>
                      </a:r>
                    </a:p>
                  </a:txBody>
                  <a:tcPr>
                    <a:solidFill>
                      <a:srgbClr val="D4AF37"/>
                    </a:solidFill>
                  </a:tcPr>
                </a:tc>
                <a:tc>
                  <a:txBody>
                    <a:bodyPr/>
                    <a:lstStyle/>
                    <a:p>
                      <a:pPr algn="ctr">
                        <a:defRPr b="1" sz="1200">
                          <a:solidFill>
                            <a:srgbClr val="050C1A"/>
                          </a:solidFill>
                        </a:defRPr>
                      </a:pPr>
                      <a:r>
                        <a:t>Key Metric</a:t>
                      </a:r>
                    </a:p>
                  </a:txBody>
                  <a:tcPr>
                    <a:solidFill>
                      <a:srgbClr val="D4AF37"/>
                    </a:solidFill>
                  </a:tcPr>
                </a:tc>
                <a:tc>
                  <a:txBody>
                    <a:bodyPr/>
                    <a:lstStyle/>
                    <a:p>
                      <a:pPr algn="ctr">
                        <a:defRPr b="1" sz="1200">
                          <a:solidFill>
                            <a:srgbClr val="050C1A"/>
                          </a:solidFill>
                        </a:defRPr>
                      </a:pPr>
                      <a:r>
                        <a:t>Value</a:t>
                      </a:r>
                    </a:p>
                  </a:txBody>
                  <a:tcPr>
                    <a:solidFill>
                      <a:srgbClr val="D4AF37"/>
                    </a:solidFill>
                  </a:tcPr>
                </a:tc>
                <a:tc>
                  <a:txBody>
                    <a:bodyPr/>
                    <a:lstStyle/>
                    <a:p>
                      <a:pPr algn="ctr">
                        <a:defRPr b="1" sz="1200">
                          <a:solidFill>
                            <a:srgbClr val="050C1A"/>
                          </a:solidFill>
                        </a:defRPr>
                      </a:pPr>
                      <a:r>
                        <a:t>Benchmark</a:t>
                      </a:r>
                    </a:p>
                  </a:txBody>
                  <a:tcPr>
                    <a:solidFill>
                      <a:srgbClr val="D4AF37"/>
                    </a:solidFill>
                  </a:tcPr>
                </a:tc>
                <a:tc>
                  <a:txBody>
                    <a:bodyPr/>
                    <a:lstStyle/>
                    <a:p>
                      <a:pPr algn="ctr">
                        <a:defRPr b="1" sz="1200">
                          <a:solidFill>
                            <a:srgbClr val="050C1A"/>
                          </a:solidFill>
                        </a:defRPr>
                      </a:pPr>
                      <a:r>
                        <a:t>Status</a:t>
                      </a:r>
                    </a:p>
                  </a:txBody>
                  <a:tcPr>
                    <a:solidFill>
                      <a:srgbClr val="D4AF37"/>
                    </a:solidFill>
                  </a:tcPr>
                </a:tc>
              </a:tr>
              <a:tr h="589280">
                <a:tc>
                  <a:txBody>
                    <a:bodyPr/>
                    <a:lstStyle/>
                    <a:p>
                      <a:pPr algn="ctr">
                        <a:defRPr sz="1100">
                          <a:solidFill>
                            <a:srgbClr val="FFFFFF"/>
                          </a:solidFill>
                        </a:defRPr>
                      </a:pPr>
                      <a:r>
                        <a:t>📸 Instagram</a:t>
                      </a:r>
                    </a:p>
                  </a:txBody>
                  <a:tcPr>
                    <a:solidFill>
                      <a:srgbClr val="0E1E3A"/>
                    </a:solidFill>
                  </a:tcPr>
                </a:tc>
                <a:tc>
                  <a:txBody>
                    <a:bodyPr/>
                    <a:lstStyle/>
                    <a:p>
                      <a:pPr algn="ctr">
                        <a:defRPr sz="1100">
                          <a:solidFill>
                            <a:srgbClr val="FFFFFF"/>
                          </a:solidFill>
                        </a:defRPr>
                      </a:pPr>
                      <a:r>
                        <a:t>Engagement Rate</a:t>
                      </a:r>
                    </a:p>
                  </a:txBody>
                  <a:tcPr>
                    <a:solidFill>
                      <a:srgbClr val="0E1E3A"/>
                    </a:solidFill>
                  </a:tcPr>
                </a:tc>
                <a:tc>
                  <a:txBody>
                    <a:bodyPr/>
                    <a:lstStyle/>
                    <a:p>
                      <a:pPr algn="ctr">
                        <a:defRPr sz="1100">
                          <a:solidFill>
                            <a:srgbClr val="FFFFFF"/>
                          </a:solidFill>
                        </a:defRPr>
                      </a:pPr>
                      <a:r>
                        <a:t>0.28%</a:t>
                      </a:r>
                    </a:p>
                  </a:txBody>
                  <a:tcPr>
                    <a:solidFill>
                      <a:srgbClr val="0E1E3A"/>
                    </a:solidFill>
                  </a:tcPr>
                </a:tc>
                <a:tc>
                  <a:txBody>
                    <a:bodyPr/>
                    <a:lstStyle/>
                    <a:p>
                      <a:pPr algn="ctr">
                        <a:defRPr sz="1100">
                          <a:solidFill>
                            <a:srgbClr val="FFFFFF"/>
                          </a:solidFill>
                        </a:defRPr>
                      </a:pPr>
                      <a:r>
                        <a:t>&gt;3% is good</a:t>
                      </a:r>
                    </a:p>
                  </a:txBody>
                  <a:tcPr>
                    <a:solidFill>
                      <a:srgbClr val="0E1E3A"/>
                    </a:solidFill>
                  </a:tcPr>
                </a:tc>
                <a:tc>
                  <a:txBody>
                    <a:bodyPr/>
                    <a:lstStyle/>
                    <a:p>
                      <a:pPr algn="ctr">
                        <a:defRPr sz="1100">
                          <a:solidFill>
                            <a:srgbClr val="FFFFFF"/>
                          </a:solidFill>
                        </a:defRPr>
                      </a:pPr>
                      <a:r>
                        <a:t>🔴 Low</a:t>
                      </a:r>
                    </a:p>
                  </a:txBody>
                  <a:tcPr>
                    <a:solidFill>
                      <a:srgbClr val="0E1E3A"/>
                    </a:solidFill>
                  </a:tcPr>
                </a:tc>
              </a:tr>
              <a:tr h="589280">
                <a:tc>
                  <a:txBody>
                    <a:bodyPr/>
                    <a:lstStyle/>
                    <a:p>
                      <a:pPr algn="ctr">
                        <a:defRPr sz="1100">
                          <a:solidFill>
                            <a:srgbClr val="FFFFFF"/>
                          </a:solidFill>
                        </a:defRPr>
                      </a:pPr>
                      <a:r>
                        <a:t>📸 Instagram</a:t>
                      </a:r>
                    </a:p>
                  </a:txBody>
                  <a:tcPr>
                    <a:solidFill>
                      <a:srgbClr val="050C1A"/>
                    </a:solidFill>
                  </a:tcPr>
                </a:tc>
                <a:tc>
                  <a:txBody>
                    <a:bodyPr/>
                    <a:lstStyle/>
                    <a:p>
                      <a:pPr algn="ctr">
                        <a:defRPr sz="1100">
                          <a:solidFill>
                            <a:srgbClr val="FFFFFF"/>
                          </a:solidFill>
                        </a:defRPr>
                      </a:pPr>
                      <a:r>
                        <a:t>Avg Likes/Post</a:t>
                      </a:r>
                    </a:p>
                  </a:txBody>
                  <a:tcPr>
                    <a:solidFill>
                      <a:srgbClr val="050C1A"/>
                    </a:solidFill>
                  </a:tcPr>
                </a:tc>
                <a:tc>
                  <a:txBody>
                    <a:bodyPr/>
                    <a:lstStyle/>
                    <a:p>
                      <a:pPr algn="ctr">
                        <a:defRPr sz="1100">
                          <a:solidFill>
                            <a:srgbClr val="FFFFFF"/>
                          </a:solidFill>
                        </a:defRPr>
                      </a:pPr>
                      <a:r>
                        <a:t>34</a:t>
                      </a:r>
                    </a:p>
                  </a:txBody>
                  <a:tcPr>
                    <a:solidFill>
                      <a:srgbClr val="050C1A"/>
                    </a:solidFill>
                  </a:tcPr>
                </a:tc>
                <a:tc>
                  <a:txBody>
                    <a:bodyPr/>
                    <a:lstStyle/>
                    <a:p>
                      <a:pPr algn="ctr">
                        <a:defRPr sz="1100">
                          <a:solidFill>
                            <a:srgbClr val="FFFFFF"/>
                          </a:solidFill>
                        </a:defRPr>
                      </a:pPr>
                      <a:r>
                        <a:t>Varies by niche</a:t>
                      </a:r>
                    </a:p>
                  </a:txBody>
                  <a:tcPr>
                    <a:solidFill>
                      <a:srgbClr val="050C1A"/>
                    </a:solidFill>
                  </a:tcPr>
                </a:tc>
                <a:tc>
                  <a:txBody>
                    <a:bodyPr/>
                    <a:lstStyle/>
                    <a:p>
                      <a:pPr algn="ctr">
                        <a:defRPr sz="1100">
                          <a:solidFill>
                            <a:srgbClr val="FFFFFF"/>
                          </a:solidFill>
                        </a:defRPr>
                      </a:pPr>
                      <a:r>
                        <a:t>📊 Data</a:t>
                      </a:r>
                    </a:p>
                  </a:txBody>
                  <a:tcPr>
                    <a:solidFill>
                      <a:srgbClr val="050C1A"/>
                    </a:solidFill>
                  </a:tcPr>
                </a:tc>
              </a:tr>
              <a:tr h="589280">
                <a:tc>
                  <a:txBody>
                    <a:bodyPr/>
                    <a:lstStyle/>
                    <a:p>
                      <a:pPr algn="ctr">
                        <a:defRPr sz="1100">
                          <a:solidFill>
                            <a:srgbClr val="FFFFFF"/>
                          </a:solidFill>
                        </a:defRPr>
                      </a:pPr>
                      <a:r>
                        <a:t>📸 Instagram</a:t>
                      </a:r>
                    </a:p>
                  </a:txBody>
                  <a:tcPr>
                    <a:solidFill>
                      <a:srgbClr val="0E1E3A"/>
                    </a:solidFill>
                  </a:tcPr>
                </a:tc>
                <a:tc>
                  <a:txBody>
                    <a:bodyPr/>
                    <a:lstStyle/>
                    <a:p>
                      <a:pPr algn="ctr">
                        <a:defRPr sz="1100">
                          <a:solidFill>
                            <a:srgbClr val="FFFFFF"/>
                          </a:solidFill>
                        </a:defRPr>
                      </a:pPr>
                      <a:r>
                        <a:t>Avg Comments/Post</a:t>
                      </a:r>
                    </a:p>
                  </a:txBody>
                  <a:tcPr>
                    <a:solidFill>
                      <a:srgbClr val="0E1E3A"/>
                    </a:solidFill>
                  </a:tcPr>
                </a:tc>
                <a:tc>
                  <a:txBody>
                    <a:bodyPr/>
                    <a:lstStyle/>
                    <a:p>
                      <a:pPr algn="ctr">
                        <a:defRPr sz="1100">
                          <a:solidFill>
                            <a:srgbClr val="FFFFFF"/>
                          </a:solidFill>
                        </a:defRPr>
                      </a:pPr>
                      <a:r>
                        <a:t>1</a:t>
                      </a:r>
                    </a:p>
                  </a:txBody>
                  <a:tcPr>
                    <a:solidFill>
                      <a:srgbClr val="0E1E3A"/>
                    </a:solidFill>
                  </a:tcPr>
                </a:tc>
                <a:tc>
                  <a:txBody>
                    <a:bodyPr/>
                    <a:lstStyle/>
                    <a:p>
                      <a:pPr algn="ctr">
                        <a:defRPr sz="1100">
                          <a:solidFill>
                            <a:srgbClr val="FFFFFF"/>
                          </a:solidFill>
                        </a:defRPr>
                      </a:pPr>
                      <a:r>
                        <a:t>&gt;20 is strong</a:t>
                      </a:r>
                    </a:p>
                  </a:txBody>
                  <a:tcPr>
                    <a:solidFill>
                      <a:srgbClr val="0E1E3A"/>
                    </a:solidFill>
                  </a:tcPr>
                </a:tc>
                <a:tc>
                  <a:txBody>
                    <a:bodyPr/>
                    <a:lstStyle/>
                    <a:p>
                      <a:pPr algn="ctr">
                        <a:defRPr sz="1100">
                          <a:solidFill>
                            <a:srgbClr val="FFFFFF"/>
                          </a:solidFill>
                        </a:defRPr>
                      </a:pPr>
                      <a:r>
                        <a:t>📊 Data</a:t>
                      </a:r>
                    </a:p>
                  </a:txBody>
                  <a:tcPr>
                    <a:solidFill>
                      <a:srgbClr val="0E1E3A"/>
                    </a:solidFill>
                  </a:tcPr>
                </a:tc>
              </a:tr>
              <a:tr h="589280">
                <a:tc>
                  <a:txBody>
                    <a:bodyPr/>
                    <a:lstStyle/>
                    <a:p>
                      <a:pPr algn="ctr">
                        <a:defRPr sz="1100">
                          <a:solidFill>
                            <a:srgbClr val="FFFFFF"/>
                          </a:solidFill>
                        </a:defRPr>
                      </a:pPr>
                      <a:r>
                        <a:t>👥 Facebook</a:t>
                      </a:r>
                    </a:p>
                  </a:txBody>
                  <a:tcPr>
                    <a:solidFill>
                      <a:srgbClr val="050C1A"/>
                    </a:solidFill>
                  </a:tcPr>
                </a:tc>
                <a:tc>
                  <a:txBody>
                    <a:bodyPr/>
                    <a:lstStyle/>
                    <a:p>
                      <a:pPr algn="ctr">
                        <a:defRPr sz="1100">
                          <a:solidFill>
                            <a:srgbClr val="FFFFFF"/>
                          </a:solidFill>
                        </a:defRPr>
                      </a:pPr>
                      <a:r>
                        <a:t>Page Followers</a:t>
                      </a:r>
                    </a:p>
                  </a:txBody>
                  <a:tcPr>
                    <a:solidFill>
                      <a:srgbClr val="050C1A"/>
                    </a:solidFill>
                  </a:tcPr>
                </a:tc>
                <a:tc>
                  <a:txBody>
                    <a:bodyPr/>
                    <a:lstStyle/>
                    <a:p>
                      <a:pPr algn="ctr">
                        <a:defRPr sz="1100">
                          <a:solidFill>
                            <a:srgbClr val="FFFFFF"/>
                          </a:solidFill>
                        </a:defRPr>
                      </a:pPr>
                      <a:r>
                        <a:t>830</a:t>
                      </a:r>
                    </a:p>
                  </a:txBody>
                  <a:tcPr>
                    <a:solidFill>
                      <a:srgbClr val="050C1A"/>
                    </a:solidFill>
                  </a:tcPr>
                </a:tc>
                <a:tc>
                  <a:txBody>
                    <a:bodyPr/>
                    <a:lstStyle/>
                    <a:p>
                      <a:pPr algn="ctr">
                        <a:defRPr sz="1100">
                          <a:solidFill>
                            <a:srgbClr val="FFFFFF"/>
                          </a:solidFill>
                        </a:defRPr>
                      </a:pPr>
                      <a:r>
                        <a:t>Varies by industry</a:t>
                      </a:r>
                    </a:p>
                  </a:txBody>
                  <a:tcPr>
                    <a:solidFill>
                      <a:srgbClr val="050C1A"/>
                    </a:solidFill>
                  </a:tcPr>
                </a:tc>
                <a:tc>
                  <a:txBody>
                    <a:bodyPr/>
                    <a:lstStyle/>
                    <a:p>
                      <a:pPr algn="ctr">
                        <a:defRPr sz="1100">
                          <a:solidFill>
                            <a:srgbClr val="FFFFFF"/>
                          </a:solidFill>
                        </a:defRPr>
                      </a:pPr>
                      <a:r>
                        <a:t>📊 Data</a:t>
                      </a:r>
                    </a:p>
                  </a:txBody>
                  <a:tcPr>
                    <a:solidFill>
                      <a:srgbClr val="050C1A"/>
                    </a:solidFill>
                  </a:tcPr>
                </a:tc>
              </a:tr>
              <a:tr h="589280">
                <a:tc>
                  <a:txBody>
                    <a:bodyPr/>
                    <a:lstStyle/>
                    <a:p>
                      <a:pPr algn="ctr">
                        <a:defRPr sz="1100">
                          <a:solidFill>
                            <a:srgbClr val="FFFFFF"/>
                          </a:solidFill>
                        </a:defRPr>
                      </a:pPr>
                      <a:r>
                        <a:t>👥 Facebook</a:t>
                      </a:r>
                    </a:p>
                  </a:txBody>
                  <a:tcPr>
                    <a:solidFill>
                      <a:srgbClr val="0E1E3A"/>
                    </a:solidFill>
                  </a:tcPr>
                </a:tc>
                <a:tc>
                  <a:txBody>
                    <a:bodyPr/>
                    <a:lstStyle/>
                    <a:p>
                      <a:pPr algn="ctr">
                        <a:defRPr sz="1100">
                          <a:solidFill>
                            <a:srgbClr val="FFFFFF"/>
                          </a:solidFill>
                        </a:defRPr>
                      </a:pPr>
                      <a:r>
                        <a:t>Page Rating</a:t>
                      </a:r>
                    </a:p>
                  </a:txBody>
                  <a:tcPr>
                    <a:solidFill>
                      <a:srgbClr val="0E1E3A"/>
                    </a:solidFill>
                  </a:tcPr>
                </a:tc>
                <a:tc>
                  <a:txBody>
                    <a:bodyPr/>
                    <a:lstStyle/>
                    <a:p>
                      <a:pPr algn="ctr">
                        <a:defRPr sz="1100">
                          <a:solidFill>
                            <a:srgbClr val="FFFFFF"/>
                          </a:solidFill>
                        </a:defRPr>
                      </a:pPr>
                      <a:r>
                        <a:t>N/A</a:t>
                      </a:r>
                    </a:p>
                  </a:txBody>
                  <a:tcPr>
                    <a:solidFill>
                      <a:srgbClr val="0E1E3A"/>
                    </a:solidFill>
                  </a:tcPr>
                </a:tc>
                <a:tc>
                  <a:txBody>
                    <a:bodyPr/>
                    <a:lstStyle/>
                    <a:p>
                      <a:pPr algn="ctr">
                        <a:defRPr sz="1100">
                          <a:solidFill>
                            <a:srgbClr val="FFFFFF"/>
                          </a:solidFill>
                        </a:defRPr>
                      </a:pPr>
                      <a:r>
                        <a:t>&gt;4.0 is good</a:t>
                      </a:r>
                    </a:p>
                  </a:txBody>
                  <a:tcPr>
                    <a:solidFill>
                      <a:srgbClr val="0E1E3A"/>
                    </a:solidFill>
                  </a:tcPr>
                </a:tc>
                <a:tc>
                  <a:txBody>
                    <a:bodyPr/>
                    <a:lstStyle/>
                    <a:p>
                      <a:pPr algn="ctr">
                        <a:defRPr sz="1100">
                          <a:solidFill>
                            <a:srgbClr val="FFFFFF"/>
                          </a:solidFill>
                        </a:defRPr>
                      </a:pPr>
                      <a:r>
                        <a:t>📊 Data</a:t>
                      </a:r>
                    </a:p>
                  </a:txBody>
                  <a:tcPr>
                    <a:solidFill>
                      <a:srgbClr val="0E1E3A"/>
                    </a:solidFill>
                  </a:tcPr>
                </a:tc>
              </a:tr>
              <a:tr h="589280">
                <a:tc>
                  <a:txBody>
                    <a:bodyPr/>
                    <a:lstStyle/>
                    <a:p>
                      <a:pPr algn="ctr">
                        <a:defRPr sz="1100">
                          <a:solidFill>
                            <a:srgbClr val="FFFFFF"/>
                          </a:solidFill>
                        </a:defRPr>
                      </a:pPr>
                      <a:r>
                        <a:t>▶️ YouTube</a:t>
                      </a:r>
                    </a:p>
                  </a:txBody>
                  <a:tcPr>
                    <a:solidFill>
                      <a:srgbClr val="050C1A"/>
                    </a:solidFill>
                  </a:tcPr>
                </a:tc>
                <a:tc>
                  <a:txBody>
                    <a:bodyPr/>
                    <a:lstStyle/>
                    <a:p>
                      <a:pPr algn="ctr">
                        <a:defRPr sz="1100">
                          <a:solidFill>
                            <a:srgbClr val="FFFFFF"/>
                          </a:solidFill>
                        </a:defRPr>
                      </a:pPr>
                      <a:r>
                        <a:t>Subscribers</a:t>
                      </a:r>
                    </a:p>
                  </a:txBody>
                  <a:tcPr>
                    <a:solidFill>
                      <a:srgbClr val="050C1A"/>
                    </a:solidFill>
                  </a:tcPr>
                </a:tc>
                <a:tc>
                  <a:txBody>
                    <a:bodyPr/>
                    <a:lstStyle/>
                    <a:p>
                      <a:pPr algn="ctr">
                        <a:defRPr sz="1100">
                          <a:solidFill>
                            <a:srgbClr val="FFFFFF"/>
                          </a:solidFill>
                        </a:defRPr>
                      </a:pPr>
                      <a:r>
                        <a:t>275</a:t>
                      </a:r>
                    </a:p>
                  </a:txBody>
                  <a:tcPr>
                    <a:solidFill>
                      <a:srgbClr val="050C1A"/>
                    </a:solidFill>
                  </a:tcPr>
                </a:tc>
                <a:tc>
                  <a:txBody>
                    <a:bodyPr/>
                    <a:lstStyle/>
                    <a:p>
                      <a:pPr algn="ctr">
                        <a:defRPr sz="1100">
                          <a:solidFill>
                            <a:srgbClr val="FFFFFF"/>
                          </a:solidFill>
                        </a:defRPr>
                      </a:pPr>
                      <a:r>
                        <a:t>Varies by niche</a:t>
                      </a:r>
                    </a:p>
                  </a:txBody>
                  <a:tcPr>
                    <a:solidFill>
                      <a:srgbClr val="050C1A"/>
                    </a:solidFill>
                  </a:tcPr>
                </a:tc>
                <a:tc>
                  <a:txBody>
                    <a:bodyPr/>
                    <a:lstStyle/>
                    <a:p>
                      <a:pPr algn="ctr">
                        <a:defRPr sz="1100">
                          <a:solidFill>
                            <a:srgbClr val="FFFFFF"/>
                          </a:solidFill>
                        </a:defRPr>
                      </a:pPr>
                      <a:r>
                        <a:t>📊 Data</a:t>
                      </a:r>
                    </a:p>
                  </a:txBody>
                  <a:tcPr>
                    <a:solidFill>
                      <a:srgbClr val="050C1A"/>
                    </a:solidFill>
                  </a:tcPr>
                </a:tc>
              </a:tr>
              <a:tr h="589280">
                <a:tc>
                  <a:txBody>
                    <a:bodyPr/>
                    <a:lstStyle/>
                    <a:p>
                      <a:pPr algn="ctr">
                        <a:defRPr sz="1100">
                          <a:solidFill>
                            <a:srgbClr val="FFFFFF"/>
                          </a:solidFill>
                        </a:defRPr>
                      </a:pPr>
                      <a:r>
                        <a:t>▶️ YouTube</a:t>
                      </a:r>
                    </a:p>
                  </a:txBody>
                  <a:tcPr>
                    <a:solidFill>
                      <a:srgbClr val="0E1E3A"/>
                    </a:solidFill>
                  </a:tcPr>
                </a:tc>
                <a:tc>
                  <a:txBody>
                    <a:bodyPr/>
                    <a:lstStyle/>
                    <a:p>
                      <a:pPr algn="ctr">
                        <a:defRPr sz="1100">
                          <a:solidFill>
                            <a:srgbClr val="FFFFFF"/>
                          </a:solidFill>
                        </a:defRPr>
                      </a:pPr>
                      <a:r>
                        <a:t>Views per Video</a:t>
                      </a:r>
                    </a:p>
                  </a:txBody>
                  <a:tcPr>
                    <a:solidFill>
                      <a:srgbClr val="0E1E3A"/>
                    </a:solidFill>
                  </a:tcPr>
                </a:tc>
                <a:tc>
                  <a:txBody>
                    <a:bodyPr/>
                    <a:lstStyle/>
                    <a:p>
                      <a:pPr algn="ctr">
                        <a:defRPr sz="1100">
                          <a:solidFill>
                            <a:srgbClr val="FFFFFF"/>
                          </a:solidFill>
                        </a:defRPr>
                      </a:pPr>
                      <a:r>
                        <a:t>See slide 8</a:t>
                      </a:r>
                    </a:p>
                  </a:txBody>
                  <a:tcPr>
                    <a:solidFill>
                      <a:srgbClr val="0E1E3A"/>
                    </a:solidFill>
                  </a:tcPr>
                </a:tc>
                <a:tc>
                  <a:txBody>
                    <a:bodyPr/>
                    <a:lstStyle/>
                    <a:p>
                      <a:pPr algn="ctr">
                        <a:defRPr sz="1100">
                          <a:solidFill>
                            <a:srgbClr val="FFFFFF"/>
                          </a:solidFill>
                        </a:defRPr>
                      </a:pPr>
                      <a:r>
                        <a:t>&gt;1000 is good</a:t>
                      </a:r>
                    </a:p>
                  </a:txBody>
                  <a:tcPr>
                    <a:solidFill>
                      <a:srgbClr val="0E1E3A"/>
                    </a:solidFill>
                  </a:tcPr>
                </a:tc>
                <a:tc>
                  <a:txBody>
                    <a:bodyPr/>
                    <a:lstStyle/>
                    <a:p>
                      <a:pPr algn="ctr">
                        <a:defRPr sz="1100">
                          <a:solidFill>
                            <a:srgbClr val="FFFFFF"/>
                          </a:solidFill>
                        </a:defRPr>
                      </a:pPr>
                      <a:r>
                        <a:t>📊 Data</a:t>
                      </a:r>
                    </a:p>
                  </a:txBody>
                  <a:tcPr>
                    <a:solidFill>
                      <a:srgbClr val="0E1E3A"/>
                    </a:solidFill>
                  </a:tcPr>
                </a:tc>
              </a:tr>
              <a:tr h="589280">
                <a:tc>
                  <a:txBody>
                    <a:bodyPr/>
                    <a:lstStyle/>
                    <a:p>
                      <a:pPr algn="ctr">
                        <a:defRPr sz="1100">
                          <a:solidFill>
                            <a:srgbClr val="FFFFFF"/>
                          </a:solidFill>
                        </a:defRPr>
                      </a:pPr>
                      <a:r>
                        <a:t>💼 LinkedIn</a:t>
                      </a:r>
                    </a:p>
                  </a:txBody>
                  <a:tcPr>
                    <a:solidFill>
                      <a:srgbClr val="050C1A"/>
                    </a:solidFill>
                  </a:tcPr>
                </a:tc>
                <a:tc>
                  <a:txBody>
                    <a:bodyPr/>
                    <a:lstStyle/>
                    <a:p>
                      <a:pPr algn="ctr">
                        <a:defRPr sz="1100">
                          <a:solidFill>
                            <a:srgbClr val="FFFFFF"/>
                          </a:solidFill>
                        </a:defRPr>
                      </a:pPr>
                      <a:r>
                        <a:t>Followers</a:t>
                      </a:r>
                    </a:p>
                  </a:txBody>
                  <a:tcPr>
                    <a:solidFill>
                      <a:srgbClr val="050C1A"/>
                    </a:solidFill>
                  </a:tcPr>
                </a:tc>
                <a:tc>
                  <a:txBody>
                    <a:bodyPr/>
                    <a:lstStyle/>
                    <a:p>
                      <a:pPr algn="ctr">
                        <a:defRPr sz="1100">
                          <a:solidFill>
                            <a:srgbClr val="FFFFFF"/>
                          </a:solidFill>
                        </a:defRPr>
                      </a:pPr>
                      <a:r>
                        <a:t>N/A</a:t>
                      </a:r>
                    </a:p>
                  </a:txBody>
                  <a:tcPr>
                    <a:solidFill>
                      <a:srgbClr val="050C1A"/>
                    </a:solidFill>
                  </a:tcPr>
                </a:tc>
                <a:tc>
                  <a:txBody>
                    <a:bodyPr/>
                    <a:lstStyle/>
                    <a:p>
                      <a:pPr algn="ctr">
                        <a:defRPr sz="1100">
                          <a:solidFill>
                            <a:srgbClr val="FFFFFF"/>
                          </a:solidFill>
                        </a:defRPr>
                      </a:pPr>
                      <a:r>
                        <a:t>Varies by industry</a:t>
                      </a:r>
                    </a:p>
                  </a:txBody>
                  <a:tcPr>
                    <a:solidFill>
                      <a:srgbClr val="050C1A"/>
                    </a:solidFill>
                  </a:tcPr>
                </a:tc>
                <a:tc>
                  <a:txBody>
                    <a:bodyPr/>
                    <a:lstStyle/>
                    <a:p>
                      <a:pPr algn="ctr">
                        <a:defRPr sz="1100">
                          <a:solidFill>
                            <a:srgbClr val="FFFFFF"/>
                          </a:solidFill>
                        </a:defRPr>
                      </a:pPr>
                      <a:r>
                        <a:t>📊 Data</a:t>
                      </a:r>
                    </a:p>
                  </a:txBody>
                  <a:tcPr>
                    <a:solidFill>
                      <a:srgbClr val="050C1A"/>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594360"/>
          </a:xfrm>
          <a:prstGeom prst="rect">
            <a:avLst/>
          </a:prstGeom>
          <a:noFill/>
        </p:spPr>
        <p:txBody>
          <a:bodyPr wrap="square">
            <a:spAutoFit/>
          </a:bodyPr>
          <a:lstStyle/>
          <a:p>
            <a:pPr algn="l">
              <a:defRPr sz="2800" b="1" i="0">
                <a:solidFill>
                  <a:srgbClr val="D4AF37"/>
                </a:solidFill>
              </a:defRPr>
            </a:pPr>
            <a:r>
              <a:t>💪  Key Strengths &amp; Gaps</a:t>
            </a:r>
          </a:p>
        </p:txBody>
      </p:sp>
      <p:sp>
        <p:nvSpPr>
          <p:cNvPr id="4" name="TextBox 3"/>
          <p:cNvSpPr txBox="1"/>
          <p:nvPr/>
        </p:nvSpPr>
        <p:spPr>
          <a:xfrm>
            <a:off x="457200" y="685800"/>
            <a:ext cx="11247120" cy="320040"/>
          </a:xfrm>
          <a:prstGeom prst="rect">
            <a:avLst/>
          </a:prstGeom>
          <a:noFill/>
        </p:spPr>
        <p:txBody>
          <a:bodyPr wrap="square">
            <a:spAutoFit/>
          </a:bodyPr>
          <a:lstStyle/>
          <a:p>
            <a:pPr algn="l">
              <a:defRPr sz="1200" b="0" i="1">
                <a:solidFill>
                  <a:srgbClr val="C8D2E6"/>
                </a:solidFill>
              </a:defRPr>
            </a:pPr>
            <a:r>
              <a:t>What's working and what needs attention</a:t>
            </a:r>
          </a:p>
        </p:txBody>
      </p:sp>
      <p:sp>
        <p:nvSpPr>
          <p:cNvPr id="5" name="TextBox 4"/>
          <p:cNvSpPr txBox="1"/>
          <p:nvPr/>
        </p:nvSpPr>
        <p:spPr>
          <a:xfrm>
            <a:off x="457200" y="1143000"/>
            <a:ext cx="5669280" cy="320040"/>
          </a:xfrm>
          <a:prstGeom prst="rect">
            <a:avLst/>
          </a:prstGeom>
          <a:noFill/>
        </p:spPr>
        <p:txBody>
          <a:bodyPr wrap="square">
            <a:spAutoFit/>
          </a:bodyPr>
          <a:lstStyle/>
          <a:p>
            <a:pPr algn="l">
              <a:defRPr sz="1100" b="1" i="0">
                <a:solidFill>
                  <a:srgbClr val="2ECC71"/>
                </a:solidFill>
              </a:defRPr>
            </a:pPr>
            <a:r>
              <a:t>STRONGEST PLATFORM</a:t>
            </a:r>
          </a:p>
        </p:txBody>
      </p:sp>
      <p:sp>
        <p:nvSpPr>
          <p:cNvPr id="6" name="Rectangle 5"/>
          <p:cNvSpPr/>
          <p:nvPr/>
        </p:nvSpPr>
        <p:spPr>
          <a:xfrm>
            <a:off x="457200" y="1463040"/>
            <a:ext cx="5669280" cy="1188720"/>
          </a:xfrm>
          <a:prstGeom prst="rect">
            <a:avLst/>
          </a:prstGeom>
          <a:solidFill>
            <a:srgbClr val="0E1E3A"/>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5303520" cy="1005840"/>
          </a:xfrm>
          <a:prstGeom prst="rect">
            <a:avLst/>
          </a:prstGeom>
          <a:noFill/>
        </p:spPr>
        <p:txBody>
          <a:bodyPr wrap="square">
            <a:spAutoFit/>
          </a:bodyPr>
          <a:lstStyle/>
          <a:p>
            <a:pPr algn="l">
              <a:defRPr sz="1300" b="0" i="0">
                <a:solidFill>
                  <a:srgbClr val="FFFFFF"/>
                </a:solidFill>
              </a:defRPr>
            </a:pPr>
            <a:r>
              <a:t>YouTube is the strongest performing platform relative to its size, generating 285,683 views with only 275 subscribers and 58 videos since late 2023, demonstrating high content discoverability and organic reach.</a:t>
            </a:r>
          </a:p>
        </p:txBody>
      </p:sp>
      <p:sp>
        <p:nvSpPr>
          <p:cNvPr id="8" name="TextBox 7"/>
          <p:cNvSpPr txBox="1"/>
          <p:nvPr/>
        </p:nvSpPr>
        <p:spPr>
          <a:xfrm>
            <a:off x="6263640" y="1143000"/>
            <a:ext cx="5394960" cy="320040"/>
          </a:xfrm>
          <a:prstGeom prst="rect">
            <a:avLst/>
          </a:prstGeom>
          <a:noFill/>
        </p:spPr>
        <p:txBody>
          <a:bodyPr wrap="square">
            <a:spAutoFit/>
          </a:bodyPr>
          <a:lstStyle/>
          <a:p>
            <a:pPr algn="l">
              <a:defRPr sz="1100" b="1" i="0">
                <a:solidFill>
                  <a:srgbClr val="FF3B30"/>
                </a:solidFill>
              </a:defRPr>
            </a:pPr>
            <a:r>
              <a:t>NEEDS MOST WORK</a:t>
            </a:r>
          </a:p>
        </p:txBody>
      </p:sp>
      <p:sp>
        <p:nvSpPr>
          <p:cNvPr id="9" name="Rectangle 8"/>
          <p:cNvSpPr/>
          <p:nvPr/>
        </p:nvSpPr>
        <p:spPr>
          <a:xfrm>
            <a:off x="6263640" y="1463040"/>
            <a:ext cx="5394960" cy="1188720"/>
          </a:xfrm>
          <a:prstGeom prst="rect">
            <a:avLst/>
          </a:prstGeom>
          <a:solidFill>
            <a:srgbClr val="0E1E3A"/>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54480"/>
            <a:ext cx="5029200" cy="1005840"/>
          </a:xfrm>
          <a:prstGeom prst="rect">
            <a:avLst/>
          </a:prstGeom>
          <a:noFill/>
        </p:spPr>
        <p:txBody>
          <a:bodyPr wrap="square">
            <a:spAutoFit/>
          </a:bodyPr>
          <a:lstStyle/>
          <a:p>
            <a:pPr algn="l">
              <a:defRPr sz="1300" b="0" i="0">
                <a:solidFill>
                  <a:srgbClr val="FFFFFF"/>
                </a:solidFill>
              </a:defRPr>
            </a:pPr>
            <a:r>
              <a:t>Facebook is the weakest platform with only 830 followers and a completely empty profile lacking category, contact info, ratings, and about section, rendering it nearly ineffective for lead generation.</a:t>
            </a:r>
          </a:p>
        </p:txBody>
      </p:sp>
      <p:sp>
        <p:nvSpPr>
          <p:cNvPr id="11" name="Rectangle 10"/>
          <p:cNvSpPr/>
          <p:nvPr/>
        </p:nvSpPr>
        <p:spPr>
          <a:xfrm>
            <a:off x="457200" y="2880360"/>
            <a:ext cx="5669280" cy="128016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971800"/>
            <a:ext cx="5394960" cy="320040"/>
          </a:xfrm>
          <a:prstGeom prst="rect">
            <a:avLst/>
          </a:prstGeom>
          <a:noFill/>
        </p:spPr>
        <p:txBody>
          <a:bodyPr wrap="square">
            <a:spAutoFit/>
          </a:bodyPr>
          <a:lstStyle/>
          <a:p>
            <a:pPr algn="l">
              <a:defRPr sz="1200" b="1" i="0">
                <a:solidFill>
                  <a:srgbClr val="16A085"/>
                </a:solidFill>
              </a:defRPr>
            </a:pPr>
            <a:r>
              <a:t>🔄 Content Consistency</a:t>
            </a:r>
          </a:p>
        </p:txBody>
      </p:sp>
      <p:sp>
        <p:nvSpPr>
          <p:cNvPr id="13" name="TextBox 12"/>
          <p:cNvSpPr txBox="1"/>
          <p:nvPr/>
        </p:nvSpPr>
        <p:spPr>
          <a:xfrm>
            <a:off x="594360" y="3291840"/>
            <a:ext cx="5394960" cy="777239"/>
          </a:xfrm>
          <a:prstGeom prst="rect">
            <a:avLst/>
          </a:prstGeom>
          <a:noFill/>
        </p:spPr>
        <p:txBody>
          <a:bodyPr wrap="square">
            <a:spAutoFit/>
          </a:bodyPr>
          <a:lstStyle/>
          <a:p>
            <a:pPr algn="l">
              <a:defRPr sz="1100" b="0" i="0">
                <a:solidFill>
                  <a:srgbClr val="FFFFFF"/>
                </a:solidFill>
              </a:defRPr>
            </a:pPr>
            <a:r>
              <a:t>Content consistency is weak across platforms. Instagram has 565 posts but zero bio information, Facebook is largely empty, and LinkedIn has no follower or employee data, suggesting siloed and inconsistent brand management across channels.</a:t>
            </a:r>
          </a:p>
        </p:txBody>
      </p:sp>
      <p:sp>
        <p:nvSpPr>
          <p:cNvPr id="14" name="Rectangle 13"/>
          <p:cNvSpPr/>
          <p:nvPr/>
        </p:nvSpPr>
        <p:spPr>
          <a:xfrm>
            <a:off x="6263640" y="2880360"/>
            <a:ext cx="5394960" cy="128016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971800"/>
            <a:ext cx="5120640" cy="320040"/>
          </a:xfrm>
          <a:prstGeom prst="rect">
            <a:avLst/>
          </a:prstGeom>
          <a:noFill/>
        </p:spPr>
        <p:txBody>
          <a:bodyPr wrap="square">
            <a:spAutoFit/>
          </a:bodyPr>
          <a:lstStyle/>
          <a:p>
            <a:pPr algn="l">
              <a:defRPr sz="1200" b="1" i="0">
                <a:solidFill>
                  <a:srgbClr val="D4AF37"/>
                </a:solidFill>
              </a:defRPr>
            </a:pPr>
            <a:r>
              <a:t>🚀 Growth Opportunity</a:t>
            </a:r>
          </a:p>
        </p:txBody>
      </p:sp>
      <p:sp>
        <p:nvSpPr>
          <p:cNvPr id="16" name="TextBox 15"/>
          <p:cNvSpPr txBox="1"/>
          <p:nvPr/>
        </p:nvSpPr>
        <p:spPr>
          <a:xfrm>
            <a:off x="6400800" y="3291840"/>
            <a:ext cx="5120640" cy="777239"/>
          </a:xfrm>
          <a:prstGeom prst="rect">
            <a:avLst/>
          </a:prstGeom>
          <a:noFill/>
        </p:spPr>
        <p:txBody>
          <a:bodyPr wrap="square">
            <a:spAutoFit/>
          </a:bodyPr>
          <a:lstStyle/>
          <a:p>
            <a:pPr algn="l">
              <a:defRPr sz="1100" b="0" i="0">
                <a:solidFill>
                  <a:srgbClr val="FFFFFF"/>
                </a:solidFill>
              </a:defRPr>
            </a:pPr>
            <a:r>
              <a:t>The biggest growth opportunity lies in leveraging YouTube's strong organic viewership to drive cross-platform growth, while creating targeted Instagram Reels and Facebook event promotions around weddings and corporate retreats to capture high-intent audiences actively searching for venue options in Bangalore.</a:t>
            </a:r>
          </a:p>
        </p:txBody>
      </p:sp>
      <p:sp>
        <p:nvSpPr>
          <p:cNvPr id="17" name="Rectangle 16"/>
          <p:cNvSpPr/>
          <p:nvPr/>
        </p:nvSpPr>
        <p:spPr>
          <a:xfrm>
            <a:off x="457200" y="4343400"/>
            <a:ext cx="11247120" cy="1737360"/>
          </a:xfrm>
          <a:prstGeom prst="rect">
            <a:avLst/>
          </a:prstGeom>
          <a:solidFill>
            <a:srgbClr val="0E1E3A"/>
          </a:solidFill>
          <a:ln w="127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434840"/>
            <a:ext cx="4572000" cy="320040"/>
          </a:xfrm>
          <a:prstGeom prst="rect">
            <a:avLst/>
          </a:prstGeom>
          <a:noFill/>
        </p:spPr>
        <p:txBody>
          <a:bodyPr wrap="square">
            <a:spAutoFit/>
          </a:bodyPr>
          <a:lstStyle/>
          <a:p>
            <a:pPr algn="l">
              <a:defRPr sz="1100" b="1" i="0">
                <a:solidFill>
                  <a:srgbClr val="8E44AD"/>
                </a:solidFill>
              </a:defRPr>
            </a:pPr>
            <a:r>
              <a:t>OVERALL SUMMARY</a:t>
            </a:r>
          </a:p>
        </p:txBody>
      </p:sp>
      <p:sp>
        <p:nvSpPr>
          <p:cNvPr id="19" name="TextBox 18"/>
          <p:cNvSpPr txBox="1"/>
          <p:nvPr/>
        </p:nvSpPr>
        <p:spPr>
          <a:xfrm>
            <a:off x="685800" y="4800600"/>
            <a:ext cx="10789920" cy="1143000"/>
          </a:xfrm>
          <a:prstGeom prst="rect">
            <a:avLst/>
          </a:prstGeom>
          <a:noFill/>
        </p:spPr>
        <p:txBody>
          <a:bodyPr wrap="square">
            <a:spAutoFit/>
          </a:bodyPr>
          <a:lstStyle/>
          <a:p>
            <a:pPr algn="l">
              <a:defRPr sz="1300" b="0" i="0">
                <a:solidFill>
                  <a:srgbClr val="FFFFFF"/>
                </a:solidFill>
              </a:defRPr>
            </a:pPr>
            <a:r>
              <a:t>Sportico Resorts has a modest but growing social media presence across four platforms, with Instagram being their most established channel at 12,646 followers. Their engagement rate is critically low at 0.28% on Instagram, suggesting content is not resonating deeply with their audience. YouTube shows promising traction with over 285,000 views despite limited subscribers, indicating strong content discoverability but weak community building.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5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457200"/>
          </a:xfrm>
          <a:prstGeom prst="rect">
            <a:avLst/>
          </a:prstGeom>
          <a:noFill/>
        </p:spPr>
        <p:txBody>
          <a:bodyPr wrap="square">
            <a:spAutoFit/>
          </a:bodyPr>
          <a:lstStyle/>
          <a:p>
            <a:pPr algn="l">
              <a:defRPr sz="1300" b="1" i="1">
                <a:solidFill>
                  <a:srgbClr val="D4AF37"/>
                </a:solidFill>
              </a:defRPr>
            </a:pPr>
            <a:r>
              <a:t>STRATEGIC RECOMMENDATIONS</a:t>
            </a:r>
          </a:p>
        </p:txBody>
      </p:sp>
      <p:sp>
        <p:nvSpPr>
          <p:cNvPr id="4" name="TextBox 3"/>
          <p:cNvSpPr txBox="1"/>
          <p:nvPr/>
        </p:nvSpPr>
        <p:spPr>
          <a:xfrm>
            <a:off x="548640" y="640080"/>
            <a:ext cx="10972800" cy="594360"/>
          </a:xfrm>
          <a:prstGeom prst="rect">
            <a:avLst/>
          </a:prstGeom>
          <a:noFill/>
        </p:spPr>
        <p:txBody>
          <a:bodyPr wrap="square">
            <a:spAutoFit/>
          </a:bodyPr>
          <a:lstStyle/>
          <a:p>
            <a:pPr algn="l">
              <a:defRPr sz="3200" b="1" i="0">
                <a:solidFill>
                  <a:srgbClr val="FFFFFF"/>
                </a:solidFill>
              </a:defRPr>
            </a:pPr>
            <a:r>
              <a:t>Action Plan</a:t>
            </a:r>
          </a:p>
        </p:txBody>
      </p:sp>
      <p:sp>
        <p:nvSpPr>
          <p:cNvPr id="5" name="Rectangle 4"/>
          <p:cNvSpPr/>
          <p:nvPr/>
        </p:nvSpPr>
        <p:spPr>
          <a:xfrm>
            <a:off x="457200" y="1417320"/>
            <a:ext cx="5486400" cy="1188720"/>
          </a:xfrm>
          <a:prstGeom prst="rect">
            <a:avLst/>
          </a:prstGeom>
          <a:solidFill>
            <a:srgbClr val="0E1E3A"/>
          </a:solidFill>
          <a:ln w="127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08760"/>
            <a:ext cx="5120640" cy="347472"/>
          </a:xfrm>
          <a:prstGeom prst="rect">
            <a:avLst/>
          </a:prstGeom>
          <a:noFill/>
        </p:spPr>
        <p:txBody>
          <a:bodyPr wrap="square">
            <a:spAutoFit/>
          </a:bodyPr>
          <a:lstStyle/>
          <a:p>
            <a:pPr algn="l">
              <a:defRPr sz="1300" b="1" i="0">
                <a:solidFill>
                  <a:srgbClr val="2ECC71"/>
                </a:solidFill>
              </a:defRPr>
            </a:pPr>
            <a:r>
              <a:t>📸  Instagram</a:t>
            </a:r>
          </a:p>
        </p:txBody>
      </p:sp>
      <p:sp>
        <p:nvSpPr>
          <p:cNvPr id="7" name="TextBox 6"/>
          <p:cNvSpPr txBox="1"/>
          <p:nvPr/>
        </p:nvSpPr>
        <p:spPr>
          <a:xfrm>
            <a:off x="640080" y="1892808"/>
            <a:ext cx="5120640" cy="621792"/>
          </a:xfrm>
          <a:prstGeom prst="rect">
            <a:avLst/>
          </a:prstGeom>
          <a:noFill/>
        </p:spPr>
        <p:txBody>
          <a:bodyPr wrap="square">
            <a:spAutoFit/>
          </a:bodyPr>
          <a:lstStyle/>
          <a:p>
            <a:pPr algn="l">
              <a:defRPr sz="1200" b="0" i="0">
                <a:solidFill>
                  <a:srgbClr val="FFFFFF"/>
                </a:solidFill>
              </a:defRPr>
            </a:pPr>
            <a:r>
              <a:t>Immediately update the bio with a compelling one-liner, location tag, and a call-to-action link, then shift content strategy toward storytelling reels showcasing guest experiences to boost engagement above the industry benchmark of 1-3%.</a:t>
            </a:r>
          </a:p>
        </p:txBody>
      </p:sp>
      <p:sp>
        <p:nvSpPr>
          <p:cNvPr id="8" name="Rectangle 7"/>
          <p:cNvSpPr/>
          <p:nvPr/>
        </p:nvSpPr>
        <p:spPr>
          <a:xfrm>
            <a:off x="457200" y="2834640"/>
            <a:ext cx="5486400" cy="1188720"/>
          </a:xfrm>
          <a:prstGeom prst="rect">
            <a:avLst/>
          </a:prstGeom>
          <a:solidFill>
            <a:srgbClr val="0E1E3A"/>
          </a:solidFill>
          <a:ln w="12700">
            <a:solidFill>
              <a:srgbClr val="1A5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926080"/>
            <a:ext cx="5120640" cy="347472"/>
          </a:xfrm>
          <a:prstGeom prst="rect">
            <a:avLst/>
          </a:prstGeom>
          <a:noFill/>
        </p:spPr>
        <p:txBody>
          <a:bodyPr wrap="square">
            <a:spAutoFit/>
          </a:bodyPr>
          <a:lstStyle/>
          <a:p>
            <a:pPr algn="l">
              <a:defRPr sz="1300" b="1" i="0">
                <a:solidFill>
                  <a:srgbClr val="1A5AFF"/>
                </a:solidFill>
              </a:defRPr>
            </a:pPr>
            <a:r>
              <a:t>👥  Facebook</a:t>
            </a:r>
          </a:p>
        </p:txBody>
      </p:sp>
      <p:sp>
        <p:nvSpPr>
          <p:cNvPr id="10" name="TextBox 9"/>
          <p:cNvSpPr txBox="1"/>
          <p:nvPr/>
        </p:nvSpPr>
        <p:spPr>
          <a:xfrm>
            <a:off x="640080" y="3310128"/>
            <a:ext cx="5120640" cy="621792"/>
          </a:xfrm>
          <a:prstGeom prst="rect">
            <a:avLst/>
          </a:prstGeom>
          <a:noFill/>
        </p:spPr>
        <p:txBody>
          <a:bodyPr wrap="square">
            <a:spAutoFit/>
          </a:bodyPr>
          <a:lstStyle/>
          <a:p>
            <a:pPr algn="l">
              <a:defRPr sz="1200" b="0" i="0">
                <a:solidFill>
                  <a:srgbClr val="FFFFFF"/>
                </a:solidFill>
              </a:defRPr>
            </a:pPr>
            <a:r>
              <a:t>Complete the entire Facebook page profile including category, address, phone, email, website, and about section to improve local SEO and trust signals for potential wedding and corporate event clients.</a:t>
            </a:r>
          </a:p>
        </p:txBody>
      </p:sp>
      <p:sp>
        <p:nvSpPr>
          <p:cNvPr id="11" name="Rectangle 10"/>
          <p:cNvSpPr/>
          <p:nvPr/>
        </p:nvSpPr>
        <p:spPr>
          <a:xfrm>
            <a:off x="6309360" y="1417320"/>
            <a:ext cx="5486400" cy="1188720"/>
          </a:xfrm>
          <a:prstGeom prst="rect">
            <a:avLst/>
          </a:prstGeom>
          <a:solidFill>
            <a:srgbClr val="0E1E3A"/>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508760"/>
            <a:ext cx="5120640" cy="347472"/>
          </a:xfrm>
          <a:prstGeom prst="rect">
            <a:avLst/>
          </a:prstGeom>
          <a:noFill/>
        </p:spPr>
        <p:txBody>
          <a:bodyPr wrap="square">
            <a:spAutoFit/>
          </a:bodyPr>
          <a:lstStyle/>
          <a:p>
            <a:pPr algn="l">
              <a:defRPr sz="1300" b="1" i="0">
                <a:solidFill>
                  <a:srgbClr val="FF3B30"/>
                </a:solidFill>
              </a:defRPr>
            </a:pPr>
            <a:r>
              <a:t>▶️   YouTube</a:t>
            </a:r>
          </a:p>
        </p:txBody>
      </p:sp>
      <p:sp>
        <p:nvSpPr>
          <p:cNvPr id="13" name="TextBox 12"/>
          <p:cNvSpPr txBox="1"/>
          <p:nvPr/>
        </p:nvSpPr>
        <p:spPr>
          <a:xfrm>
            <a:off x="6492240" y="1892808"/>
            <a:ext cx="5120640" cy="621792"/>
          </a:xfrm>
          <a:prstGeom prst="rect">
            <a:avLst/>
          </a:prstGeom>
          <a:noFill/>
        </p:spPr>
        <p:txBody>
          <a:bodyPr wrap="square">
            <a:spAutoFit/>
          </a:bodyPr>
          <a:lstStyle/>
          <a:p>
            <a:pPr algn="l">
              <a:defRPr sz="1200" b="0" i="0">
                <a:solidFill>
                  <a:srgbClr val="FFFFFF"/>
                </a:solidFill>
              </a:defRPr>
            </a:pPr>
            <a:r>
              <a:t>Add end screens, subscribe prompts, and a channel trailer to convert the high volume of viewers into subscribers, and create dedicated playlists for weddings, corporate retreats, and adventure sports to improve session watch time.</a:t>
            </a:r>
          </a:p>
        </p:txBody>
      </p:sp>
      <p:sp>
        <p:nvSpPr>
          <p:cNvPr id="14" name="Rectangle 13"/>
          <p:cNvSpPr/>
          <p:nvPr/>
        </p:nvSpPr>
        <p:spPr>
          <a:xfrm>
            <a:off x="6309360" y="2834640"/>
            <a:ext cx="5486400" cy="1188720"/>
          </a:xfrm>
          <a:prstGeom prst="rect">
            <a:avLst/>
          </a:prstGeom>
          <a:solidFill>
            <a:srgbClr val="0E1E3A"/>
          </a:solidFill>
          <a:ln w="12700">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926080"/>
            <a:ext cx="5120640" cy="347472"/>
          </a:xfrm>
          <a:prstGeom prst="rect">
            <a:avLst/>
          </a:prstGeom>
          <a:noFill/>
        </p:spPr>
        <p:txBody>
          <a:bodyPr wrap="square">
            <a:spAutoFit/>
          </a:bodyPr>
          <a:lstStyle/>
          <a:p>
            <a:pPr algn="l">
              <a:defRPr sz="1300" b="1" i="0">
                <a:solidFill>
                  <a:srgbClr val="16A085"/>
                </a:solidFill>
              </a:defRPr>
            </a:pPr>
            <a:r>
              <a:t>💼  LinkedIn</a:t>
            </a:r>
          </a:p>
        </p:txBody>
      </p:sp>
      <p:sp>
        <p:nvSpPr>
          <p:cNvPr id="16" name="TextBox 15"/>
          <p:cNvSpPr txBox="1"/>
          <p:nvPr/>
        </p:nvSpPr>
        <p:spPr>
          <a:xfrm>
            <a:off x="6492240" y="3310128"/>
            <a:ext cx="5120640" cy="621792"/>
          </a:xfrm>
          <a:prstGeom prst="rect">
            <a:avLst/>
          </a:prstGeom>
          <a:noFill/>
        </p:spPr>
        <p:txBody>
          <a:bodyPr wrap="square">
            <a:spAutoFit/>
          </a:bodyPr>
          <a:lstStyle/>
          <a:p>
            <a:pPr algn="l">
              <a:defRPr sz="1200" b="0" i="0">
                <a:solidFill>
                  <a:srgbClr val="FFFFFF"/>
                </a:solidFill>
              </a:defRPr>
            </a:pPr>
            <a:r>
              <a:t>Actively build the LinkedIn page by posting corporate event case studies, team outing packages, and client testimonials to attract HR managers and event planners, while filling in employee count and company details to improve credibility.</a:t>
            </a:r>
          </a:p>
        </p:txBody>
      </p:sp>
      <p:sp>
        <p:nvSpPr>
          <p:cNvPr id="17" name="Rectangle 16"/>
          <p:cNvSpPr/>
          <p:nvPr/>
        </p:nvSpPr>
        <p:spPr>
          <a:xfrm>
            <a:off x="457200" y="4343400"/>
            <a:ext cx="11247120" cy="1371600"/>
          </a:xfrm>
          <a:prstGeom prst="rect">
            <a:avLst/>
          </a:prstGeom>
          <a:solidFill>
            <a:srgbClr val="0E1E3A"/>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434840"/>
            <a:ext cx="4572000" cy="320040"/>
          </a:xfrm>
          <a:prstGeom prst="rect">
            <a:avLst/>
          </a:prstGeom>
          <a:noFill/>
        </p:spPr>
        <p:txBody>
          <a:bodyPr wrap="square">
            <a:spAutoFit/>
          </a:bodyPr>
          <a:lstStyle/>
          <a:p>
            <a:pPr algn="l">
              <a:defRPr sz="1200" b="1" i="0">
                <a:solidFill>
                  <a:srgbClr val="D4AF37"/>
                </a:solidFill>
              </a:defRPr>
            </a:pPr>
            <a:r>
              <a:t>🎯  TOP PRIORITY</a:t>
            </a:r>
          </a:p>
        </p:txBody>
      </p:sp>
      <p:sp>
        <p:nvSpPr>
          <p:cNvPr id="19" name="TextBox 18"/>
          <p:cNvSpPr txBox="1"/>
          <p:nvPr/>
        </p:nvSpPr>
        <p:spPr>
          <a:xfrm>
            <a:off x="685800" y="4800600"/>
            <a:ext cx="10789920" cy="777240"/>
          </a:xfrm>
          <a:prstGeom prst="rect">
            <a:avLst/>
          </a:prstGeom>
          <a:noFill/>
        </p:spPr>
        <p:txBody>
          <a:bodyPr wrap="square">
            <a:spAutoFit/>
          </a:bodyPr>
          <a:lstStyle/>
          <a:p>
            <a:pPr algn="l">
              <a:defRPr sz="1400" b="0" i="0">
                <a:solidFill>
                  <a:srgbClr val="FFFFFF"/>
                </a:solidFill>
              </a:defRPr>
            </a:pPr>
            <a:r>
              <a:t>The top priority is to audit and complete all platform profiles with consistent branding, contact information, and bios, then redirect YouTube's strong viewership into Instagram and Facebook followers through cross-platform CTAs to create a unified growth funnel.</a:t>
            </a:r>
          </a:p>
        </p:txBody>
      </p:sp>
      <p:sp>
        <p:nvSpPr>
          <p:cNvPr id="20" name="TextBox 19"/>
          <p:cNvSpPr txBox="1"/>
          <p:nvPr/>
        </p:nvSpPr>
        <p:spPr>
          <a:xfrm>
            <a:off x="457200" y="6492240"/>
            <a:ext cx="11247120" cy="274320"/>
          </a:xfrm>
          <a:prstGeom prst="rect">
            <a:avLst/>
          </a:prstGeom>
          <a:noFill/>
        </p:spPr>
        <p:txBody>
          <a:bodyPr wrap="square">
            <a:spAutoFit/>
          </a:bodyPr>
          <a:lstStyle/>
          <a:p>
            <a:pPr algn="ctr">
              <a:defRPr sz="1000" b="0" i="1">
                <a:solidFill>
                  <a:srgbClr val="C8D2E6"/>
                </a:solidFill>
              </a:defRPr>
            </a:pPr>
            <a:r>
              <a:t>Report for Sportico Resorts (https://www.sporticoresorts.com/)  •  SearchAPI.io + Claude 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