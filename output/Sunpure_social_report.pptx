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dPt>
            <c:idx val="0"/>
            <c:spPr>
              <a:solidFill>
                <a:srgbClr val="16A085"/>
              </a:solidFill>
            </c:spPr>
          </c:dPt>
          <c:dPt>
            <c:idx val="1"/>
            <c:spPr>
              <a:solidFill>
                <a:srgbClr val="D4AF37"/>
              </a:solidFill>
            </c:spPr>
          </c:dPt>
          <c:dPt>
            <c:idx val="2"/>
            <c:spPr>
              <a:solidFill>
                <a:srgbClr val="8E44AD"/>
              </a:solidFill>
            </c:spPr>
          </c:dPt>
          <c:cat>
            <c:strRef>
              <c:f>Sheet1!$A$2:$A$4</c:f>
              <c:strCache>
                <c:ptCount val="3"/>
                <c:pt idx="0">
                  <c:v>Images</c:v>
                </c:pt>
                <c:pt idx="1">
                  <c:v>Carousels</c:v>
                </c:pt>
                <c:pt idx="2">
                  <c:v>Videos/Reels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</c:v>
                </c:pt>
                <c:pt idx="2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Followers/Subscribers</c:v>
                </c:pt>
              </c:strCache>
            </c:strRef>
          </c:tx>
          <c:dPt>
            <c:idx val="0"/>
            <c:spPr>
              <a:solidFill>
                <a:srgbClr val="2ECC71"/>
              </a:solidFill>
            </c:spPr>
          </c:dPt>
          <c:dPt>
            <c:idx val="1"/>
            <c:spPr>
              <a:solidFill>
                <a:srgbClr val="1A5AFF"/>
              </a:solidFill>
            </c:spPr>
          </c:dPt>
          <c:dPt>
            <c:idx val="2"/>
            <c:spPr>
              <a:solidFill>
                <a:srgbClr val="FF3B30"/>
              </a:solidFill>
            </c:spPr>
          </c:dPt>
          <c:dPt>
            <c:idx val="3"/>
            <c:spPr>
              <a:solidFill>
                <a:srgbClr val="16A085"/>
              </a:solidFill>
            </c:spPr>
          </c:dPt>
          <c:cat>
            <c:strRef>
              <c:f>Sheet1!$A$2:$A$5</c:f>
              <c:strCache>
                <c:ptCount val="4"/>
                <c:pt idx="0">
                  <c:v>Instagram</c:v>
                </c:pt>
                <c:pt idx="1">
                  <c:v>Facebook</c:v>
                </c:pt>
                <c:pt idx="2">
                  <c:v>YouTube</c:v>
                </c:pt>
                <c:pt idx="3">
                  <c:v>LinkedIn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30563.0</c:v>
                </c:pt>
                <c:pt idx="1">
                  <c:v>73000.0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1">
                <a:solidFill>
                  <a:srgbClr val="D4AF37"/>
                </a:solidFill>
              </a:defRPr>
            </a:pPr>
            <a:r>
              <a:t>SOCIAL MEDIA INTELLIGENCE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</a:defRPr>
            </a:pPr>
            <a:r>
              <a:t>Sunpure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F37"/>
                </a:solidFill>
              </a:defRPr>
            </a:pPr>
            <a:r>
              <a:t>Edible oils and food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D2E6"/>
                </a:solidFill>
              </a:defRPr>
            </a:pPr>
            <a:r>
              <a:t>🌐  https://mysunpure.in/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03320"/>
            <a:ext cx="2651760" cy="45720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6732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📸 Instagram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3703320"/>
            <a:ext cx="2651760" cy="45720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76732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👥 Facebook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89120"/>
            <a:ext cx="3474720" cy="137160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38912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4526280"/>
            <a:ext cx="32918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30563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" y="5212079"/>
            <a:ext cx="3328415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INSTAGRAM FOLLOWERS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389120"/>
            <a:ext cx="3474720" cy="137160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4389120"/>
            <a:ext cx="3474720" cy="54864"/>
          </a:xfrm>
          <a:prstGeom prst="rect">
            <a:avLst/>
          </a:prstGeom>
          <a:solidFill>
            <a:srgbClr val="1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4526280"/>
            <a:ext cx="32918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73000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5212079"/>
            <a:ext cx="3328415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FACEBOOK FOLLOWERS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9" y="4389120"/>
            <a:ext cx="3474720" cy="1371600"/>
          </a:xfrm>
          <a:prstGeom prst="rect">
            <a:avLst/>
          </a:prstGeom>
          <a:solidFill>
            <a:srgbClr val="0E1E3A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9" y="4389120"/>
            <a:ext cx="347472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4526280"/>
            <a:ext cx="32918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1" y="5212079"/>
            <a:ext cx="3328415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YOUTUBE SUBSCRIBERS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C8D2E6"/>
                </a:solidFill>
              </a:defRPr>
            </a:pPr>
            <a:r>
              <a:t>Powered by SearchAPI.io + Claude AI  •  https://mysunpure.in/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Social Media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Sunpure  —  All platforms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Handle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Followers/Subscribers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📸 Instagram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@sunpure_official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30563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ER: 0.05%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Active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👥 Facebook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Sunpure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73000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Rating: 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Active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▶️ YouTube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Videos: 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Active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💼 LinkedIn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Employees: 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Active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F37"/>
                </a:solidFill>
              </a:defRPr>
            </a:pPr>
            <a:r>
              <a:t>OVERALL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Sunpure has a moderate social media presence primarily on Instagram and Facebook, but struggles with very low engagement despite a reasonable follower count. The brand lacks presence on YouTube and LinkedIn, and its profiles are largely incomplete with missing bios, categories, and contact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📸  Instagram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@sunpure_official  —  The Instagram bio is empty, offering no brand description or call to action to visitors.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30563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FOLLOWING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2248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TOTAL POSTS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0.05%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ENGAGEMENT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AVG LIKES/POST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4747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AVG COMMENTS/POST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📸  Instagram 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Content mix from recent 12 posts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65836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406640" y="1188720"/>
            <a:ext cx="4297680" cy="15087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188720"/>
            <a:ext cx="429768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325880"/>
            <a:ext cx="4114800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4 posts (33%)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2093976"/>
            <a:ext cx="4151376" cy="52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926080"/>
            <a:ext cx="4297680" cy="15087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2926080"/>
            <a:ext cx="42976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063240"/>
            <a:ext cx="4114800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1 posts (8%)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3831336"/>
            <a:ext cx="4151376" cy="52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CAROUSELS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4663440"/>
            <a:ext cx="4297680" cy="150876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4663440"/>
            <a:ext cx="429768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4800600"/>
            <a:ext cx="4114800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7 posts (58%)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5568696"/>
            <a:ext cx="4151376" cy="52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VIDEOS/REELS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0807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CC71"/>
                </a:solidFill>
              </a:defRPr>
            </a:pPr>
            <a:r>
              <a:t>💡 Instagram 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00800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High post volume of 2248 posts shows consistent content publishing history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👥  Facebook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Sunpure  —  N/A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1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73000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PAGE FOLLOWERS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FOLLOWING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PAGE RATING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VERIFIED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CATEGORY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474720" cy="54864"/>
          </a:xfrm>
          <a:prstGeom prst="rect">
            <a:avLst/>
          </a:prstGeom>
          <a:solidFill>
            <a:srgbClr val="1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Facebook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👥  Facebook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Page details and strategic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AFF"/>
                </a:solidFill>
              </a:defRPr>
            </a:pPr>
            <a:r>
              <a:t>PAGE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The Facebook page for Sunpure by M.K Agrotech has no about section, address, phone, email, or website listed, leaving the page largely uninformative.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3832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Address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Website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3383280"/>
            <a:ext cx="5394960" cy="100584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AFF"/>
                </a:solidFill>
              </a:defRPr>
            </a:pPr>
            <a:r>
              <a:t>💡 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794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Largest follower base across all active platforms at 73,000 followers, indicating strong brand awareness on Facebook.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3383280"/>
            <a:ext cx="5394960" cy="100584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AF37"/>
                </a:solidFill>
              </a:defRPr>
            </a:pPr>
            <a:r>
              <a:t>🎯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94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Complete the page profile by adding contact details, category, website, and an about section to build trust and improve search visibility.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83280"/>
            <a:ext cx="5394960" cy="100584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AFF"/>
                </a:solidFill>
              </a:defRPr>
            </a:pPr>
            <a:r>
              <a:t>💡 Strength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94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Largest follower base across all active platforms at 73,000 followers, indicating strong brand awareness on Facebook.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617720"/>
            <a:ext cx="5394960" cy="100584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7091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AF37"/>
                </a:solidFill>
              </a:defRPr>
            </a:pPr>
            <a:r>
              <a:t>🎯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029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Complete the page profile by adding contact details, category, website, and an about section to build trust and improve search visibility.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▶️   YouTube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N/A  —  No YouTube presence has been established for the brand.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SUBSCRIBERS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TOTAL VIDEOS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TOTAL 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VERIFIED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JOINED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47472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YouTube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▶️   YouTube Channel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Channel performance and strategic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828800"/>
          </a:xfrm>
          <a:prstGeom prst="rect">
            <a:avLst/>
          </a:prstGeom>
          <a:solidFill>
            <a:srgbClr val="0E1E3A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3B30"/>
                </a:solidFill>
              </a:defRPr>
            </a:pPr>
            <a:r>
              <a:t>CHANNEL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No YouTube presence has been established for the brand.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5486400" cy="1280160"/>
          </a:xfrm>
          <a:prstGeom prst="rect">
            <a:avLst/>
          </a:prstGeom>
          <a:solidFill>
            <a:srgbClr val="0E1E3A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337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3B30"/>
                </a:solidFill>
              </a:defRPr>
            </a:pPr>
            <a:r>
              <a:t>💡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52120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Opportunity exists to build an entirely new audience on a high-traffic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46120"/>
            <a:ext cx="5394960" cy="12801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AF37"/>
                </a:solidFill>
              </a:defRPr>
            </a:pPr>
            <a:r>
              <a:t>🎯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51206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Create a YouTube channel focusing on cooking tutorials, recipe content, and health benefits of their oils to drive product awareness and SEO.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66344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Subscribers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Total Videos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Total Views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Channel Age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63640" y="4663440"/>
            <a:ext cx="5394960" cy="1920240"/>
          </a:xfrm>
          <a:prstGeom prst="rect">
            <a:avLst/>
          </a:prstGeom>
          <a:solidFill>
            <a:srgbClr val="0E1E3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67E22"/>
                </a:solidFill>
              </a:defRPr>
            </a:pPr>
            <a:r>
              <a:t>VIEWS PER VIDEO (EST.)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663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💼  LinkedIn Company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linkedin.com/company/N/A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54864"/>
          </a:xfrm>
          <a:prstGeom prst="rect">
            <a:avLst/>
          </a:prstGeom>
          <a:solidFill>
            <a:srgbClr val="1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EMPLOYEES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2588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LinkedIn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31136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291839" cy="90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Google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91455"/>
            <a:ext cx="3328415" cy="6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DATA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11247120" cy="192024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6A085"/>
                </a:solidFill>
              </a:defRPr>
            </a:pPr>
            <a:r>
              <a:t>COMPANY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114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No LinkedIn presence has been established for the brand.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5486400" cy="8229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6A085"/>
                </a:solidFill>
              </a:defRPr>
            </a:pPr>
            <a:r>
              <a:t>💡 Strength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172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Untapped potential to build B2B credibility and connect with distributors and trade partners.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760720"/>
            <a:ext cx="5394960" cy="8229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8521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AF37"/>
                </a:solidFill>
              </a:defRPr>
            </a:pPr>
            <a:r>
              <a:t>🎯 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172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Create a LinkedIn company page to establish B2B presence, share company milestones, and attract potential business partners and distributors.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💼  LinkedIn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Professional presence and B2B opportunities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Insight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Followers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Professional audience size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Employees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Company scale indicator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Content Focus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B2B &amp; Professional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Key content strategy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Best Post Type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Articles &amp; Updates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Highest LinkedIn engagement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Posting Freq.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2-3x per week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LinkedIn best practice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074920"/>
            <a:ext cx="5486400" cy="15087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663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6A085"/>
                </a:solidFill>
              </a:defRPr>
            </a:pPr>
            <a:r>
              <a:t>💡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486400"/>
            <a:ext cx="52120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Untapped potential to build B2B credibility and connect with distributors and trade partners.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5074920"/>
            <a:ext cx="5394960" cy="15087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1663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AF37"/>
                </a:solidFill>
              </a:defRPr>
            </a:pPr>
            <a:r>
              <a:t>🎯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51206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Create a LinkedIn company page to establish B2B presence, share company milestones, and attract potential business partners and distributors.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📊  Cross-Platform Follower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Audience size across all platforms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092440" y="1188720"/>
            <a:ext cx="365760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2440" y="1188720"/>
            <a:ext cx="36576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25880"/>
            <a:ext cx="3474720" cy="61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30563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1901952"/>
            <a:ext cx="3511296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INSTAGRAM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2606040"/>
            <a:ext cx="365760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2606040"/>
            <a:ext cx="3657600" cy="54864"/>
          </a:xfrm>
          <a:prstGeom prst="rect">
            <a:avLst/>
          </a:prstGeom>
          <a:solidFill>
            <a:srgbClr val="1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743200"/>
            <a:ext cx="3474720" cy="61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73000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3319272"/>
            <a:ext cx="3511296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FACEBOOK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4023360"/>
            <a:ext cx="365760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4023360"/>
            <a:ext cx="36576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160520"/>
            <a:ext cx="3474720" cy="61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4736592"/>
            <a:ext cx="3511296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YOUTUBE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5440680"/>
            <a:ext cx="365760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5440680"/>
            <a:ext cx="365760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5577840"/>
            <a:ext cx="3474720" cy="61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6153912"/>
            <a:ext cx="3511296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8D2E6"/>
                </a:solidFill>
              </a:defRPr>
            </a:pPr>
            <a:r>
              <a:t>LINKEDIN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📈  Engagement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Performance metrics compared to industry standards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50C1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📸 Instagram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Engagement Rate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0.05%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&gt;3% is good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🔴 Low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📸 Instagram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Avg Likes/Post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Varies by niche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📸 Instagram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Avg Comments/Post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&gt;20 is strong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👥 Facebook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Page Followers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73000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Varies by industry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👥 Facebook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Page Rating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&gt;4.0 is good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▶️ YouTube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Subscribers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Varies by niche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▶️ YouTube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Views per Video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See slide 8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&gt;1000 is good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💼 LinkedIn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Followers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Varies by industry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4AF37"/>
                </a:solidFill>
              </a:defRPr>
            </a:pPr>
            <a:r>
              <a:t>💪  Key Strengths &amp;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What's working and what needs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C71"/>
                </a:solidFill>
              </a:defRPr>
            </a:pPr>
            <a:r>
              <a:t>STRONGEST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66928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Facebook performs best with 73,000 followers, giving the brand its widest social media reach.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3B30"/>
                </a:solidFill>
              </a:defRPr>
            </a:pPr>
            <a:r>
              <a:t>NEEDS MOST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39496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Instagram needs the most work due to an extremely low engagement rate of 0.05% despite 30,563 followers and 2248 posts, indicating poor content resonance.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5669280" cy="12801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6A085"/>
                </a:solidFill>
              </a:defRPr>
            </a:pPr>
            <a:r>
              <a:t>🔄 Content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91840"/>
            <a:ext cx="5394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Content consistency across platforms is weak — profiles are incomplete on both Instagram and Facebook, and the brand is entirely absent on YouTube and LinkedIn.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80360"/>
            <a:ext cx="5394960" cy="12801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AF37"/>
                </a:solidFill>
              </a:defRPr>
            </a:pPr>
            <a:r>
              <a:t>🚀 Growth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51206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Launching a YouTube channel with recipe and lifestyle content tied to their edible oil products presents the biggest growth opportunity, driving both organic discovery and cross-platform traffic.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112471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E44AD"/>
                </a:solidFill>
              </a:defRPr>
            </a:pPr>
            <a:r>
              <a:t>OVERALL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Sunpure has a moderate social media presence primarily on Instagram and Facebook, but struggles with very low engagement despite a reasonable follower count. The brand lacks presence on YouTube and LinkedIn, and its profiles are largely incomplete with missing bios, categories, and contact information.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D4AF37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</a:defRPr>
            </a:pPr>
            <a:r>
              <a:t>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0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CC71"/>
                </a:solidFill>
              </a:defRPr>
            </a:pPr>
            <a:r>
              <a:t>📸 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Add a compelling bio with a clear value proposition and website link to improve profile discoverability and first impressions.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548640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1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AFF"/>
                </a:solidFill>
              </a:defRPr>
            </a:pPr>
            <a:r>
              <a:t>👥  Facebook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012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Complete the page profile by adding contact details, category, website, and an about section to build trust and improve search visibility.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48640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3B30"/>
                </a:solidFill>
              </a:defRPr>
            </a:pPr>
            <a:r>
              <a:t>▶️   YouTube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Create a YouTube channel focusing on cooking tutorials, recipe content, and health benefits of their oils to drive product awareness and SEO.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486400" cy="11887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6A085"/>
                </a:solidFill>
              </a:defRPr>
            </a:pPr>
            <a:r>
              <a:t>💼  LinkedIn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1012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Create a LinkedIn company page to establish B2B presence, share company milestones, and attract potential business partners and distributors.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11247120" cy="137160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AF37"/>
                </a:solidFill>
              </a:defRPr>
            </a:pPr>
            <a:r>
              <a:t>🎯  TOP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Prioritize completing all platform profiles with bios, contact info, and website links, then shift focus to improving Instagram engagement quality over posting quantity through interactive and value-driven content.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C8D2E6"/>
                </a:solidFill>
              </a:defRPr>
            </a:pPr>
            <a:r>
              <a:t>Report for Sunpure (https://mysunpure.in/)  •  SearchAPI.io +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