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Posts</c:v>
                </c:pt>
              </c:strCache>
            </c:strRef>
          </c:tx>
          <c:dPt>
            <c:idx val="0"/>
            <c:spPr>
              <a:solidFill>
                <a:srgbClr val="16A085"/>
              </a:solidFill>
            </c:spPr>
          </c:dPt>
          <c:dPt>
            <c:idx val="1"/>
            <c:spPr>
              <a:solidFill>
                <a:srgbClr val="D4AF37"/>
              </a:solidFill>
            </c:spPr>
          </c:dPt>
          <c:dPt>
            <c:idx val="2"/>
            <c:spPr>
              <a:solidFill>
                <a:srgbClr val="8E44AD"/>
              </a:solidFill>
            </c:spPr>
          </c:dPt>
          <c:cat>
            <c:strRef>
              <c:f>Sheet1!$A$2:$A$4</c:f>
              <c:strCache>
                <c:ptCount val="3"/>
                <c:pt idx="0">
                  <c:v>Images</c:v>
                </c:pt>
                <c:pt idx="1">
                  <c:v>Carousels</c:v>
                </c:pt>
                <c:pt idx="2">
                  <c:v>Videos/Reels</c:v>
                </c:pt>
              </c:strCache>
            </c:strRef>
          </c:cat>
          <c:val>
            <c:numRef>
              <c:f>Sheet1!$B$2:$B$4</c:f>
              <c:numCache>
                <c:formatCode>General</c:formatCode>
                <c:ptCount val="3"/>
                <c:pt idx="0">
                  <c:v>7</c:v>
                </c:pt>
                <c:pt idx="1">
                  <c:v>0</c:v>
                </c:pt>
                <c:pt idx="2">
                  <c:v>5</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Followers/Subscribers</c:v>
                </c:pt>
              </c:strCache>
            </c:strRef>
          </c:tx>
          <c:dPt>
            <c:idx val="0"/>
            <c:spPr>
              <a:solidFill>
                <a:srgbClr val="2ECC71"/>
              </a:solidFill>
            </c:spPr>
          </c:dPt>
          <c:dPt>
            <c:idx val="1"/>
            <c:spPr>
              <a:solidFill>
                <a:srgbClr val="1A5AFF"/>
              </a:solidFill>
            </c:spPr>
          </c:dPt>
          <c:dPt>
            <c:idx val="2"/>
            <c:spPr>
              <a:solidFill>
                <a:srgbClr val="FF3B30"/>
              </a:solidFill>
            </c:spPr>
          </c:dPt>
          <c:dPt>
            <c:idx val="3"/>
            <c:spPr>
              <a:solidFill>
                <a:srgbClr val="16A085"/>
              </a:solidFill>
            </c:spPr>
          </c:dPt>
          <c:cat>
            <c:strRef>
              <c:f>Sheet1!$A$2:$A$5</c:f>
              <c:strCache>
                <c:ptCount val="4"/>
                <c:pt idx="0">
                  <c:v>Instagram</c:v>
                </c:pt>
                <c:pt idx="1">
                  <c:v>Facebook</c:v>
                </c:pt>
                <c:pt idx="2">
                  <c:v>YouTube</c:v>
                </c:pt>
                <c:pt idx="3">
                  <c:v>LinkedIn</c:v>
                </c:pt>
              </c:strCache>
            </c:strRef>
          </c:cat>
          <c:val>
            <c:numRef>
              <c:f>Sheet1!$B$2:$B$5</c:f>
              <c:numCache>
                <c:formatCode>General</c:formatCode>
                <c:ptCount val="4"/>
                <c:pt idx="0">
                  <c:v>211.0</c:v>
                </c:pt>
                <c:pt idx="1">
                  <c:v>667.0</c:v>
                </c:pt>
                <c:pt idx="2">
                  <c:v>124.0</c:v>
                </c:pt>
                <c:pt idx="3">
                  <c:v>17111.0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828800"/>
            <a:ext cx="5486400" cy="5486400"/>
          </a:xfrm>
          <a:prstGeom prst="ellipse">
            <a:avLst/>
          </a:prstGeom>
          <a:solidFill>
            <a:srgbClr val="12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9144000" cy="457200"/>
          </a:xfrm>
          <a:prstGeom prst="rect">
            <a:avLst/>
          </a:prstGeom>
          <a:noFill/>
        </p:spPr>
        <p:txBody>
          <a:bodyPr wrap="square">
            <a:spAutoFit/>
          </a:bodyPr>
          <a:lstStyle/>
          <a:p>
            <a:pPr algn="l">
              <a:defRPr sz="1200" b="1" i="1">
                <a:solidFill>
                  <a:srgbClr val="D4AF37"/>
                </a:solidFill>
              </a:defRPr>
            </a:pPr>
            <a:r>
              <a:t>SOCIAL MEDIA INTELLIGENCE REPORT</a:t>
            </a:r>
          </a:p>
        </p:txBody>
      </p:sp>
      <p:sp>
        <p:nvSpPr>
          <p:cNvPr id="5" name="TextBox 4"/>
          <p:cNvSpPr txBox="1"/>
          <p:nvPr/>
        </p:nvSpPr>
        <p:spPr>
          <a:xfrm>
            <a:off x="640080" y="1600200"/>
            <a:ext cx="9144000" cy="1005840"/>
          </a:xfrm>
          <a:prstGeom prst="rect">
            <a:avLst/>
          </a:prstGeom>
          <a:noFill/>
        </p:spPr>
        <p:txBody>
          <a:bodyPr wrap="square">
            <a:spAutoFit/>
          </a:bodyPr>
          <a:lstStyle/>
          <a:p>
            <a:pPr algn="l">
              <a:defRPr sz="4200" b="1" i="0">
                <a:solidFill>
                  <a:srgbClr val="FFFFFF"/>
                </a:solidFill>
              </a:defRPr>
            </a:pPr>
            <a:r>
              <a:t>eReleGo Technologies Pvt Ltd</a:t>
            </a:r>
          </a:p>
        </p:txBody>
      </p:sp>
      <p:sp>
        <p:nvSpPr>
          <p:cNvPr id="6" name="TextBox 5"/>
          <p:cNvSpPr txBox="1"/>
          <p:nvPr/>
        </p:nvSpPr>
        <p:spPr>
          <a:xfrm>
            <a:off x="640080" y="2606040"/>
            <a:ext cx="8229600" cy="411480"/>
          </a:xfrm>
          <a:prstGeom prst="rect">
            <a:avLst/>
          </a:prstGeom>
          <a:noFill/>
        </p:spPr>
        <p:txBody>
          <a:bodyPr wrap="square">
            <a:spAutoFit/>
          </a:bodyPr>
          <a:lstStyle/>
          <a:p>
            <a:pPr algn="l">
              <a:defRPr sz="1600" b="0" i="1">
                <a:solidFill>
                  <a:srgbClr val="D4AF37"/>
                </a:solidFill>
              </a:defRPr>
            </a:pPr>
            <a:r>
              <a:t>IT Services and Technology Consulting</a:t>
            </a:r>
          </a:p>
        </p:txBody>
      </p:sp>
      <p:sp>
        <p:nvSpPr>
          <p:cNvPr id="7" name="TextBox 6"/>
          <p:cNvSpPr txBox="1"/>
          <p:nvPr/>
        </p:nvSpPr>
        <p:spPr>
          <a:xfrm>
            <a:off x="640080" y="3108960"/>
            <a:ext cx="8229600" cy="365760"/>
          </a:xfrm>
          <a:prstGeom prst="rect">
            <a:avLst/>
          </a:prstGeom>
          <a:noFill/>
        </p:spPr>
        <p:txBody>
          <a:bodyPr wrap="square">
            <a:spAutoFit/>
          </a:bodyPr>
          <a:lstStyle/>
          <a:p>
            <a:pPr algn="l">
              <a:defRPr sz="1300" b="0" i="0">
                <a:solidFill>
                  <a:srgbClr val="C8D2E6"/>
                </a:solidFill>
              </a:defRPr>
            </a:pPr>
            <a:r>
              <a:t>🌐  https://erelego.com/</a:t>
            </a:r>
          </a:p>
        </p:txBody>
      </p:sp>
      <p:sp>
        <p:nvSpPr>
          <p:cNvPr id="8" name="Rectangle 7"/>
          <p:cNvSpPr/>
          <p:nvPr/>
        </p:nvSpPr>
        <p:spPr>
          <a:xfrm>
            <a:off x="640080" y="3703320"/>
            <a:ext cx="2651760" cy="4572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67328"/>
            <a:ext cx="2377440" cy="329184"/>
          </a:xfrm>
          <a:prstGeom prst="rect">
            <a:avLst/>
          </a:prstGeom>
          <a:noFill/>
        </p:spPr>
        <p:txBody>
          <a:bodyPr wrap="square">
            <a:spAutoFit/>
          </a:bodyPr>
          <a:lstStyle/>
          <a:p>
            <a:pPr algn="l">
              <a:defRPr sz="1300" b="1" i="0">
                <a:solidFill>
                  <a:srgbClr val="FFFFFF"/>
                </a:solidFill>
              </a:defRPr>
            </a:pPr>
            <a:r>
              <a:t>📸 Instagram</a:t>
            </a:r>
          </a:p>
        </p:txBody>
      </p:sp>
      <p:sp>
        <p:nvSpPr>
          <p:cNvPr id="10" name="Rectangle 9"/>
          <p:cNvSpPr/>
          <p:nvPr/>
        </p:nvSpPr>
        <p:spPr>
          <a:xfrm>
            <a:off x="3520439" y="3703320"/>
            <a:ext cx="2651760" cy="45720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3767328"/>
            <a:ext cx="2377440" cy="329184"/>
          </a:xfrm>
          <a:prstGeom prst="rect">
            <a:avLst/>
          </a:prstGeom>
          <a:noFill/>
        </p:spPr>
        <p:txBody>
          <a:bodyPr wrap="square">
            <a:spAutoFit/>
          </a:bodyPr>
          <a:lstStyle/>
          <a:p>
            <a:pPr algn="l">
              <a:defRPr sz="1300" b="1" i="0">
                <a:solidFill>
                  <a:srgbClr val="FFFFFF"/>
                </a:solidFill>
              </a:defRPr>
            </a:pPr>
            <a:r>
              <a:t>👥 Facebook</a:t>
            </a:r>
          </a:p>
        </p:txBody>
      </p:sp>
      <p:sp>
        <p:nvSpPr>
          <p:cNvPr id="12" name="Rectangle 11"/>
          <p:cNvSpPr/>
          <p:nvPr/>
        </p:nvSpPr>
        <p:spPr>
          <a:xfrm>
            <a:off x="6400800" y="3703320"/>
            <a:ext cx="2651760" cy="4572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3767328"/>
            <a:ext cx="2377440" cy="329184"/>
          </a:xfrm>
          <a:prstGeom prst="rect">
            <a:avLst/>
          </a:prstGeom>
          <a:noFill/>
        </p:spPr>
        <p:txBody>
          <a:bodyPr wrap="square">
            <a:spAutoFit/>
          </a:bodyPr>
          <a:lstStyle/>
          <a:p>
            <a:pPr algn="l">
              <a:defRPr sz="1300" b="1" i="0">
                <a:solidFill>
                  <a:srgbClr val="FFFFFF"/>
                </a:solidFill>
              </a:defRPr>
            </a:pPr>
            <a:r>
              <a:t>▶️  YouTube</a:t>
            </a:r>
          </a:p>
        </p:txBody>
      </p:sp>
      <p:sp>
        <p:nvSpPr>
          <p:cNvPr id="14" name="Rectangle 13"/>
          <p:cNvSpPr/>
          <p:nvPr/>
        </p:nvSpPr>
        <p:spPr>
          <a:xfrm>
            <a:off x="9281159" y="3703320"/>
            <a:ext cx="2651760" cy="45720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19" y="3767328"/>
            <a:ext cx="2377440" cy="329184"/>
          </a:xfrm>
          <a:prstGeom prst="rect">
            <a:avLst/>
          </a:prstGeom>
          <a:noFill/>
        </p:spPr>
        <p:txBody>
          <a:bodyPr wrap="square">
            <a:spAutoFit/>
          </a:bodyPr>
          <a:lstStyle/>
          <a:p>
            <a:pPr algn="l">
              <a:defRPr sz="1300" b="1" i="0">
                <a:solidFill>
                  <a:srgbClr val="FFFFFF"/>
                </a:solidFill>
              </a:defRPr>
            </a:pPr>
            <a:r>
              <a:t>💼 LinkedIn</a:t>
            </a:r>
          </a:p>
        </p:txBody>
      </p:sp>
      <p:sp>
        <p:nvSpPr>
          <p:cNvPr id="16" name="Rectangle 15"/>
          <p:cNvSpPr/>
          <p:nvPr/>
        </p:nvSpPr>
        <p:spPr>
          <a:xfrm>
            <a:off x="640080" y="4389120"/>
            <a:ext cx="3474720" cy="13716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389120"/>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19" y="4526280"/>
            <a:ext cx="3291839" cy="713232"/>
          </a:xfrm>
          <a:prstGeom prst="rect">
            <a:avLst/>
          </a:prstGeom>
          <a:noFill/>
        </p:spPr>
        <p:txBody>
          <a:bodyPr wrap="square">
            <a:spAutoFit/>
          </a:bodyPr>
          <a:lstStyle/>
          <a:p>
            <a:pPr algn="ctr">
              <a:defRPr sz="2200" b="1" i="0">
                <a:solidFill>
                  <a:srgbClr val="FFFFFF"/>
                </a:solidFill>
              </a:defRPr>
            </a:pPr>
            <a:r>
              <a:t>211</a:t>
            </a:r>
          </a:p>
        </p:txBody>
      </p:sp>
      <p:sp>
        <p:nvSpPr>
          <p:cNvPr id="19" name="TextBox 18"/>
          <p:cNvSpPr txBox="1"/>
          <p:nvPr/>
        </p:nvSpPr>
        <p:spPr>
          <a:xfrm>
            <a:off x="713231" y="5212079"/>
            <a:ext cx="3328415" cy="480059"/>
          </a:xfrm>
          <a:prstGeom prst="rect">
            <a:avLst/>
          </a:prstGeom>
          <a:noFill/>
        </p:spPr>
        <p:txBody>
          <a:bodyPr wrap="square">
            <a:spAutoFit/>
          </a:bodyPr>
          <a:lstStyle/>
          <a:p>
            <a:pPr algn="ctr">
              <a:defRPr sz="1000" b="0" i="0">
                <a:solidFill>
                  <a:srgbClr val="C8D2E6"/>
                </a:solidFill>
              </a:defRPr>
            </a:pPr>
            <a:r>
              <a:t>INSTAGRAM FOLLOWERS</a:t>
            </a:r>
          </a:p>
        </p:txBody>
      </p:sp>
      <p:sp>
        <p:nvSpPr>
          <p:cNvPr id="20" name="Rectangle 19"/>
          <p:cNvSpPr/>
          <p:nvPr/>
        </p:nvSpPr>
        <p:spPr>
          <a:xfrm>
            <a:off x="4389120" y="4389120"/>
            <a:ext cx="3474720" cy="137160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0" y="43891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526280"/>
            <a:ext cx="3291839" cy="713232"/>
          </a:xfrm>
          <a:prstGeom prst="rect">
            <a:avLst/>
          </a:prstGeom>
          <a:noFill/>
        </p:spPr>
        <p:txBody>
          <a:bodyPr wrap="square">
            <a:spAutoFit/>
          </a:bodyPr>
          <a:lstStyle/>
          <a:p>
            <a:pPr algn="ctr">
              <a:defRPr sz="2200" b="1" i="0">
                <a:solidFill>
                  <a:srgbClr val="FFFFFF"/>
                </a:solidFill>
              </a:defRPr>
            </a:pPr>
            <a:r>
              <a:t>667</a:t>
            </a:r>
          </a:p>
        </p:txBody>
      </p:sp>
      <p:sp>
        <p:nvSpPr>
          <p:cNvPr id="23" name="TextBox 22"/>
          <p:cNvSpPr txBox="1"/>
          <p:nvPr/>
        </p:nvSpPr>
        <p:spPr>
          <a:xfrm>
            <a:off x="4462272" y="5212079"/>
            <a:ext cx="3328415" cy="480059"/>
          </a:xfrm>
          <a:prstGeom prst="rect">
            <a:avLst/>
          </a:prstGeom>
          <a:noFill/>
        </p:spPr>
        <p:txBody>
          <a:bodyPr wrap="square">
            <a:spAutoFit/>
          </a:bodyPr>
          <a:lstStyle/>
          <a:p>
            <a:pPr algn="ctr">
              <a:defRPr sz="1000" b="0" i="0">
                <a:solidFill>
                  <a:srgbClr val="C8D2E6"/>
                </a:solidFill>
              </a:defRPr>
            </a:pPr>
            <a:r>
              <a:t>FACEBOOK FOLLOWERS</a:t>
            </a:r>
          </a:p>
        </p:txBody>
      </p:sp>
      <p:sp>
        <p:nvSpPr>
          <p:cNvPr id="24" name="Rectangle 23"/>
          <p:cNvSpPr/>
          <p:nvPr/>
        </p:nvSpPr>
        <p:spPr>
          <a:xfrm>
            <a:off x="8138159" y="4389120"/>
            <a:ext cx="3474720" cy="13716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59" y="4389120"/>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526280"/>
            <a:ext cx="3291839" cy="713232"/>
          </a:xfrm>
          <a:prstGeom prst="rect">
            <a:avLst/>
          </a:prstGeom>
          <a:noFill/>
        </p:spPr>
        <p:txBody>
          <a:bodyPr wrap="square">
            <a:spAutoFit/>
          </a:bodyPr>
          <a:lstStyle/>
          <a:p>
            <a:pPr algn="ctr">
              <a:defRPr sz="2200" b="1" i="0">
                <a:solidFill>
                  <a:srgbClr val="FFFFFF"/>
                </a:solidFill>
              </a:defRPr>
            </a:pPr>
            <a:r>
              <a:t>124</a:t>
            </a:r>
          </a:p>
        </p:txBody>
      </p:sp>
      <p:sp>
        <p:nvSpPr>
          <p:cNvPr id="27" name="TextBox 26"/>
          <p:cNvSpPr txBox="1"/>
          <p:nvPr/>
        </p:nvSpPr>
        <p:spPr>
          <a:xfrm>
            <a:off x="8211311" y="5212079"/>
            <a:ext cx="3328415" cy="480059"/>
          </a:xfrm>
          <a:prstGeom prst="rect">
            <a:avLst/>
          </a:prstGeom>
          <a:noFill/>
        </p:spPr>
        <p:txBody>
          <a:bodyPr wrap="square">
            <a:spAutoFit/>
          </a:bodyPr>
          <a:lstStyle/>
          <a:p>
            <a:pPr algn="ctr">
              <a:defRPr sz="1000" b="0" i="0">
                <a:solidFill>
                  <a:srgbClr val="C8D2E6"/>
                </a:solidFill>
              </a:defRPr>
            </a:pPr>
            <a:r>
              <a:t>YOUTUBE SUBSCRIBERS</a:t>
            </a:r>
          </a:p>
        </p:txBody>
      </p:sp>
      <p:sp>
        <p:nvSpPr>
          <p:cNvPr id="28" name="TextBox 27"/>
          <p:cNvSpPr txBox="1"/>
          <p:nvPr/>
        </p:nvSpPr>
        <p:spPr>
          <a:xfrm>
            <a:off x="640080" y="6492240"/>
            <a:ext cx="10972800" cy="274320"/>
          </a:xfrm>
          <a:prstGeom prst="rect">
            <a:avLst/>
          </a:prstGeom>
          <a:noFill/>
        </p:spPr>
        <p:txBody>
          <a:bodyPr wrap="square">
            <a:spAutoFit/>
          </a:bodyPr>
          <a:lstStyle/>
          <a:p>
            <a:pPr algn="ctr">
              <a:defRPr sz="1000" b="0" i="1">
                <a:solidFill>
                  <a:srgbClr val="C8D2E6"/>
                </a:solidFill>
              </a:defRPr>
            </a:pPr>
            <a:r>
              <a:t>Powered by SearchAPI.io + Claude AI  •  https://erelego.com/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Social Media Overview</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eReleGo Technologies Pvt Ltd  —  All platforms at a glance</a:t>
            </a:r>
          </a:p>
        </p:txBody>
      </p:sp>
      <p:graphicFrame>
        <p:nvGraphicFramePr>
          <p:cNvPr id="5" name="Table 4"/>
          <p:cNvGraphicFramePr>
            <a:graphicFrameLocks noGrp="1"/>
          </p:cNvGraphicFramePr>
          <p:nvPr/>
        </p:nvGraphicFramePr>
        <p:xfrm>
          <a:off x="457200" y="1188720"/>
          <a:ext cx="11247120" cy="320040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640080">
                <a:tc>
                  <a:txBody>
                    <a:bodyPr/>
                    <a:lstStyle/>
                    <a:p>
                      <a:pPr algn="ctr">
                        <a:defRPr b="1" sz="1200">
                          <a:solidFill>
                            <a:srgbClr val="050C1A"/>
                          </a:solidFill>
                        </a:defRPr>
                      </a:pPr>
                      <a:r>
                        <a:t>Platform</a:t>
                      </a:r>
                    </a:p>
                  </a:txBody>
                  <a:tcPr>
                    <a:solidFill>
                      <a:srgbClr val="D4AF37"/>
                    </a:solidFill>
                  </a:tcPr>
                </a:tc>
                <a:tc>
                  <a:txBody>
                    <a:bodyPr/>
                    <a:lstStyle/>
                    <a:p>
                      <a:pPr algn="ctr">
                        <a:defRPr b="1" sz="1200">
                          <a:solidFill>
                            <a:srgbClr val="050C1A"/>
                          </a:solidFill>
                        </a:defRPr>
                      </a:pPr>
                      <a:r>
                        <a:t>Handle</a:t>
                      </a:r>
                    </a:p>
                  </a:txBody>
                  <a:tcPr>
                    <a:solidFill>
                      <a:srgbClr val="D4AF37"/>
                    </a:solidFill>
                  </a:tcPr>
                </a:tc>
                <a:tc>
                  <a:txBody>
                    <a:bodyPr/>
                    <a:lstStyle/>
                    <a:p>
                      <a:pPr algn="ctr">
                        <a:defRPr b="1" sz="1200">
                          <a:solidFill>
                            <a:srgbClr val="050C1A"/>
                          </a:solidFill>
                        </a:defRPr>
                      </a:pPr>
                      <a:r>
                        <a:t>Followers/Subscribers</a:t>
                      </a:r>
                    </a:p>
                  </a:txBody>
                  <a:tcPr>
                    <a:solidFill>
                      <a:srgbClr val="D4AF37"/>
                    </a:solidFill>
                  </a:tcPr>
                </a:tc>
                <a:tc>
                  <a:txBody>
                    <a:bodyPr/>
                    <a:lstStyle/>
                    <a:p>
                      <a:pPr algn="ctr">
                        <a:defRPr b="1" sz="1200">
                          <a:solidFill>
                            <a:srgbClr val="050C1A"/>
                          </a:solidFill>
                        </a:defRPr>
                      </a:pPr>
                      <a:r>
                        <a:t>Key Metric</a:t>
                      </a:r>
                    </a:p>
                  </a:txBody>
                  <a:tcPr>
                    <a:solidFill>
                      <a:srgbClr val="D4AF37"/>
                    </a:solidFill>
                  </a:tcPr>
                </a:tc>
                <a:tc>
                  <a:txBody>
                    <a:bodyPr/>
                    <a:lstStyle/>
                    <a:p>
                      <a:pPr algn="ctr">
                        <a:defRPr b="1" sz="1200">
                          <a:solidFill>
                            <a:srgbClr val="050C1A"/>
                          </a:solidFill>
                        </a:defRPr>
                      </a:pPr>
                      <a:r>
                        <a:t>Status</a:t>
                      </a:r>
                    </a:p>
                  </a:txBody>
                  <a:tcPr>
                    <a:solidFill>
                      <a:srgbClr val="D4AF37"/>
                    </a:solidFill>
                  </a:tcPr>
                </a:tc>
              </a:tr>
              <a:tr h="6400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@erelego_technologies</a:t>
                      </a:r>
                    </a:p>
                  </a:txBody>
                  <a:tcPr>
                    <a:solidFill>
                      <a:srgbClr val="0E1E3A"/>
                    </a:solidFill>
                  </a:tcPr>
                </a:tc>
                <a:tc>
                  <a:txBody>
                    <a:bodyPr/>
                    <a:lstStyle/>
                    <a:p>
                      <a:pPr algn="ctr">
                        <a:defRPr sz="1100">
                          <a:solidFill>
                            <a:srgbClr val="FFFFFF"/>
                          </a:solidFill>
                        </a:defRPr>
                      </a:pPr>
                      <a:r>
                        <a:t>211</a:t>
                      </a:r>
                    </a:p>
                  </a:txBody>
                  <a:tcPr>
                    <a:solidFill>
                      <a:srgbClr val="0E1E3A"/>
                    </a:solidFill>
                  </a:tcPr>
                </a:tc>
                <a:tc>
                  <a:txBody>
                    <a:bodyPr/>
                    <a:lstStyle/>
                    <a:p>
                      <a:pPr algn="ctr">
                        <a:defRPr sz="1100">
                          <a:solidFill>
                            <a:srgbClr val="FFFFFF"/>
                          </a:solidFill>
                        </a:defRPr>
                      </a:pPr>
                      <a:r>
                        <a:t>ER: 8.49%</a:t>
                      </a:r>
                    </a:p>
                  </a:txBody>
                  <a:tcPr>
                    <a:solidFill>
                      <a:srgbClr val="0E1E3A"/>
                    </a:solidFill>
                  </a:tcPr>
                </a:tc>
                <a:tc>
                  <a:txBody>
                    <a:bodyPr/>
                    <a:lstStyle/>
                    <a:p>
                      <a:pPr algn="ctr">
                        <a:defRPr sz="1100">
                          <a:solidFill>
                            <a:srgbClr val="FFFFFF"/>
                          </a:solidFill>
                        </a:defRPr>
                      </a:pPr>
                      <a:r>
                        <a:t>✅ Active</a:t>
                      </a:r>
                    </a:p>
                  </a:txBody>
                  <a:tcPr>
                    <a:solidFill>
                      <a:srgbClr val="0E1E3A"/>
                    </a:solidFill>
                  </a:tcPr>
                </a:tc>
              </a:tr>
              <a:tr h="640080">
                <a:tc>
                  <a:txBody>
                    <a:bodyPr/>
                    <a:lstStyle/>
                    <a:p>
                      <a:pPr algn="ctr">
                        <a:defRPr sz="1100">
                          <a:solidFill>
                            <a:srgbClr val="FFFFFF"/>
                          </a:solidFill>
                        </a:defRPr>
                      </a:pPr>
                      <a:r>
                        <a:t>👥 Facebook</a:t>
                      </a:r>
                    </a:p>
                  </a:txBody>
                  <a:tcPr>
                    <a:solidFill>
                      <a:srgbClr val="050C1A"/>
                    </a:solidFill>
                  </a:tcPr>
                </a:tc>
                <a:tc>
                  <a:txBody>
                    <a:bodyPr/>
                    <a:lstStyle/>
                    <a:p>
                      <a:pPr algn="ctr">
                        <a:defRPr sz="1100">
                          <a:solidFill>
                            <a:srgbClr val="FFFFFF"/>
                          </a:solidFill>
                        </a:defRPr>
                      </a:pPr>
                      <a:r>
                        <a:t>erelego</a:t>
                      </a:r>
                    </a:p>
                  </a:txBody>
                  <a:tcPr>
                    <a:solidFill>
                      <a:srgbClr val="050C1A"/>
                    </a:solidFill>
                  </a:tcPr>
                </a:tc>
                <a:tc>
                  <a:txBody>
                    <a:bodyPr/>
                    <a:lstStyle/>
                    <a:p>
                      <a:pPr algn="ctr">
                        <a:defRPr sz="1100">
                          <a:solidFill>
                            <a:srgbClr val="FFFFFF"/>
                          </a:solidFill>
                        </a:defRPr>
                      </a:pPr>
                      <a:r>
                        <a:t>667</a:t>
                      </a:r>
                    </a:p>
                  </a:txBody>
                  <a:tcPr>
                    <a:solidFill>
                      <a:srgbClr val="050C1A"/>
                    </a:solidFill>
                  </a:tcPr>
                </a:tc>
                <a:tc>
                  <a:txBody>
                    <a:bodyPr/>
                    <a:lstStyle/>
                    <a:p>
                      <a:pPr algn="ctr">
                        <a:defRPr sz="1100">
                          <a:solidFill>
                            <a:srgbClr val="FFFFFF"/>
                          </a:solidFill>
                        </a:defRPr>
                      </a:pPr>
                      <a:r>
                        <a:t>Rating: N/A</a:t>
                      </a:r>
                    </a:p>
                  </a:txBody>
                  <a:tcPr>
                    <a:solidFill>
                      <a:srgbClr val="050C1A"/>
                    </a:solidFill>
                  </a:tcPr>
                </a:tc>
                <a:tc>
                  <a:txBody>
                    <a:bodyPr/>
                    <a:lstStyle/>
                    <a:p>
                      <a:pPr algn="ctr">
                        <a:defRPr sz="1100">
                          <a:solidFill>
                            <a:srgbClr val="FFFFFF"/>
                          </a:solidFill>
                        </a:defRPr>
                      </a:pPr>
                      <a:r>
                        <a:t>✅ Active</a:t>
                      </a:r>
                    </a:p>
                  </a:txBody>
                  <a:tcPr>
                    <a:solidFill>
                      <a:srgbClr val="050C1A"/>
                    </a:solidFill>
                  </a:tcPr>
                </a:tc>
              </a:tr>
              <a:tr h="640080">
                <a:tc>
                  <a:txBody>
                    <a:bodyPr/>
                    <a:lstStyle/>
                    <a:p>
                      <a:pPr algn="ctr">
                        <a:defRPr sz="1100">
                          <a:solidFill>
                            <a:srgbClr val="FFFFFF"/>
                          </a:solidFill>
                        </a:defRPr>
                      </a:pPr>
                      <a:r>
                        <a:t>▶️ YouTube</a:t>
                      </a:r>
                    </a:p>
                  </a:txBody>
                  <a:tcPr>
                    <a:solidFill>
                      <a:srgbClr val="0E1E3A"/>
                    </a:solidFill>
                  </a:tcPr>
                </a:tc>
                <a:tc>
                  <a:txBody>
                    <a:bodyPr/>
                    <a:lstStyle/>
                    <a:p>
                      <a:pPr algn="ctr">
                        <a:defRPr sz="1100">
                          <a:solidFill>
                            <a:srgbClr val="FFFFFF"/>
                          </a:solidFill>
                        </a:defRPr>
                      </a:pPr>
                      <a:r>
                        <a:t>@erelego</a:t>
                      </a:r>
                    </a:p>
                  </a:txBody>
                  <a:tcPr>
                    <a:solidFill>
                      <a:srgbClr val="0E1E3A"/>
                    </a:solidFill>
                  </a:tcPr>
                </a:tc>
                <a:tc>
                  <a:txBody>
                    <a:bodyPr/>
                    <a:lstStyle/>
                    <a:p>
                      <a:pPr algn="ctr">
                        <a:defRPr sz="1100">
                          <a:solidFill>
                            <a:srgbClr val="FFFFFF"/>
                          </a:solidFill>
                        </a:defRPr>
                      </a:pPr>
                      <a:r>
                        <a:t>124</a:t>
                      </a:r>
                    </a:p>
                  </a:txBody>
                  <a:tcPr>
                    <a:solidFill>
                      <a:srgbClr val="0E1E3A"/>
                    </a:solidFill>
                  </a:tcPr>
                </a:tc>
                <a:tc>
                  <a:txBody>
                    <a:bodyPr/>
                    <a:lstStyle/>
                    <a:p>
                      <a:pPr algn="ctr">
                        <a:defRPr sz="1100">
                          <a:solidFill>
                            <a:srgbClr val="FFFFFF"/>
                          </a:solidFill>
                        </a:defRPr>
                      </a:pPr>
                      <a:r>
                        <a:t>Videos: 71</a:t>
                      </a:r>
                    </a:p>
                  </a:txBody>
                  <a:tcPr>
                    <a:solidFill>
                      <a:srgbClr val="0E1E3A"/>
                    </a:solidFill>
                  </a:tcPr>
                </a:tc>
                <a:tc>
                  <a:txBody>
                    <a:bodyPr/>
                    <a:lstStyle/>
                    <a:p>
                      <a:pPr algn="ctr">
                        <a:defRPr sz="1100">
                          <a:solidFill>
                            <a:srgbClr val="FFFFFF"/>
                          </a:solidFill>
                        </a:defRPr>
                      </a:pPr>
                      <a:r>
                        <a:t>✅ Active</a:t>
                      </a:r>
                    </a:p>
                  </a:txBody>
                  <a:tcPr>
                    <a:solidFill>
                      <a:srgbClr val="0E1E3A"/>
                    </a:solidFill>
                  </a:tcPr>
                </a:tc>
              </a:tr>
              <a:tr h="640080">
                <a:tc>
                  <a:txBody>
                    <a:bodyPr/>
                    <a:lstStyle/>
                    <a:p>
                      <a:pPr algn="ctr">
                        <a:defRPr sz="1100">
                          <a:solidFill>
                            <a:srgbClr val="FFFFFF"/>
                          </a:solidFill>
                        </a:defRPr>
                      </a:pPr>
                      <a:r>
                        <a:t>💼 LinkedIn</a:t>
                      </a:r>
                    </a:p>
                  </a:txBody>
                  <a:tcPr>
                    <a:solidFill>
                      <a:srgbClr val="050C1A"/>
                    </a:solidFill>
                  </a:tcPr>
                </a:tc>
                <a:tc>
                  <a:txBody>
                    <a:bodyPr/>
                    <a:lstStyle/>
                    <a:p>
                      <a:pPr algn="ctr">
                        <a:defRPr sz="1100">
                          <a:solidFill>
                            <a:srgbClr val="FFFFFF"/>
                          </a:solidFill>
                        </a:defRPr>
                      </a:pPr>
                      <a:r>
                        <a:t>erelego-technologies-pvt-ltd</a:t>
                      </a:r>
                    </a:p>
                  </a:txBody>
                  <a:tcPr>
                    <a:solidFill>
                      <a:srgbClr val="050C1A"/>
                    </a:solidFill>
                  </a:tcPr>
                </a:tc>
                <a:tc>
                  <a:txBody>
                    <a:bodyPr/>
                    <a:lstStyle/>
                    <a:p>
                      <a:pPr algn="ctr">
                        <a:defRPr sz="1100">
                          <a:solidFill>
                            <a:srgbClr val="FFFFFF"/>
                          </a:solidFill>
                        </a:defRPr>
                      </a:pPr>
                      <a:r>
                        <a:t>17,111</a:t>
                      </a:r>
                    </a:p>
                  </a:txBody>
                  <a:tcPr>
                    <a:solidFill>
                      <a:srgbClr val="050C1A"/>
                    </a:solidFill>
                  </a:tcPr>
                </a:tc>
                <a:tc>
                  <a:txBody>
                    <a:bodyPr/>
                    <a:lstStyle/>
                    <a:p>
                      <a:pPr algn="ctr">
                        <a:defRPr sz="1100">
                          <a:solidFill>
                            <a:srgbClr val="FFFFFF"/>
                          </a:solidFill>
                        </a:defRPr>
                      </a:pPr>
                      <a:r>
                        <a:t>Employees: N/A</a:t>
                      </a:r>
                    </a:p>
                  </a:txBody>
                  <a:tcPr>
                    <a:solidFill>
                      <a:srgbClr val="050C1A"/>
                    </a:solidFill>
                  </a:tcPr>
                </a:tc>
                <a:tc>
                  <a:txBody>
                    <a:bodyPr/>
                    <a:lstStyle/>
                    <a:p>
                      <a:pPr algn="ctr">
                        <a:defRPr sz="1100">
                          <a:solidFill>
                            <a:srgbClr val="FFFFFF"/>
                          </a:solidFill>
                        </a:defRPr>
                      </a:pPr>
                      <a:r>
                        <a:t>✅ Active</a:t>
                      </a:r>
                    </a:p>
                  </a:txBody>
                  <a:tcPr>
                    <a:solidFill>
                      <a:srgbClr val="050C1A"/>
                    </a:solidFill>
                  </a:tcPr>
                </a:tc>
              </a:tr>
            </a:tbl>
          </a:graphicData>
        </a:graphic>
      </p:graphicFrame>
      <p:sp>
        <p:nvSpPr>
          <p:cNvPr id="6" name="Rectangle 5"/>
          <p:cNvSpPr/>
          <p:nvPr/>
        </p:nvSpPr>
        <p:spPr>
          <a:xfrm>
            <a:off x="457200" y="4663440"/>
            <a:ext cx="11247120" cy="164592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754880"/>
            <a:ext cx="4572000" cy="320040"/>
          </a:xfrm>
          <a:prstGeom prst="rect">
            <a:avLst/>
          </a:prstGeom>
          <a:noFill/>
        </p:spPr>
        <p:txBody>
          <a:bodyPr wrap="square">
            <a:spAutoFit/>
          </a:bodyPr>
          <a:lstStyle/>
          <a:p>
            <a:pPr algn="l">
              <a:defRPr sz="1100" b="1" i="0">
                <a:solidFill>
                  <a:srgbClr val="D4AF37"/>
                </a:solidFill>
              </a:defRPr>
            </a:pPr>
            <a:r>
              <a:t>OVERALL ANALYSIS</a:t>
            </a:r>
          </a:p>
        </p:txBody>
      </p:sp>
      <p:sp>
        <p:nvSpPr>
          <p:cNvPr id="8" name="TextBox 7"/>
          <p:cNvSpPr txBox="1"/>
          <p:nvPr/>
        </p:nvSpPr>
        <p:spPr>
          <a:xfrm>
            <a:off x="685800" y="5120640"/>
            <a:ext cx="10789920" cy="1005840"/>
          </a:xfrm>
          <a:prstGeom prst="rect">
            <a:avLst/>
          </a:prstGeom>
          <a:noFill/>
        </p:spPr>
        <p:txBody>
          <a:bodyPr wrap="square">
            <a:spAutoFit/>
          </a:bodyPr>
          <a:lstStyle/>
          <a:p>
            <a:pPr algn="l">
              <a:defRPr sz="1300" b="0" i="0">
                <a:solidFill>
                  <a:srgbClr val="FFFFFF"/>
                </a:solidFill>
              </a:defRPr>
            </a:pPr>
            <a:r>
              <a:t>eReleGo Technologies has a fragmented social media presence with significant variation in follower counts across platforms, most notably a strong LinkedIn following of 17,111 compared to much smaller audiences on Instagram, Facebook, and YouTube. The brand appears to invest minimally in profile optimization, with missing bios, about sections, and contact details across multiple platforms. Their highest engagement is on Instagram with an 8.49% engagement rate, though the absolute numbers remain low due to a small follower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Instagram Profile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@erelego_technologies  —  The Instagram profile currently has no bio, missing an opportunity to communicate the brand's value proposition to potential followers.</a:t>
            </a:r>
          </a:p>
        </p:txBody>
      </p:sp>
      <p:sp>
        <p:nvSpPr>
          <p:cNvPr id="5" name="Rectangle 4"/>
          <p:cNvSpPr/>
          <p:nvPr/>
        </p:nvSpPr>
        <p:spPr>
          <a:xfrm>
            <a:off x="457200" y="1188720"/>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211</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FOLLOWERS</a:t>
            </a:r>
          </a:p>
        </p:txBody>
      </p:sp>
      <p:sp>
        <p:nvSpPr>
          <p:cNvPr id="9" name="Rectangle 8"/>
          <p:cNvSpPr/>
          <p:nvPr/>
        </p:nvSpPr>
        <p:spPr>
          <a:xfrm>
            <a:off x="429768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3</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FOLLOWING</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566</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TOTAL POSTS</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8.49%</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ENGAGEMENT RATE</a:t>
            </a:r>
          </a:p>
        </p:txBody>
      </p:sp>
      <p:sp>
        <p:nvSpPr>
          <p:cNvPr id="21" name="Rectangle 20"/>
          <p:cNvSpPr/>
          <p:nvPr/>
        </p:nvSpPr>
        <p:spPr>
          <a:xfrm>
            <a:off x="4297680" y="3749039"/>
            <a:ext cx="3474720" cy="173736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18</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AVG LIKES/POST</a:t>
            </a:r>
          </a:p>
        </p:txBody>
      </p:sp>
      <p:sp>
        <p:nvSpPr>
          <p:cNvPr id="25" name="Rectangle 24"/>
          <p:cNvSpPr/>
          <p:nvPr/>
        </p:nvSpPr>
        <p:spPr>
          <a:xfrm>
            <a:off x="8138160" y="3749039"/>
            <a:ext cx="34747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N/A</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AVG COMMENTS/POST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Instagram Content Strategy</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Content mix from recent 12 posts</a:t>
            </a:r>
          </a:p>
        </p:txBody>
      </p:sp>
      <p:graphicFrame>
        <p:nvGraphicFramePr>
          <p:cNvPr id="5" name="Chart 4"/>
          <p:cNvGraphicFramePr>
            <a:graphicFrameLocks noGrp="1"/>
          </p:cNvGraphicFramePr>
          <p:nvPr/>
        </p:nvGraphicFramePr>
        <p:xfrm>
          <a:off x="457200" y="1188720"/>
          <a:ext cx="6583680" cy="4572000"/>
        </p:xfrm>
        <a:graphic>
          <a:graphicData uri="http://schemas.openxmlformats.org/drawingml/2006/chart">
            <c:chart xmlns:c="http://schemas.openxmlformats.org/drawingml/2006/chart" r:id="rId2"/>
          </a:graphicData>
        </a:graphic>
      </p:graphicFrame>
      <p:sp>
        <p:nvSpPr>
          <p:cNvPr id="6" name="Rectangle 5"/>
          <p:cNvSpPr/>
          <p:nvPr/>
        </p:nvSpPr>
        <p:spPr>
          <a:xfrm>
            <a:off x="7406640" y="1188720"/>
            <a:ext cx="4297680" cy="15087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0" y="1188720"/>
            <a:ext cx="429768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325880"/>
            <a:ext cx="4114800" cy="784555"/>
          </a:xfrm>
          <a:prstGeom prst="rect">
            <a:avLst/>
          </a:prstGeom>
          <a:noFill/>
        </p:spPr>
        <p:txBody>
          <a:bodyPr wrap="square">
            <a:spAutoFit/>
          </a:bodyPr>
          <a:lstStyle/>
          <a:p>
            <a:pPr algn="ctr">
              <a:defRPr sz="2200" b="1" i="0">
                <a:solidFill>
                  <a:srgbClr val="FFFFFF"/>
                </a:solidFill>
              </a:defRPr>
            </a:pPr>
            <a:r>
              <a:t>7 posts (58%)</a:t>
            </a:r>
          </a:p>
        </p:txBody>
      </p:sp>
      <p:sp>
        <p:nvSpPr>
          <p:cNvPr id="9" name="TextBox 8"/>
          <p:cNvSpPr txBox="1"/>
          <p:nvPr/>
        </p:nvSpPr>
        <p:spPr>
          <a:xfrm>
            <a:off x="7479792" y="2093976"/>
            <a:ext cx="4151376" cy="528065"/>
          </a:xfrm>
          <a:prstGeom prst="rect">
            <a:avLst/>
          </a:prstGeom>
          <a:noFill/>
        </p:spPr>
        <p:txBody>
          <a:bodyPr wrap="square">
            <a:spAutoFit/>
          </a:bodyPr>
          <a:lstStyle/>
          <a:p>
            <a:pPr algn="ctr">
              <a:defRPr sz="1000" b="0" i="0">
                <a:solidFill>
                  <a:srgbClr val="C8D2E6"/>
                </a:solidFill>
              </a:defRPr>
            </a:pPr>
            <a:r>
              <a:t>IMAGES</a:t>
            </a:r>
          </a:p>
        </p:txBody>
      </p:sp>
      <p:sp>
        <p:nvSpPr>
          <p:cNvPr id="10" name="Rectangle 9"/>
          <p:cNvSpPr/>
          <p:nvPr/>
        </p:nvSpPr>
        <p:spPr>
          <a:xfrm>
            <a:off x="7406640" y="2926080"/>
            <a:ext cx="4297680" cy="15087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0" y="2926080"/>
            <a:ext cx="42976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063240"/>
            <a:ext cx="4114800" cy="784555"/>
          </a:xfrm>
          <a:prstGeom prst="rect">
            <a:avLst/>
          </a:prstGeom>
          <a:noFill/>
        </p:spPr>
        <p:txBody>
          <a:bodyPr wrap="square">
            <a:spAutoFit/>
          </a:bodyPr>
          <a:lstStyle/>
          <a:p>
            <a:pPr algn="ctr">
              <a:defRPr sz="2200" b="1" i="0">
                <a:solidFill>
                  <a:srgbClr val="FFFFFF"/>
                </a:solidFill>
              </a:defRPr>
            </a:pPr>
            <a:r>
              <a:t>0 posts (0%)</a:t>
            </a:r>
          </a:p>
        </p:txBody>
      </p:sp>
      <p:sp>
        <p:nvSpPr>
          <p:cNvPr id="13" name="TextBox 12"/>
          <p:cNvSpPr txBox="1"/>
          <p:nvPr/>
        </p:nvSpPr>
        <p:spPr>
          <a:xfrm>
            <a:off x="7479792" y="3831336"/>
            <a:ext cx="4151376" cy="528065"/>
          </a:xfrm>
          <a:prstGeom prst="rect">
            <a:avLst/>
          </a:prstGeom>
          <a:noFill/>
        </p:spPr>
        <p:txBody>
          <a:bodyPr wrap="square">
            <a:spAutoFit/>
          </a:bodyPr>
          <a:lstStyle/>
          <a:p>
            <a:pPr algn="ctr">
              <a:defRPr sz="1000" b="0" i="0">
                <a:solidFill>
                  <a:srgbClr val="C8D2E6"/>
                </a:solidFill>
              </a:defRPr>
            </a:pPr>
            <a:r>
              <a:t>CAROUSELS</a:t>
            </a:r>
          </a:p>
        </p:txBody>
      </p:sp>
      <p:sp>
        <p:nvSpPr>
          <p:cNvPr id="14" name="Rectangle 13"/>
          <p:cNvSpPr/>
          <p:nvPr/>
        </p:nvSpPr>
        <p:spPr>
          <a:xfrm>
            <a:off x="7406640" y="4663440"/>
            <a:ext cx="4297680" cy="15087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4663440"/>
            <a:ext cx="429768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4800600"/>
            <a:ext cx="4114800" cy="784555"/>
          </a:xfrm>
          <a:prstGeom prst="rect">
            <a:avLst/>
          </a:prstGeom>
          <a:noFill/>
        </p:spPr>
        <p:txBody>
          <a:bodyPr wrap="square">
            <a:spAutoFit/>
          </a:bodyPr>
          <a:lstStyle/>
          <a:p>
            <a:pPr algn="ctr">
              <a:defRPr sz="2200" b="1" i="0">
                <a:solidFill>
                  <a:srgbClr val="FFFFFF"/>
                </a:solidFill>
              </a:defRPr>
            </a:pPr>
            <a:r>
              <a:t>5 posts (41%)</a:t>
            </a:r>
          </a:p>
        </p:txBody>
      </p:sp>
      <p:sp>
        <p:nvSpPr>
          <p:cNvPr id="17" name="TextBox 16"/>
          <p:cNvSpPr txBox="1"/>
          <p:nvPr/>
        </p:nvSpPr>
        <p:spPr>
          <a:xfrm>
            <a:off x="7479792" y="5568696"/>
            <a:ext cx="4151376" cy="528065"/>
          </a:xfrm>
          <a:prstGeom prst="rect">
            <a:avLst/>
          </a:prstGeom>
          <a:noFill/>
        </p:spPr>
        <p:txBody>
          <a:bodyPr wrap="square">
            <a:spAutoFit/>
          </a:bodyPr>
          <a:lstStyle/>
          <a:p>
            <a:pPr algn="ctr">
              <a:defRPr sz="1000" b="0" i="0">
                <a:solidFill>
                  <a:srgbClr val="C8D2E6"/>
                </a:solidFill>
              </a:defRPr>
            </a:pPr>
            <a:r>
              <a:t>VIDEOS/REELS</a:t>
            </a:r>
          </a:p>
        </p:txBody>
      </p:sp>
      <p:sp>
        <p:nvSpPr>
          <p:cNvPr id="18" name="Rectangle 17"/>
          <p:cNvSpPr/>
          <p:nvPr/>
        </p:nvSpPr>
        <p:spPr>
          <a:xfrm>
            <a:off x="457200" y="5989320"/>
            <a:ext cx="11247120" cy="6858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080759"/>
            <a:ext cx="10972800" cy="320040"/>
          </a:xfrm>
          <a:prstGeom prst="rect">
            <a:avLst/>
          </a:prstGeom>
          <a:noFill/>
        </p:spPr>
        <p:txBody>
          <a:bodyPr wrap="square">
            <a:spAutoFit/>
          </a:bodyPr>
          <a:lstStyle/>
          <a:p>
            <a:pPr algn="l">
              <a:defRPr sz="1200" b="1" i="0">
                <a:solidFill>
                  <a:srgbClr val="2ECC71"/>
                </a:solidFill>
              </a:defRPr>
            </a:pPr>
            <a:r>
              <a:t>💡 Instagram Strength</a:t>
            </a:r>
          </a:p>
        </p:txBody>
      </p:sp>
      <p:sp>
        <p:nvSpPr>
          <p:cNvPr id="20" name="TextBox 19"/>
          <p:cNvSpPr txBox="1"/>
          <p:nvPr/>
        </p:nvSpPr>
        <p:spPr>
          <a:xfrm>
            <a:off x="594360" y="6400800"/>
            <a:ext cx="10972800" cy="182879"/>
          </a:xfrm>
          <a:prstGeom prst="rect">
            <a:avLst/>
          </a:prstGeom>
          <a:noFill/>
        </p:spPr>
        <p:txBody>
          <a:bodyPr wrap="square">
            <a:spAutoFit/>
          </a:bodyPr>
          <a:lstStyle/>
          <a:p>
            <a:pPr algn="l">
              <a:defRPr sz="1100" b="0" i="0">
                <a:solidFill>
                  <a:srgbClr val="FFFFFF"/>
                </a:solidFill>
              </a:defRPr>
            </a:pPr>
            <a:r>
              <a:t>High engagement rate of 8.49% indicates the existing small audience is genuinely interested in the content being posted.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Facebook Page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erelego  —  N/A</a:t>
            </a:r>
          </a:p>
        </p:txBody>
      </p:sp>
      <p:sp>
        <p:nvSpPr>
          <p:cNvPr id="5" name="Rectangle 4"/>
          <p:cNvSpPr/>
          <p:nvPr/>
        </p:nvSpPr>
        <p:spPr>
          <a:xfrm>
            <a:off x="457200" y="1188720"/>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667</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PAGE FOLLOWERS</a:t>
            </a:r>
          </a:p>
        </p:txBody>
      </p:sp>
      <p:sp>
        <p:nvSpPr>
          <p:cNvPr id="9" name="Rectangle 8"/>
          <p:cNvSpPr/>
          <p:nvPr/>
        </p:nvSpPr>
        <p:spPr>
          <a:xfrm>
            <a:off x="429768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1</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FOLLOWING</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N/A</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PAGE RATING</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No</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VERIFIED</a:t>
            </a:r>
          </a:p>
        </p:txBody>
      </p:sp>
      <p:sp>
        <p:nvSpPr>
          <p:cNvPr id="21" name="Rectangle 20"/>
          <p:cNvSpPr/>
          <p:nvPr/>
        </p:nvSpPr>
        <p:spPr>
          <a:xfrm>
            <a:off x="4297680" y="3749039"/>
            <a:ext cx="34747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N/A</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CATEGORY</a:t>
            </a:r>
          </a:p>
        </p:txBody>
      </p:sp>
      <p:sp>
        <p:nvSpPr>
          <p:cNvPr id="25" name="Rectangle 24"/>
          <p:cNvSpPr/>
          <p:nvPr/>
        </p:nvSpPr>
        <p:spPr>
          <a:xfrm>
            <a:off x="8138160" y="3749039"/>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Facebook</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Facebook Insights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Page details and strategic analysis</a:t>
            </a:r>
          </a:p>
        </p:txBody>
      </p:sp>
      <p:sp>
        <p:nvSpPr>
          <p:cNvPr id="5" name="Rectangle 4"/>
          <p:cNvSpPr/>
          <p:nvPr/>
        </p:nvSpPr>
        <p:spPr>
          <a:xfrm>
            <a:off x="457200" y="1188720"/>
            <a:ext cx="11247120" cy="201168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3657600" cy="320040"/>
          </a:xfrm>
          <a:prstGeom prst="rect">
            <a:avLst/>
          </a:prstGeom>
          <a:noFill/>
        </p:spPr>
        <p:txBody>
          <a:bodyPr wrap="square">
            <a:spAutoFit/>
          </a:bodyPr>
          <a:lstStyle/>
          <a:p>
            <a:pPr algn="l">
              <a:defRPr sz="1100" b="1" i="0">
                <a:solidFill>
                  <a:srgbClr val="1A5AFF"/>
                </a:solidFill>
              </a:defRPr>
            </a:pPr>
            <a:r>
              <a:t>PAGE ABOUT</a:t>
            </a:r>
          </a:p>
        </p:txBody>
      </p:sp>
      <p:sp>
        <p:nvSpPr>
          <p:cNvPr id="7" name="TextBox 6"/>
          <p:cNvSpPr txBox="1"/>
          <p:nvPr/>
        </p:nvSpPr>
        <p:spPr>
          <a:xfrm>
            <a:off x="685800" y="1645920"/>
            <a:ext cx="10789920" cy="1371600"/>
          </a:xfrm>
          <a:prstGeom prst="rect">
            <a:avLst/>
          </a:prstGeom>
          <a:noFill/>
        </p:spPr>
        <p:txBody>
          <a:bodyPr wrap="square">
            <a:spAutoFit/>
          </a:bodyPr>
          <a:lstStyle/>
          <a:p>
            <a:pPr algn="l">
              <a:defRPr sz="1300" b="0" i="0">
                <a:solidFill>
                  <a:srgbClr val="FFFFFF"/>
                </a:solidFill>
              </a:defRPr>
            </a:pPr>
            <a:r>
              <a:t>The Facebook page lacks an about section, category, contact details, and rating information, making it difficult for potential clients to learn about or contact the brand.</a:t>
            </a:r>
          </a:p>
        </p:txBody>
      </p:sp>
      <p:graphicFrame>
        <p:nvGraphicFramePr>
          <p:cNvPr id="8" name="Table 7"/>
          <p:cNvGraphicFramePr>
            <a:graphicFrameLocks noGrp="1"/>
          </p:cNvGraphicFramePr>
          <p:nvPr/>
        </p:nvGraphicFramePr>
        <p:xfrm>
          <a:off x="457200" y="3383280"/>
          <a:ext cx="5486400" cy="2286000"/>
        </p:xfrm>
        <a:graphic>
          <a:graphicData uri="http://schemas.openxmlformats.org/drawingml/2006/table">
            <a:tbl>
              <a:tblPr firstRow="1" bandRow="1">
                <a:tableStyleId>{5C22544A-7EE6-4342-B048-85BDC9FD1C3A}</a:tableStyleId>
              </a:tblPr>
              <a:tblGrid>
                <a:gridCol w="2743200"/>
                <a:gridCol w="2743200"/>
              </a:tblGrid>
              <a:tr h="457200">
                <a:tc>
                  <a:txBody>
                    <a:bodyPr/>
                    <a:lstStyle/>
                    <a:p>
                      <a:pPr algn="ctr">
                        <a:defRPr b="1" sz="1200">
                          <a:solidFill>
                            <a:srgbClr val="050C1A"/>
                          </a:solidFill>
                        </a:defRPr>
                      </a:pPr>
                      <a:r>
                        <a:t>Detail</a:t>
                      </a:r>
                    </a:p>
                  </a:txBody>
                  <a:tcPr>
                    <a:solidFill>
                      <a:srgbClr val="D4AF37"/>
                    </a:solidFill>
                  </a:tcPr>
                </a:tc>
                <a:tc>
                  <a:txBody>
                    <a:bodyPr/>
                    <a:lstStyle/>
                    <a:p>
                      <a:pPr algn="ctr">
                        <a:defRPr b="1" sz="1200">
                          <a:solidFill>
                            <a:srgbClr val="050C1A"/>
                          </a:solidFill>
                        </a:defRPr>
                      </a:pPr>
                      <a:r>
                        <a:t>Value</a:t>
                      </a:r>
                    </a:p>
                  </a:txBody>
                  <a:tcPr>
                    <a:solidFill>
                      <a:srgbClr val="D4AF37"/>
                    </a:solidFill>
                  </a:tcPr>
                </a:tc>
              </a:tr>
              <a:tr h="457200">
                <a:tc>
                  <a:txBody>
                    <a:bodyPr/>
                    <a:lstStyle/>
                    <a:p>
                      <a:pPr algn="ctr">
                        <a:defRPr sz="1100">
                          <a:solidFill>
                            <a:srgbClr val="FFFFFF"/>
                          </a:solidFill>
                        </a:defRPr>
                      </a:pPr>
                      <a:r>
                        <a:t>Address</a:t>
                      </a:r>
                    </a:p>
                  </a:txBody>
                  <a:tcPr>
                    <a:solidFill>
                      <a:srgbClr val="0E1E3A"/>
                    </a:solidFill>
                  </a:tcPr>
                </a:tc>
                <a:tc>
                  <a:txBody>
                    <a:bodyPr/>
                    <a:lstStyle/>
                    <a:p>
                      <a:pPr algn="ctr">
                        <a:defRPr sz="1100">
                          <a:solidFill>
                            <a:srgbClr val="FFFFFF"/>
                          </a:solidFill>
                        </a:defRPr>
                      </a:pPr>
                      <a:r>
                        <a:t>N/A</a:t>
                      </a:r>
                    </a:p>
                  </a:txBody>
                  <a:tcPr>
                    <a:solidFill>
                      <a:srgbClr val="0E1E3A"/>
                    </a:solidFill>
                  </a:tcPr>
                </a:tc>
              </a:tr>
              <a:tr h="457200">
                <a:tc>
                  <a:txBody>
                    <a:bodyPr/>
                    <a:lstStyle/>
                    <a:p>
                      <a:pPr algn="ctr">
                        <a:defRPr sz="1100">
                          <a:solidFill>
                            <a:srgbClr val="FFFFFF"/>
                          </a:solidFill>
                        </a:defRPr>
                      </a:pPr>
                      <a:r>
                        <a:t>Phone</a:t>
                      </a:r>
                    </a:p>
                  </a:txBody>
                  <a:tcPr>
                    <a:solidFill>
                      <a:srgbClr val="050C1A"/>
                    </a:solidFill>
                  </a:tcPr>
                </a:tc>
                <a:tc>
                  <a:txBody>
                    <a:bodyPr/>
                    <a:lstStyle/>
                    <a:p>
                      <a:pPr algn="ctr">
                        <a:defRPr sz="1100">
                          <a:solidFill>
                            <a:srgbClr val="FFFFFF"/>
                          </a:solidFill>
                        </a:defRPr>
                      </a:pPr>
                      <a:r>
                        <a:t>N/A</a:t>
                      </a:r>
                    </a:p>
                  </a:txBody>
                  <a:tcPr>
                    <a:solidFill>
                      <a:srgbClr val="050C1A"/>
                    </a:solidFill>
                  </a:tcPr>
                </a:tc>
              </a:tr>
              <a:tr h="457200">
                <a:tc>
                  <a:txBody>
                    <a:bodyPr/>
                    <a:lstStyle/>
                    <a:p>
                      <a:pPr algn="ctr">
                        <a:defRPr sz="1100">
                          <a:solidFill>
                            <a:srgbClr val="FFFFFF"/>
                          </a:solidFill>
                        </a:defRPr>
                      </a:pPr>
                      <a:r>
                        <a:t>Email</a:t>
                      </a:r>
                    </a:p>
                  </a:txBody>
                  <a:tcPr>
                    <a:solidFill>
                      <a:srgbClr val="0E1E3A"/>
                    </a:solidFill>
                  </a:tcPr>
                </a:tc>
                <a:tc>
                  <a:txBody>
                    <a:bodyPr/>
                    <a:lstStyle/>
                    <a:p>
                      <a:pPr algn="ctr">
                        <a:defRPr sz="1100">
                          <a:solidFill>
                            <a:srgbClr val="FFFFFF"/>
                          </a:solidFill>
                        </a:defRPr>
                      </a:pPr>
                      <a:r>
                        <a:t>N/A</a:t>
                      </a:r>
                    </a:p>
                  </a:txBody>
                  <a:tcPr>
                    <a:solidFill>
                      <a:srgbClr val="0E1E3A"/>
                    </a:solidFill>
                  </a:tcPr>
                </a:tc>
              </a:tr>
              <a:tr h="457200">
                <a:tc>
                  <a:txBody>
                    <a:bodyPr/>
                    <a:lstStyle/>
                    <a:p>
                      <a:pPr algn="ctr">
                        <a:defRPr sz="1100">
                          <a:solidFill>
                            <a:srgbClr val="FFFFFF"/>
                          </a:solidFill>
                        </a:defRPr>
                      </a:pPr>
                      <a:r>
                        <a:t>Website</a:t>
                      </a:r>
                    </a:p>
                  </a:txBody>
                  <a:tcPr>
                    <a:solidFill>
                      <a:srgbClr val="050C1A"/>
                    </a:solidFill>
                  </a:tcPr>
                </a:tc>
                <a:tc>
                  <a:txBody>
                    <a:bodyPr/>
                    <a:lstStyle/>
                    <a:p>
                      <a:pPr algn="ctr">
                        <a:defRPr sz="1100">
                          <a:solidFill>
                            <a:srgbClr val="FFFFFF"/>
                          </a:solidFill>
                        </a:defRPr>
                      </a:pPr>
                      <a:r>
                        <a:t>N/A</a:t>
                      </a:r>
                    </a:p>
                  </a:txBody>
                  <a:tcPr>
                    <a:solidFill>
                      <a:srgbClr val="050C1A"/>
                    </a:solidFill>
                  </a:tcPr>
                </a:tc>
              </a:tr>
            </a:tbl>
          </a:graphicData>
        </a:graphic>
      </p:graphicFrame>
      <p:sp>
        <p:nvSpPr>
          <p:cNvPr id="9" name="Rectangle 8"/>
          <p:cNvSpPr/>
          <p:nvPr/>
        </p:nvSpPr>
        <p:spPr>
          <a:xfrm>
            <a:off x="6217920" y="3383280"/>
            <a:ext cx="5394960" cy="100584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474720"/>
            <a:ext cx="5120640" cy="320040"/>
          </a:xfrm>
          <a:prstGeom prst="rect">
            <a:avLst/>
          </a:prstGeom>
          <a:noFill/>
        </p:spPr>
        <p:txBody>
          <a:bodyPr wrap="square">
            <a:spAutoFit/>
          </a:bodyPr>
          <a:lstStyle/>
          <a:p>
            <a:pPr algn="l">
              <a:defRPr sz="1200" b="1" i="0">
                <a:solidFill>
                  <a:srgbClr val="1A5AFF"/>
                </a:solidFill>
              </a:defRPr>
            </a:pPr>
            <a:r>
              <a:t>💡 Strength</a:t>
            </a:r>
          </a:p>
        </p:txBody>
      </p:sp>
      <p:sp>
        <p:nvSpPr>
          <p:cNvPr id="11" name="TextBox 10"/>
          <p:cNvSpPr txBox="1"/>
          <p:nvPr/>
        </p:nvSpPr>
        <p:spPr>
          <a:xfrm>
            <a:off x="6355080" y="3794760"/>
            <a:ext cx="5120640" cy="502920"/>
          </a:xfrm>
          <a:prstGeom prst="rect">
            <a:avLst/>
          </a:prstGeom>
          <a:noFill/>
        </p:spPr>
        <p:txBody>
          <a:bodyPr wrap="square">
            <a:spAutoFit/>
          </a:bodyPr>
          <a:lstStyle/>
          <a:p>
            <a:pPr algn="l">
              <a:defRPr sz="1100" b="0" i="0">
                <a:solidFill>
                  <a:srgbClr val="FFFFFF"/>
                </a:solidFill>
              </a:defRPr>
            </a:pPr>
            <a:r>
              <a:t>With 667 followers, Facebook provides a modest but larger audience than Instagram to engage with potential clients.</a:t>
            </a:r>
          </a:p>
        </p:txBody>
      </p:sp>
      <p:sp>
        <p:nvSpPr>
          <p:cNvPr id="12" name="Rectangle 11"/>
          <p:cNvSpPr/>
          <p:nvPr/>
        </p:nvSpPr>
        <p:spPr>
          <a:xfrm>
            <a:off x="6309359" y="3383280"/>
            <a:ext cx="5394960" cy="100584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4" name="TextBox 13"/>
          <p:cNvSpPr txBox="1"/>
          <p:nvPr/>
        </p:nvSpPr>
        <p:spPr>
          <a:xfrm>
            <a:off x="6446520" y="3794760"/>
            <a:ext cx="5120640" cy="502920"/>
          </a:xfrm>
          <a:prstGeom prst="rect">
            <a:avLst/>
          </a:prstGeom>
          <a:noFill/>
        </p:spPr>
        <p:txBody>
          <a:bodyPr wrap="square">
            <a:spAutoFit/>
          </a:bodyPr>
          <a:lstStyle/>
          <a:p>
            <a:pPr algn="l">
              <a:defRPr sz="1100" b="0" i="0">
                <a:solidFill>
                  <a:srgbClr val="FFFFFF"/>
                </a:solidFill>
              </a:defRPr>
            </a:pPr>
            <a:r>
              <a:t>Complete the Facebook page by adding a business category, about section, phone number, email, and website to improve discoverability and credibility.</a:t>
            </a:r>
          </a:p>
        </p:txBody>
      </p:sp>
      <p:sp>
        <p:nvSpPr>
          <p:cNvPr id="15" name="Rectangle 14"/>
          <p:cNvSpPr/>
          <p:nvPr/>
        </p:nvSpPr>
        <p:spPr>
          <a:xfrm>
            <a:off x="6217920" y="3383280"/>
            <a:ext cx="5394960" cy="100584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474720"/>
            <a:ext cx="5120640" cy="320040"/>
          </a:xfrm>
          <a:prstGeom prst="rect">
            <a:avLst/>
          </a:prstGeom>
          <a:noFill/>
        </p:spPr>
        <p:txBody>
          <a:bodyPr wrap="square">
            <a:spAutoFit/>
          </a:bodyPr>
          <a:lstStyle/>
          <a:p>
            <a:pPr algn="l">
              <a:defRPr sz="1200" b="1" i="0">
                <a:solidFill>
                  <a:srgbClr val="1A5AFF"/>
                </a:solidFill>
              </a:defRPr>
            </a:pPr>
            <a:r>
              <a:t>💡 Strength</a:t>
            </a:r>
          </a:p>
        </p:txBody>
      </p:sp>
      <p:sp>
        <p:nvSpPr>
          <p:cNvPr id="17" name="TextBox 16"/>
          <p:cNvSpPr txBox="1"/>
          <p:nvPr/>
        </p:nvSpPr>
        <p:spPr>
          <a:xfrm>
            <a:off x="6355080" y="3794760"/>
            <a:ext cx="5120640" cy="502920"/>
          </a:xfrm>
          <a:prstGeom prst="rect">
            <a:avLst/>
          </a:prstGeom>
          <a:noFill/>
        </p:spPr>
        <p:txBody>
          <a:bodyPr wrap="square">
            <a:spAutoFit/>
          </a:bodyPr>
          <a:lstStyle/>
          <a:p>
            <a:pPr algn="l">
              <a:defRPr sz="1100" b="0" i="0">
                <a:solidFill>
                  <a:srgbClr val="FFFFFF"/>
                </a:solidFill>
              </a:defRPr>
            </a:pPr>
            <a:r>
              <a:t>With 667 followers, Facebook provides a modest but larger audience than Instagram to engage with potential clients.</a:t>
            </a:r>
          </a:p>
        </p:txBody>
      </p:sp>
      <p:sp>
        <p:nvSpPr>
          <p:cNvPr id="18" name="Rectangle 17"/>
          <p:cNvSpPr/>
          <p:nvPr/>
        </p:nvSpPr>
        <p:spPr>
          <a:xfrm>
            <a:off x="6217920" y="4617720"/>
            <a:ext cx="5394960" cy="100584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091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20" name="TextBox 19"/>
          <p:cNvSpPr txBox="1"/>
          <p:nvPr/>
        </p:nvSpPr>
        <p:spPr>
          <a:xfrm>
            <a:off x="6355080" y="5029200"/>
            <a:ext cx="5120640" cy="502920"/>
          </a:xfrm>
          <a:prstGeom prst="rect">
            <a:avLst/>
          </a:prstGeom>
          <a:noFill/>
        </p:spPr>
        <p:txBody>
          <a:bodyPr wrap="square">
            <a:spAutoFit/>
          </a:bodyPr>
          <a:lstStyle/>
          <a:p>
            <a:pPr algn="l">
              <a:defRPr sz="1100" b="0" i="0">
                <a:solidFill>
                  <a:srgbClr val="FFFFFF"/>
                </a:solidFill>
              </a:defRPr>
            </a:pPr>
            <a:r>
              <a:t>Complete the Facebook page by adding a business category, about section, phone number, email, and website to improve discoverability and credibility.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YouTube Channel</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@erelego  —  The YouTube channel has no description despite being active since 2015, leaving visitors without context about the brand or its content offerings.</a:t>
            </a:r>
          </a:p>
        </p:txBody>
      </p:sp>
      <p:sp>
        <p:nvSpPr>
          <p:cNvPr id="5" name="Rectangle 4"/>
          <p:cNvSpPr/>
          <p:nvPr/>
        </p:nvSpPr>
        <p:spPr>
          <a:xfrm>
            <a:off x="457200" y="1188720"/>
            <a:ext cx="3474720" cy="17373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124</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SUBSCRIBERS</a:t>
            </a:r>
          </a:p>
        </p:txBody>
      </p:sp>
      <p:sp>
        <p:nvSpPr>
          <p:cNvPr id="9" name="Rectangle 8"/>
          <p:cNvSpPr/>
          <p:nvPr/>
        </p:nvSpPr>
        <p:spPr>
          <a:xfrm>
            <a:off x="4297680" y="1188720"/>
            <a:ext cx="3474720" cy="173736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71</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TOTAL VIDEOS</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98496</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TOTAL VIEWS</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No</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VERIFIED</a:t>
            </a:r>
          </a:p>
        </p:txBody>
      </p:sp>
      <p:sp>
        <p:nvSpPr>
          <p:cNvPr id="21" name="Rectangle 20"/>
          <p:cNvSpPr/>
          <p:nvPr/>
        </p:nvSpPr>
        <p:spPr>
          <a:xfrm>
            <a:off x="4297680" y="3749039"/>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2015-03-03</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JOINED DATE</a:t>
            </a:r>
          </a:p>
        </p:txBody>
      </p:sp>
      <p:sp>
        <p:nvSpPr>
          <p:cNvPr id="25" name="Rectangle 24"/>
          <p:cNvSpPr/>
          <p:nvPr/>
        </p:nvSpPr>
        <p:spPr>
          <a:xfrm>
            <a:off x="8138160" y="3749039"/>
            <a:ext cx="3474720" cy="17373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YouTube</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PLATFORM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YouTube Channel Insights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Channel performance and strategic analysis</a:t>
            </a:r>
          </a:p>
        </p:txBody>
      </p:sp>
      <p:sp>
        <p:nvSpPr>
          <p:cNvPr id="5" name="Rectangle 4"/>
          <p:cNvSpPr/>
          <p:nvPr/>
        </p:nvSpPr>
        <p:spPr>
          <a:xfrm>
            <a:off x="457200" y="1188720"/>
            <a:ext cx="11247120" cy="18288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5486400" cy="320040"/>
          </a:xfrm>
          <a:prstGeom prst="rect">
            <a:avLst/>
          </a:prstGeom>
          <a:noFill/>
        </p:spPr>
        <p:txBody>
          <a:bodyPr wrap="square">
            <a:spAutoFit/>
          </a:bodyPr>
          <a:lstStyle/>
          <a:p>
            <a:pPr algn="l">
              <a:defRPr sz="1100" b="1" i="0">
                <a:solidFill>
                  <a:srgbClr val="FF3B30"/>
                </a:solidFill>
              </a:defRPr>
            </a:pPr>
            <a:r>
              <a:t>CHANNEL DESCRIPTION</a:t>
            </a:r>
          </a:p>
        </p:txBody>
      </p:sp>
      <p:sp>
        <p:nvSpPr>
          <p:cNvPr id="7" name="TextBox 6"/>
          <p:cNvSpPr txBox="1"/>
          <p:nvPr/>
        </p:nvSpPr>
        <p:spPr>
          <a:xfrm>
            <a:off x="685800" y="1645920"/>
            <a:ext cx="10789920" cy="1188720"/>
          </a:xfrm>
          <a:prstGeom prst="rect">
            <a:avLst/>
          </a:prstGeom>
          <a:noFill/>
        </p:spPr>
        <p:txBody>
          <a:bodyPr wrap="square">
            <a:spAutoFit/>
          </a:bodyPr>
          <a:lstStyle/>
          <a:p>
            <a:pPr algn="l">
              <a:defRPr sz="1300" b="0" i="0">
                <a:solidFill>
                  <a:srgbClr val="FFFFFF"/>
                </a:solidFill>
              </a:defRPr>
            </a:pPr>
            <a:r>
              <a:t>The YouTube channel has no description despite being active since 2015, leaving visitors without context about the brand or its content offerings.</a:t>
            </a:r>
          </a:p>
        </p:txBody>
      </p:sp>
      <p:sp>
        <p:nvSpPr>
          <p:cNvPr id="8" name="Rectangle 7"/>
          <p:cNvSpPr/>
          <p:nvPr/>
        </p:nvSpPr>
        <p:spPr>
          <a:xfrm>
            <a:off x="457200" y="3246120"/>
            <a:ext cx="5486400" cy="12801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337560"/>
            <a:ext cx="5212080" cy="320040"/>
          </a:xfrm>
          <a:prstGeom prst="rect">
            <a:avLst/>
          </a:prstGeom>
          <a:noFill/>
        </p:spPr>
        <p:txBody>
          <a:bodyPr wrap="square">
            <a:spAutoFit/>
          </a:bodyPr>
          <a:lstStyle/>
          <a:p>
            <a:pPr algn="l">
              <a:defRPr sz="1200" b="1" i="0">
                <a:solidFill>
                  <a:srgbClr val="FF3B30"/>
                </a:solidFill>
              </a:defRPr>
            </a:pPr>
            <a:r>
              <a:t>💡 Strength</a:t>
            </a:r>
          </a:p>
        </p:txBody>
      </p:sp>
      <p:sp>
        <p:nvSpPr>
          <p:cNvPr id="10" name="TextBox 9"/>
          <p:cNvSpPr txBox="1"/>
          <p:nvPr/>
        </p:nvSpPr>
        <p:spPr>
          <a:xfrm>
            <a:off x="594360" y="3657600"/>
            <a:ext cx="5212080" cy="777239"/>
          </a:xfrm>
          <a:prstGeom prst="rect">
            <a:avLst/>
          </a:prstGeom>
          <a:noFill/>
        </p:spPr>
        <p:txBody>
          <a:bodyPr wrap="square">
            <a:spAutoFit/>
          </a:bodyPr>
          <a:lstStyle/>
          <a:p>
            <a:pPr algn="l">
              <a:defRPr sz="1100" b="0" i="0">
                <a:solidFill>
                  <a:srgbClr val="FFFFFF"/>
                </a:solidFill>
              </a:defRPr>
            </a:pPr>
            <a:r>
              <a:t>With 71 videos and nearly 98,500 total views, the channel has a meaningful content library that demonstrates long-term commitment to video content.</a:t>
            </a:r>
          </a:p>
        </p:txBody>
      </p:sp>
      <p:sp>
        <p:nvSpPr>
          <p:cNvPr id="11" name="Rectangle 10"/>
          <p:cNvSpPr/>
          <p:nvPr/>
        </p:nvSpPr>
        <p:spPr>
          <a:xfrm>
            <a:off x="6263640" y="3246120"/>
            <a:ext cx="5394960" cy="12801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337560"/>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3" name="TextBox 12"/>
          <p:cNvSpPr txBox="1"/>
          <p:nvPr/>
        </p:nvSpPr>
        <p:spPr>
          <a:xfrm>
            <a:off x="6400800" y="3657600"/>
            <a:ext cx="5120640" cy="777239"/>
          </a:xfrm>
          <a:prstGeom prst="rect">
            <a:avLst/>
          </a:prstGeom>
          <a:noFill/>
        </p:spPr>
        <p:txBody>
          <a:bodyPr wrap="square">
            <a:spAutoFit/>
          </a:bodyPr>
          <a:lstStyle/>
          <a:p>
            <a:pPr algn="l">
              <a:defRPr sz="1100" b="0" i="0">
                <a:solidFill>
                  <a:srgbClr val="FFFFFF"/>
                </a:solidFill>
              </a:defRPr>
            </a:pPr>
            <a:r>
              <a:t>Add a detailed channel description and optimize video titles and thumbnails with relevant keywords to improve search discoverability and subscriber growth.</a:t>
            </a:r>
          </a:p>
        </p:txBody>
      </p:sp>
      <p:graphicFrame>
        <p:nvGraphicFramePr>
          <p:cNvPr id="14" name="Table 13"/>
          <p:cNvGraphicFramePr>
            <a:graphicFrameLocks noGrp="1"/>
          </p:cNvGraphicFramePr>
          <p:nvPr/>
        </p:nvGraphicFramePr>
        <p:xfrm>
          <a:off x="457200" y="4663440"/>
          <a:ext cx="5486400" cy="1920240"/>
        </p:xfrm>
        <a:graphic>
          <a:graphicData uri="http://schemas.openxmlformats.org/drawingml/2006/table">
            <a:tbl>
              <a:tblPr firstRow="1" bandRow="1">
                <a:tableStyleId>{5C22544A-7EE6-4342-B048-85BDC9FD1C3A}</a:tableStyleId>
              </a:tblPr>
              <a:tblGrid>
                <a:gridCol w="2743200"/>
                <a:gridCol w="2743200"/>
              </a:tblGrid>
              <a:tr h="384048">
                <a:tc>
                  <a:txBody>
                    <a:bodyPr/>
                    <a:lstStyle/>
                    <a:p>
                      <a:pPr algn="ctr">
                        <a:defRPr b="1" sz="1200">
                          <a:solidFill>
                            <a:srgbClr val="050C1A"/>
                          </a:solidFill>
                        </a:defRPr>
                      </a:pPr>
                      <a:r>
                        <a:t>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r>
              <a:tr h="384048">
                <a:tc>
                  <a:txBody>
                    <a:bodyPr/>
                    <a:lstStyle/>
                    <a:p>
                      <a:pPr algn="ctr">
                        <a:defRPr sz="1100">
                          <a:solidFill>
                            <a:srgbClr val="FFFFFF"/>
                          </a:solidFill>
                        </a:defRPr>
                      </a:pPr>
                      <a:r>
                        <a:t>Subscribers</a:t>
                      </a:r>
                    </a:p>
                  </a:txBody>
                  <a:tcPr>
                    <a:solidFill>
                      <a:srgbClr val="0E1E3A"/>
                    </a:solidFill>
                  </a:tcPr>
                </a:tc>
                <a:tc>
                  <a:txBody>
                    <a:bodyPr/>
                    <a:lstStyle/>
                    <a:p>
                      <a:pPr algn="ctr">
                        <a:defRPr sz="1100">
                          <a:solidFill>
                            <a:srgbClr val="FFFFFF"/>
                          </a:solidFill>
                        </a:defRPr>
                      </a:pPr>
                      <a:r>
                        <a:t>124</a:t>
                      </a:r>
                    </a:p>
                  </a:txBody>
                  <a:tcPr>
                    <a:solidFill>
                      <a:srgbClr val="0E1E3A"/>
                    </a:solidFill>
                  </a:tcPr>
                </a:tc>
              </a:tr>
              <a:tr h="384048">
                <a:tc>
                  <a:txBody>
                    <a:bodyPr/>
                    <a:lstStyle/>
                    <a:p>
                      <a:pPr algn="ctr">
                        <a:defRPr sz="1100">
                          <a:solidFill>
                            <a:srgbClr val="FFFFFF"/>
                          </a:solidFill>
                        </a:defRPr>
                      </a:pPr>
                      <a:r>
                        <a:t>Total Videos</a:t>
                      </a:r>
                    </a:p>
                  </a:txBody>
                  <a:tcPr>
                    <a:solidFill>
                      <a:srgbClr val="050C1A"/>
                    </a:solidFill>
                  </a:tcPr>
                </a:tc>
                <a:tc>
                  <a:txBody>
                    <a:bodyPr/>
                    <a:lstStyle/>
                    <a:p>
                      <a:pPr algn="ctr">
                        <a:defRPr sz="1100">
                          <a:solidFill>
                            <a:srgbClr val="FFFFFF"/>
                          </a:solidFill>
                        </a:defRPr>
                      </a:pPr>
                      <a:r>
                        <a:t>71</a:t>
                      </a:r>
                    </a:p>
                  </a:txBody>
                  <a:tcPr>
                    <a:solidFill>
                      <a:srgbClr val="050C1A"/>
                    </a:solidFill>
                  </a:tcPr>
                </a:tc>
              </a:tr>
              <a:tr h="384048">
                <a:tc>
                  <a:txBody>
                    <a:bodyPr/>
                    <a:lstStyle/>
                    <a:p>
                      <a:pPr algn="ctr">
                        <a:defRPr sz="1100">
                          <a:solidFill>
                            <a:srgbClr val="FFFFFF"/>
                          </a:solidFill>
                        </a:defRPr>
                      </a:pPr>
                      <a:r>
                        <a:t>Total Views</a:t>
                      </a:r>
                    </a:p>
                  </a:txBody>
                  <a:tcPr>
                    <a:solidFill>
                      <a:srgbClr val="0E1E3A"/>
                    </a:solidFill>
                  </a:tcPr>
                </a:tc>
                <a:tc>
                  <a:txBody>
                    <a:bodyPr/>
                    <a:lstStyle/>
                    <a:p>
                      <a:pPr algn="ctr">
                        <a:defRPr sz="1100">
                          <a:solidFill>
                            <a:srgbClr val="FFFFFF"/>
                          </a:solidFill>
                        </a:defRPr>
                      </a:pPr>
                      <a:r>
                        <a:t>98496</a:t>
                      </a:r>
                    </a:p>
                  </a:txBody>
                  <a:tcPr>
                    <a:solidFill>
                      <a:srgbClr val="0E1E3A"/>
                    </a:solidFill>
                  </a:tcPr>
                </a:tc>
              </a:tr>
              <a:tr h="384048">
                <a:tc>
                  <a:txBody>
                    <a:bodyPr/>
                    <a:lstStyle/>
                    <a:p>
                      <a:pPr algn="ctr">
                        <a:defRPr sz="1100">
                          <a:solidFill>
                            <a:srgbClr val="FFFFFF"/>
                          </a:solidFill>
                        </a:defRPr>
                      </a:pPr>
                      <a:r>
                        <a:t>Channel Age</a:t>
                      </a:r>
                    </a:p>
                  </a:txBody>
                  <a:tcPr>
                    <a:solidFill>
                      <a:srgbClr val="050C1A"/>
                    </a:solidFill>
                  </a:tcPr>
                </a:tc>
                <a:tc>
                  <a:txBody>
                    <a:bodyPr/>
                    <a:lstStyle/>
                    <a:p>
                      <a:pPr algn="ctr">
                        <a:defRPr sz="1100">
                          <a:solidFill>
                            <a:srgbClr val="FFFFFF"/>
                          </a:solidFill>
                        </a:defRPr>
                      </a:pPr>
                      <a:r>
                        <a:t>2015-03-03</a:t>
                      </a:r>
                    </a:p>
                  </a:txBody>
                  <a:tcPr>
                    <a:solidFill>
                      <a:srgbClr val="050C1A"/>
                    </a:solidFill>
                  </a:tcPr>
                </a:tc>
              </a:tr>
            </a:tbl>
          </a:graphicData>
        </a:graphic>
      </p:graphicFrame>
      <p:sp>
        <p:nvSpPr>
          <p:cNvPr id="15" name="Rectangle 14"/>
          <p:cNvSpPr/>
          <p:nvPr/>
        </p:nvSpPr>
        <p:spPr>
          <a:xfrm>
            <a:off x="6263640" y="4663440"/>
            <a:ext cx="5394960" cy="192024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754880"/>
            <a:ext cx="4937760" cy="320040"/>
          </a:xfrm>
          <a:prstGeom prst="rect">
            <a:avLst/>
          </a:prstGeom>
          <a:noFill/>
        </p:spPr>
        <p:txBody>
          <a:bodyPr wrap="square">
            <a:spAutoFit/>
          </a:bodyPr>
          <a:lstStyle/>
          <a:p>
            <a:pPr algn="l">
              <a:defRPr sz="1100" b="1" i="0">
                <a:solidFill>
                  <a:srgbClr val="E67E22"/>
                </a:solidFill>
              </a:defRPr>
            </a:pPr>
            <a:r>
              <a:t>VIEWS PER VIDEO (EST.)</a:t>
            </a:r>
          </a:p>
        </p:txBody>
      </p:sp>
      <p:sp>
        <p:nvSpPr>
          <p:cNvPr id="17" name="TextBox 16"/>
          <p:cNvSpPr txBox="1"/>
          <p:nvPr/>
        </p:nvSpPr>
        <p:spPr>
          <a:xfrm>
            <a:off x="6492240" y="5166360"/>
            <a:ext cx="4937760" cy="914400"/>
          </a:xfrm>
          <a:prstGeom prst="rect">
            <a:avLst/>
          </a:prstGeom>
          <a:noFill/>
        </p:spPr>
        <p:txBody>
          <a:bodyPr wrap="square">
            <a:spAutoFit/>
          </a:bodyPr>
          <a:lstStyle/>
          <a:p>
            <a:pPr algn="ctr">
              <a:defRPr sz="3200" b="1" i="0">
                <a:solidFill>
                  <a:srgbClr val="FFFFFF"/>
                </a:solidFill>
              </a:defRPr>
            </a:pPr>
            <a:r>
              <a:t>1,387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LinkedIn Company Page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linkedin.com/company/erelego-technologies-pvt-ltd</a:t>
            </a:r>
          </a:p>
        </p:txBody>
      </p:sp>
      <p:sp>
        <p:nvSpPr>
          <p:cNvPr id="5" name="Rectangle 4"/>
          <p:cNvSpPr/>
          <p:nvPr/>
        </p:nvSpPr>
        <p:spPr>
          <a:xfrm>
            <a:off x="45720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17,111</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FOLLOWERS</a:t>
            </a:r>
          </a:p>
        </p:txBody>
      </p:sp>
      <p:sp>
        <p:nvSpPr>
          <p:cNvPr id="9" name="Rectangle 8"/>
          <p:cNvSpPr/>
          <p:nvPr/>
        </p:nvSpPr>
        <p:spPr>
          <a:xfrm>
            <a:off x="4297680" y="1188720"/>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N/A</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EMPLOYEES</a:t>
            </a:r>
          </a:p>
        </p:txBody>
      </p:sp>
      <p:sp>
        <p:nvSpPr>
          <p:cNvPr id="13" name="Rectangle 12"/>
          <p:cNvSpPr/>
          <p:nvPr/>
        </p:nvSpPr>
        <p:spPr>
          <a:xfrm>
            <a:off x="813816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LinkedIn</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PLATFORM</a:t>
            </a:r>
          </a:p>
        </p:txBody>
      </p:sp>
      <p:sp>
        <p:nvSpPr>
          <p:cNvPr id="17" name="Rectangle 16"/>
          <p:cNvSpPr/>
          <p:nvPr/>
        </p:nvSpPr>
        <p:spPr>
          <a:xfrm>
            <a:off x="457200" y="3749039"/>
            <a:ext cx="3474720" cy="1737360"/>
          </a:xfrm>
          <a:prstGeom prst="rect">
            <a:avLst/>
          </a:prstGeom>
          <a:solidFill>
            <a:srgbClr val="0E1E3A"/>
          </a:solidFill>
          <a:ln w="12700">
            <a:solidFill>
              <a:srgbClr val="C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C8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Google Search</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DATA SOURCE</a:t>
            </a:r>
          </a:p>
        </p:txBody>
      </p:sp>
      <p:sp>
        <p:nvSpPr>
          <p:cNvPr id="21" name="Rectangle 20"/>
          <p:cNvSpPr/>
          <p:nvPr/>
        </p:nvSpPr>
        <p:spPr>
          <a:xfrm>
            <a:off x="457200" y="3657600"/>
            <a:ext cx="11247120" cy="192024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49039"/>
            <a:ext cx="4572000" cy="320040"/>
          </a:xfrm>
          <a:prstGeom prst="rect">
            <a:avLst/>
          </a:prstGeom>
          <a:noFill/>
        </p:spPr>
        <p:txBody>
          <a:bodyPr wrap="square">
            <a:spAutoFit/>
          </a:bodyPr>
          <a:lstStyle/>
          <a:p>
            <a:pPr algn="l">
              <a:defRPr sz="1100" b="1" i="0">
                <a:solidFill>
                  <a:srgbClr val="16A085"/>
                </a:solidFill>
              </a:defRPr>
            </a:pPr>
            <a:r>
              <a:t>COMPANY SUMMARY</a:t>
            </a:r>
          </a:p>
        </p:txBody>
      </p:sp>
      <p:sp>
        <p:nvSpPr>
          <p:cNvPr id="23" name="TextBox 22"/>
          <p:cNvSpPr txBox="1"/>
          <p:nvPr/>
        </p:nvSpPr>
        <p:spPr>
          <a:xfrm>
            <a:off x="685800" y="4114800"/>
            <a:ext cx="10789920" cy="1280160"/>
          </a:xfrm>
          <a:prstGeom prst="rect">
            <a:avLst/>
          </a:prstGeom>
          <a:noFill/>
        </p:spPr>
        <p:txBody>
          <a:bodyPr wrap="square">
            <a:spAutoFit/>
          </a:bodyPr>
          <a:lstStyle/>
          <a:p>
            <a:pPr algn="l">
              <a:defRPr sz="1300" b="0" i="0">
                <a:solidFill>
                  <a:srgbClr val="FFFFFF"/>
                </a:solidFill>
              </a:defRPr>
            </a:pPr>
            <a:r>
              <a:t>eReleGo Technologies has a strong LinkedIn presence based in Gilbert, Arizona, positioning itself as an IT services and consulting firm with the tagline 'Boundless Imagination. Endless Possibilities.'</a:t>
            </a:r>
          </a:p>
        </p:txBody>
      </p:sp>
      <p:sp>
        <p:nvSpPr>
          <p:cNvPr id="24" name="Rectangle 23"/>
          <p:cNvSpPr/>
          <p:nvPr/>
        </p:nvSpPr>
        <p:spPr>
          <a:xfrm>
            <a:off x="457200" y="5760720"/>
            <a:ext cx="5486400" cy="8229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852159"/>
            <a:ext cx="5212080" cy="320040"/>
          </a:xfrm>
          <a:prstGeom prst="rect">
            <a:avLst/>
          </a:prstGeom>
          <a:noFill/>
        </p:spPr>
        <p:txBody>
          <a:bodyPr wrap="square">
            <a:spAutoFit/>
          </a:bodyPr>
          <a:lstStyle/>
          <a:p>
            <a:pPr algn="l">
              <a:defRPr sz="1200" b="1" i="0">
                <a:solidFill>
                  <a:srgbClr val="16A085"/>
                </a:solidFill>
              </a:defRPr>
            </a:pPr>
            <a:r>
              <a:t>💡 Strength</a:t>
            </a:r>
          </a:p>
        </p:txBody>
      </p:sp>
      <p:sp>
        <p:nvSpPr>
          <p:cNvPr id="26" name="TextBox 25"/>
          <p:cNvSpPr txBox="1"/>
          <p:nvPr/>
        </p:nvSpPr>
        <p:spPr>
          <a:xfrm>
            <a:off x="594360" y="6172200"/>
            <a:ext cx="5212080" cy="320040"/>
          </a:xfrm>
          <a:prstGeom prst="rect">
            <a:avLst/>
          </a:prstGeom>
          <a:noFill/>
        </p:spPr>
        <p:txBody>
          <a:bodyPr wrap="square">
            <a:spAutoFit/>
          </a:bodyPr>
          <a:lstStyle/>
          <a:p>
            <a:pPr algn="l">
              <a:defRPr sz="1100" b="0" i="0">
                <a:solidFill>
                  <a:srgbClr val="FFFFFF"/>
                </a:solidFill>
              </a:defRPr>
            </a:pPr>
            <a:r>
              <a:t>A follower count of 17,111 vastly outperforms all other platforms, indicating LinkedIn is the brand's most effective and natural channel for B2B audience building.</a:t>
            </a:r>
          </a:p>
        </p:txBody>
      </p:sp>
      <p:sp>
        <p:nvSpPr>
          <p:cNvPr id="27" name="Rectangle 26"/>
          <p:cNvSpPr/>
          <p:nvPr/>
        </p:nvSpPr>
        <p:spPr>
          <a:xfrm>
            <a:off x="6263640" y="5760720"/>
            <a:ext cx="5394960" cy="8229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8521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29" name="TextBox 28"/>
          <p:cNvSpPr txBox="1"/>
          <p:nvPr/>
        </p:nvSpPr>
        <p:spPr>
          <a:xfrm>
            <a:off x="6400800" y="6172200"/>
            <a:ext cx="5120640" cy="320040"/>
          </a:xfrm>
          <a:prstGeom prst="rect">
            <a:avLst/>
          </a:prstGeom>
          <a:noFill/>
        </p:spPr>
        <p:txBody>
          <a:bodyPr wrap="square">
            <a:spAutoFit/>
          </a:bodyPr>
          <a:lstStyle/>
          <a:p>
            <a:pPr algn="l">
              <a:defRPr sz="1100" b="0" i="0">
                <a:solidFill>
                  <a:srgbClr val="FFFFFF"/>
                </a:solidFill>
              </a:defRPr>
            </a:pPr>
            <a:r>
              <a:t>Leverage the large LinkedIn audience by publishing regular thought leadership content, case studies, and industry insights to convert followers into business leads.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LinkedIn Strategic Analysis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Professional presence and B2B opportunities</a:t>
            </a:r>
          </a:p>
        </p:txBody>
      </p:sp>
      <p:graphicFrame>
        <p:nvGraphicFramePr>
          <p:cNvPr id="5" name="Table 4"/>
          <p:cNvGraphicFramePr>
            <a:graphicFrameLocks noGrp="1"/>
          </p:cNvGraphicFramePr>
          <p:nvPr/>
        </p:nvGraphicFramePr>
        <p:xfrm>
          <a:off x="457200" y="1188720"/>
          <a:ext cx="11247120" cy="3657600"/>
        </p:xfrm>
        <a:graphic>
          <a:graphicData uri="http://schemas.openxmlformats.org/drawingml/2006/table">
            <a:tbl>
              <a:tblPr firstRow="1" bandRow="1">
                <a:tableStyleId>{5C22544A-7EE6-4342-B048-85BDC9FD1C3A}</a:tableStyleId>
              </a:tblPr>
              <a:tblGrid>
                <a:gridCol w="3749040"/>
                <a:gridCol w="3749040"/>
                <a:gridCol w="3749040"/>
              </a:tblGrid>
              <a:tr h="609600">
                <a:tc>
                  <a:txBody>
                    <a:bodyPr/>
                    <a:lstStyle/>
                    <a:p>
                      <a:pPr algn="ctr">
                        <a:defRPr b="1" sz="1200">
                          <a:solidFill>
                            <a:srgbClr val="050C1A"/>
                          </a:solidFill>
                        </a:defRPr>
                      </a:pPr>
                      <a:r>
                        <a:t>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c>
                  <a:txBody>
                    <a:bodyPr/>
                    <a:lstStyle/>
                    <a:p>
                      <a:pPr algn="ctr">
                        <a:defRPr b="1" sz="1200">
                          <a:solidFill>
                            <a:srgbClr val="050C1A"/>
                          </a:solidFill>
                        </a:defRPr>
                      </a:pPr>
                      <a:r>
                        <a:t>Insight</a:t>
                      </a:r>
                    </a:p>
                  </a:txBody>
                  <a:tcPr>
                    <a:solidFill>
                      <a:srgbClr val="D4AF37"/>
                    </a:solidFill>
                  </a:tcPr>
                </a:tc>
              </a:tr>
              <a:tr h="609600">
                <a:tc>
                  <a:txBody>
                    <a:bodyPr/>
                    <a:lstStyle/>
                    <a:p>
                      <a:pPr algn="ctr">
                        <a:defRPr sz="1100">
                          <a:solidFill>
                            <a:srgbClr val="FFFFFF"/>
                          </a:solidFill>
                        </a:defRPr>
                      </a:pPr>
                      <a:r>
                        <a:t>Followers</a:t>
                      </a:r>
                    </a:p>
                  </a:txBody>
                  <a:tcPr>
                    <a:solidFill>
                      <a:srgbClr val="0E1E3A"/>
                    </a:solidFill>
                  </a:tcPr>
                </a:tc>
                <a:tc>
                  <a:txBody>
                    <a:bodyPr/>
                    <a:lstStyle/>
                    <a:p>
                      <a:pPr algn="ctr">
                        <a:defRPr sz="1100">
                          <a:solidFill>
                            <a:srgbClr val="FFFFFF"/>
                          </a:solidFill>
                        </a:defRPr>
                      </a:pPr>
                      <a:r>
                        <a:t>17,111</a:t>
                      </a:r>
                    </a:p>
                  </a:txBody>
                  <a:tcPr>
                    <a:solidFill>
                      <a:srgbClr val="0E1E3A"/>
                    </a:solidFill>
                  </a:tcPr>
                </a:tc>
                <a:tc>
                  <a:txBody>
                    <a:bodyPr/>
                    <a:lstStyle/>
                    <a:p>
                      <a:pPr algn="ctr">
                        <a:defRPr sz="1100">
                          <a:solidFill>
                            <a:srgbClr val="FFFFFF"/>
                          </a:solidFill>
                        </a:defRPr>
                      </a:pPr>
                      <a:r>
                        <a:t>Professional audience size</a:t>
                      </a:r>
                    </a:p>
                  </a:txBody>
                  <a:tcPr>
                    <a:solidFill>
                      <a:srgbClr val="0E1E3A"/>
                    </a:solidFill>
                  </a:tcPr>
                </a:tc>
              </a:tr>
              <a:tr h="609600">
                <a:tc>
                  <a:txBody>
                    <a:bodyPr/>
                    <a:lstStyle/>
                    <a:p>
                      <a:pPr algn="ctr">
                        <a:defRPr sz="1100">
                          <a:solidFill>
                            <a:srgbClr val="FFFFFF"/>
                          </a:solidFill>
                        </a:defRPr>
                      </a:pPr>
                      <a:r>
                        <a:t>Employees</a:t>
                      </a:r>
                    </a:p>
                  </a:txBody>
                  <a:tcPr>
                    <a:solidFill>
                      <a:srgbClr val="050C1A"/>
                    </a:solidFill>
                  </a:tcPr>
                </a:tc>
                <a:tc>
                  <a:txBody>
                    <a:bodyPr/>
                    <a:lstStyle/>
                    <a:p>
                      <a:pPr algn="ctr">
                        <a:defRPr sz="1100">
                          <a:solidFill>
                            <a:srgbClr val="FFFFFF"/>
                          </a:solidFill>
                        </a:defRPr>
                      </a:pPr>
                      <a:r>
                        <a:t>N/A</a:t>
                      </a:r>
                    </a:p>
                  </a:txBody>
                  <a:tcPr>
                    <a:solidFill>
                      <a:srgbClr val="050C1A"/>
                    </a:solidFill>
                  </a:tcPr>
                </a:tc>
                <a:tc>
                  <a:txBody>
                    <a:bodyPr/>
                    <a:lstStyle/>
                    <a:p>
                      <a:pPr algn="ctr">
                        <a:defRPr sz="1100">
                          <a:solidFill>
                            <a:srgbClr val="FFFFFF"/>
                          </a:solidFill>
                        </a:defRPr>
                      </a:pPr>
                      <a:r>
                        <a:t>Company scale indicator</a:t>
                      </a:r>
                    </a:p>
                  </a:txBody>
                  <a:tcPr>
                    <a:solidFill>
                      <a:srgbClr val="050C1A"/>
                    </a:solidFill>
                  </a:tcPr>
                </a:tc>
              </a:tr>
              <a:tr h="609600">
                <a:tc>
                  <a:txBody>
                    <a:bodyPr/>
                    <a:lstStyle/>
                    <a:p>
                      <a:pPr algn="ctr">
                        <a:defRPr sz="1100">
                          <a:solidFill>
                            <a:srgbClr val="FFFFFF"/>
                          </a:solidFill>
                        </a:defRPr>
                      </a:pPr>
                      <a:r>
                        <a:t>Content Focus</a:t>
                      </a:r>
                    </a:p>
                  </a:txBody>
                  <a:tcPr>
                    <a:solidFill>
                      <a:srgbClr val="0E1E3A"/>
                    </a:solidFill>
                  </a:tcPr>
                </a:tc>
                <a:tc>
                  <a:txBody>
                    <a:bodyPr/>
                    <a:lstStyle/>
                    <a:p>
                      <a:pPr algn="ctr">
                        <a:defRPr sz="1100">
                          <a:solidFill>
                            <a:srgbClr val="FFFFFF"/>
                          </a:solidFill>
                        </a:defRPr>
                      </a:pPr>
                      <a:r>
                        <a:t>B2B &amp; Professional</a:t>
                      </a:r>
                    </a:p>
                  </a:txBody>
                  <a:tcPr>
                    <a:solidFill>
                      <a:srgbClr val="0E1E3A"/>
                    </a:solidFill>
                  </a:tcPr>
                </a:tc>
                <a:tc>
                  <a:txBody>
                    <a:bodyPr/>
                    <a:lstStyle/>
                    <a:p>
                      <a:pPr algn="ctr">
                        <a:defRPr sz="1100">
                          <a:solidFill>
                            <a:srgbClr val="FFFFFF"/>
                          </a:solidFill>
                        </a:defRPr>
                      </a:pPr>
                      <a:r>
                        <a:t>Key content strategy</a:t>
                      </a:r>
                    </a:p>
                  </a:txBody>
                  <a:tcPr>
                    <a:solidFill>
                      <a:srgbClr val="0E1E3A"/>
                    </a:solidFill>
                  </a:tcPr>
                </a:tc>
              </a:tr>
              <a:tr h="609600">
                <a:tc>
                  <a:txBody>
                    <a:bodyPr/>
                    <a:lstStyle/>
                    <a:p>
                      <a:pPr algn="ctr">
                        <a:defRPr sz="1100">
                          <a:solidFill>
                            <a:srgbClr val="FFFFFF"/>
                          </a:solidFill>
                        </a:defRPr>
                      </a:pPr>
                      <a:r>
                        <a:t>Best Post Type</a:t>
                      </a:r>
                    </a:p>
                  </a:txBody>
                  <a:tcPr>
                    <a:solidFill>
                      <a:srgbClr val="050C1A"/>
                    </a:solidFill>
                  </a:tcPr>
                </a:tc>
                <a:tc>
                  <a:txBody>
                    <a:bodyPr/>
                    <a:lstStyle/>
                    <a:p>
                      <a:pPr algn="ctr">
                        <a:defRPr sz="1100">
                          <a:solidFill>
                            <a:srgbClr val="FFFFFF"/>
                          </a:solidFill>
                        </a:defRPr>
                      </a:pPr>
                      <a:r>
                        <a:t>Articles &amp; Updates</a:t>
                      </a:r>
                    </a:p>
                  </a:txBody>
                  <a:tcPr>
                    <a:solidFill>
                      <a:srgbClr val="050C1A"/>
                    </a:solidFill>
                  </a:tcPr>
                </a:tc>
                <a:tc>
                  <a:txBody>
                    <a:bodyPr/>
                    <a:lstStyle/>
                    <a:p>
                      <a:pPr algn="ctr">
                        <a:defRPr sz="1100">
                          <a:solidFill>
                            <a:srgbClr val="FFFFFF"/>
                          </a:solidFill>
                        </a:defRPr>
                      </a:pPr>
                      <a:r>
                        <a:t>Highest LinkedIn engagement</a:t>
                      </a:r>
                    </a:p>
                  </a:txBody>
                  <a:tcPr>
                    <a:solidFill>
                      <a:srgbClr val="050C1A"/>
                    </a:solidFill>
                  </a:tcPr>
                </a:tc>
              </a:tr>
              <a:tr h="609600">
                <a:tc>
                  <a:txBody>
                    <a:bodyPr/>
                    <a:lstStyle/>
                    <a:p>
                      <a:pPr algn="ctr">
                        <a:defRPr sz="1100">
                          <a:solidFill>
                            <a:srgbClr val="FFFFFF"/>
                          </a:solidFill>
                        </a:defRPr>
                      </a:pPr>
                      <a:r>
                        <a:t>Posting Freq.</a:t>
                      </a:r>
                    </a:p>
                  </a:txBody>
                  <a:tcPr>
                    <a:solidFill>
                      <a:srgbClr val="0E1E3A"/>
                    </a:solidFill>
                  </a:tcPr>
                </a:tc>
                <a:tc>
                  <a:txBody>
                    <a:bodyPr/>
                    <a:lstStyle/>
                    <a:p>
                      <a:pPr algn="ctr">
                        <a:defRPr sz="1100">
                          <a:solidFill>
                            <a:srgbClr val="FFFFFF"/>
                          </a:solidFill>
                        </a:defRPr>
                      </a:pPr>
                      <a:r>
                        <a:t>2-3x per week</a:t>
                      </a:r>
                    </a:p>
                  </a:txBody>
                  <a:tcPr>
                    <a:solidFill>
                      <a:srgbClr val="0E1E3A"/>
                    </a:solidFill>
                  </a:tcPr>
                </a:tc>
                <a:tc>
                  <a:txBody>
                    <a:bodyPr/>
                    <a:lstStyle/>
                    <a:p>
                      <a:pPr algn="ctr">
                        <a:defRPr sz="1100">
                          <a:solidFill>
                            <a:srgbClr val="FFFFFF"/>
                          </a:solidFill>
                        </a:defRPr>
                      </a:pPr>
                      <a:r>
                        <a:t>LinkedIn best practice</a:t>
                      </a:r>
                    </a:p>
                  </a:txBody>
                  <a:tcPr>
                    <a:solidFill>
                      <a:srgbClr val="0E1E3A"/>
                    </a:solidFill>
                  </a:tcPr>
                </a:tc>
              </a:tr>
            </a:tbl>
          </a:graphicData>
        </a:graphic>
      </p:graphicFrame>
      <p:sp>
        <p:nvSpPr>
          <p:cNvPr id="6" name="Rectangle 5"/>
          <p:cNvSpPr/>
          <p:nvPr/>
        </p:nvSpPr>
        <p:spPr>
          <a:xfrm>
            <a:off x="457200" y="5074920"/>
            <a:ext cx="5486400" cy="15087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166359"/>
            <a:ext cx="5212080" cy="320040"/>
          </a:xfrm>
          <a:prstGeom prst="rect">
            <a:avLst/>
          </a:prstGeom>
          <a:noFill/>
        </p:spPr>
        <p:txBody>
          <a:bodyPr wrap="square">
            <a:spAutoFit/>
          </a:bodyPr>
          <a:lstStyle/>
          <a:p>
            <a:pPr algn="l">
              <a:defRPr sz="1200" b="1" i="0">
                <a:solidFill>
                  <a:srgbClr val="16A085"/>
                </a:solidFill>
              </a:defRPr>
            </a:pPr>
            <a:r>
              <a:t>💡 Strength</a:t>
            </a:r>
          </a:p>
        </p:txBody>
      </p:sp>
      <p:sp>
        <p:nvSpPr>
          <p:cNvPr id="8" name="TextBox 7"/>
          <p:cNvSpPr txBox="1"/>
          <p:nvPr/>
        </p:nvSpPr>
        <p:spPr>
          <a:xfrm>
            <a:off x="594360" y="5486400"/>
            <a:ext cx="5212080" cy="1005839"/>
          </a:xfrm>
          <a:prstGeom prst="rect">
            <a:avLst/>
          </a:prstGeom>
          <a:noFill/>
        </p:spPr>
        <p:txBody>
          <a:bodyPr wrap="square">
            <a:spAutoFit/>
          </a:bodyPr>
          <a:lstStyle/>
          <a:p>
            <a:pPr algn="l">
              <a:defRPr sz="1100" b="0" i="0">
                <a:solidFill>
                  <a:srgbClr val="FFFFFF"/>
                </a:solidFill>
              </a:defRPr>
            </a:pPr>
            <a:r>
              <a:t>A follower count of 17,111 vastly outperforms all other platforms, indicating LinkedIn is the brand's most effective and natural channel for B2B audience building.</a:t>
            </a:r>
          </a:p>
        </p:txBody>
      </p:sp>
      <p:sp>
        <p:nvSpPr>
          <p:cNvPr id="9" name="Rectangle 8"/>
          <p:cNvSpPr/>
          <p:nvPr/>
        </p:nvSpPr>
        <p:spPr>
          <a:xfrm>
            <a:off x="6263640" y="5074920"/>
            <a:ext cx="5394960" cy="15087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1663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1" name="TextBox 10"/>
          <p:cNvSpPr txBox="1"/>
          <p:nvPr/>
        </p:nvSpPr>
        <p:spPr>
          <a:xfrm>
            <a:off x="6400800" y="5486400"/>
            <a:ext cx="5120640" cy="1005839"/>
          </a:xfrm>
          <a:prstGeom prst="rect">
            <a:avLst/>
          </a:prstGeom>
          <a:noFill/>
        </p:spPr>
        <p:txBody>
          <a:bodyPr wrap="square">
            <a:spAutoFit/>
          </a:bodyPr>
          <a:lstStyle/>
          <a:p>
            <a:pPr algn="l">
              <a:defRPr sz="1100" b="0" i="0">
                <a:solidFill>
                  <a:srgbClr val="FFFFFF"/>
                </a:solidFill>
              </a:defRPr>
            </a:pPr>
            <a:r>
              <a:t>Leverage the large LinkedIn audience by publishing regular thought leadership content, case studies, and industry insights to convert followers into business leads.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Cross-Platform Follower Comparison</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Audience size across all platforms</a:t>
            </a:r>
          </a:p>
        </p:txBody>
      </p:sp>
      <p:graphicFrame>
        <p:nvGraphicFramePr>
          <p:cNvPr id="5" name="Chart 4"/>
          <p:cNvGraphicFramePr>
            <a:graphicFrameLocks noGrp="1"/>
          </p:cNvGraphicFramePr>
          <p:nvPr/>
        </p:nvGraphicFramePr>
        <p:xfrm>
          <a:off x="457200" y="1188720"/>
          <a:ext cx="7315200" cy="5029200"/>
        </p:xfrm>
        <a:graphic>
          <a:graphicData uri="http://schemas.openxmlformats.org/drawingml/2006/chart">
            <c:chart xmlns:c="http://schemas.openxmlformats.org/drawingml/2006/chart" r:id="rId2"/>
          </a:graphicData>
        </a:graphic>
      </p:graphicFrame>
      <p:sp>
        <p:nvSpPr>
          <p:cNvPr id="6" name="Rectangle 5"/>
          <p:cNvSpPr/>
          <p:nvPr/>
        </p:nvSpPr>
        <p:spPr>
          <a:xfrm>
            <a:off x="8092440" y="1188720"/>
            <a:ext cx="365760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0" y="1188720"/>
            <a:ext cx="365760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1325880"/>
            <a:ext cx="3474720" cy="618134"/>
          </a:xfrm>
          <a:prstGeom prst="rect">
            <a:avLst/>
          </a:prstGeom>
          <a:noFill/>
        </p:spPr>
        <p:txBody>
          <a:bodyPr wrap="square">
            <a:spAutoFit/>
          </a:bodyPr>
          <a:lstStyle/>
          <a:p>
            <a:pPr algn="ctr">
              <a:defRPr sz="2200" b="1" i="0">
                <a:solidFill>
                  <a:srgbClr val="FFFFFF"/>
                </a:solidFill>
              </a:defRPr>
            </a:pPr>
            <a:r>
              <a:t>211</a:t>
            </a:r>
          </a:p>
        </p:txBody>
      </p:sp>
      <p:sp>
        <p:nvSpPr>
          <p:cNvPr id="9" name="TextBox 8"/>
          <p:cNvSpPr txBox="1"/>
          <p:nvPr/>
        </p:nvSpPr>
        <p:spPr>
          <a:xfrm>
            <a:off x="8165592" y="1901952"/>
            <a:ext cx="3511296" cy="416051"/>
          </a:xfrm>
          <a:prstGeom prst="rect">
            <a:avLst/>
          </a:prstGeom>
          <a:noFill/>
        </p:spPr>
        <p:txBody>
          <a:bodyPr wrap="square">
            <a:spAutoFit/>
          </a:bodyPr>
          <a:lstStyle/>
          <a:p>
            <a:pPr algn="ctr">
              <a:defRPr sz="1000" b="0" i="0">
                <a:solidFill>
                  <a:srgbClr val="C8D2E6"/>
                </a:solidFill>
              </a:defRPr>
            </a:pPr>
            <a:r>
              <a:t>INSTAGRAM</a:t>
            </a:r>
          </a:p>
        </p:txBody>
      </p:sp>
      <p:sp>
        <p:nvSpPr>
          <p:cNvPr id="10" name="Rectangle 9"/>
          <p:cNvSpPr/>
          <p:nvPr/>
        </p:nvSpPr>
        <p:spPr>
          <a:xfrm>
            <a:off x="8092440" y="2606040"/>
            <a:ext cx="3657600" cy="118872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92440" y="2606040"/>
            <a:ext cx="365760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2743200"/>
            <a:ext cx="3474720" cy="618134"/>
          </a:xfrm>
          <a:prstGeom prst="rect">
            <a:avLst/>
          </a:prstGeom>
          <a:noFill/>
        </p:spPr>
        <p:txBody>
          <a:bodyPr wrap="square">
            <a:spAutoFit/>
          </a:bodyPr>
          <a:lstStyle/>
          <a:p>
            <a:pPr algn="ctr">
              <a:defRPr sz="2200" b="1" i="0">
                <a:solidFill>
                  <a:srgbClr val="FFFFFF"/>
                </a:solidFill>
              </a:defRPr>
            </a:pPr>
            <a:r>
              <a:t>667</a:t>
            </a:r>
          </a:p>
        </p:txBody>
      </p:sp>
      <p:sp>
        <p:nvSpPr>
          <p:cNvPr id="13" name="TextBox 12"/>
          <p:cNvSpPr txBox="1"/>
          <p:nvPr/>
        </p:nvSpPr>
        <p:spPr>
          <a:xfrm>
            <a:off x="8165592" y="3319272"/>
            <a:ext cx="3511296" cy="416051"/>
          </a:xfrm>
          <a:prstGeom prst="rect">
            <a:avLst/>
          </a:prstGeom>
          <a:noFill/>
        </p:spPr>
        <p:txBody>
          <a:bodyPr wrap="square">
            <a:spAutoFit/>
          </a:bodyPr>
          <a:lstStyle/>
          <a:p>
            <a:pPr algn="ctr">
              <a:defRPr sz="1000" b="0" i="0">
                <a:solidFill>
                  <a:srgbClr val="C8D2E6"/>
                </a:solidFill>
              </a:defRPr>
            </a:pPr>
            <a:r>
              <a:t>FACEBOOK</a:t>
            </a:r>
          </a:p>
        </p:txBody>
      </p:sp>
      <p:sp>
        <p:nvSpPr>
          <p:cNvPr id="14" name="Rectangle 13"/>
          <p:cNvSpPr/>
          <p:nvPr/>
        </p:nvSpPr>
        <p:spPr>
          <a:xfrm>
            <a:off x="8092440" y="4023360"/>
            <a:ext cx="365760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4023360"/>
            <a:ext cx="365760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4160520"/>
            <a:ext cx="3474720" cy="618134"/>
          </a:xfrm>
          <a:prstGeom prst="rect">
            <a:avLst/>
          </a:prstGeom>
          <a:noFill/>
        </p:spPr>
        <p:txBody>
          <a:bodyPr wrap="square">
            <a:spAutoFit/>
          </a:bodyPr>
          <a:lstStyle/>
          <a:p>
            <a:pPr algn="ctr">
              <a:defRPr sz="2200" b="1" i="0">
                <a:solidFill>
                  <a:srgbClr val="FFFFFF"/>
                </a:solidFill>
              </a:defRPr>
            </a:pPr>
            <a:r>
              <a:t>124</a:t>
            </a:r>
          </a:p>
        </p:txBody>
      </p:sp>
      <p:sp>
        <p:nvSpPr>
          <p:cNvPr id="17" name="TextBox 16"/>
          <p:cNvSpPr txBox="1"/>
          <p:nvPr/>
        </p:nvSpPr>
        <p:spPr>
          <a:xfrm>
            <a:off x="8165592" y="4736592"/>
            <a:ext cx="3511296" cy="416051"/>
          </a:xfrm>
          <a:prstGeom prst="rect">
            <a:avLst/>
          </a:prstGeom>
          <a:noFill/>
        </p:spPr>
        <p:txBody>
          <a:bodyPr wrap="square">
            <a:spAutoFit/>
          </a:bodyPr>
          <a:lstStyle/>
          <a:p>
            <a:pPr algn="ctr">
              <a:defRPr sz="1000" b="0" i="0">
                <a:solidFill>
                  <a:srgbClr val="C8D2E6"/>
                </a:solidFill>
              </a:defRPr>
            </a:pPr>
            <a:r>
              <a:t>YOUTUBE</a:t>
            </a:r>
          </a:p>
        </p:txBody>
      </p:sp>
      <p:sp>
        <p:nvSpPr>
          <p:cNvPr id="18" name="Rectangle 17"/>
          <p:cNvSpPr/>
          <p:nvPr/>
        </p:nvSpPr>
        <p:spPr>
          <a:xfrm>
            <a:off x="8092440" y="5440680"/>
            <a:ext cx="3657600" cy="118872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5440680"/>
            <a:ext cx="365760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5577840"/>
            <a:ext cx="3474720" cy="618134"/>
          </a:xfrm>
          <a:prstGeom prst="rect">
            <a:avLst/>
          </a:prstGeom>
          <a:noFill/>
        </p:spPr>
        <p:txBody>
          <a:bodyPr wrap="square">
            <a:spAutoFit/>
          </a:bodyPr>
          <a:lstStyle/>
          <a:p>
            <a:pPr algn="ctr">
              <a:defRPr sz="2200" b="1" i="0">
                <a:solidFill>
                  <a:srgbClr val="FFFFFF"/>
                </a:solidFill>
              </a:defRPr>
            </a:pPr>
            <a:r>
              <a:t>17,111</a:t>
            </a:r>
          </a:p>
        </p:txBody>
      </p:sp>
      <p:sp>
        <p:nvSpPr>
          <p:cNvPr id="21" name="TextBox 20"/>
          <p:cNvSpPr txBox="1"/>
          <p:nvPr/>
        </p:nvSpPr>
        <p:spPr>
          <a:xfrm>
            <a:off x="8165592" y="6153912"/>
            <a:ext cx="3511296" cy="416051"/>
          </a:xfrm>
          <a:prstGeom prst="rect">
            <a:avLst/>
          </a:prstGeom>
          <a:noFill/>
        </p:spPr>
        <p:txBody>
          <a:bodyPr wrap="square">
            <a:spAutoFit/>
          </a:bodyPr>
          <a:lstStyle/>
          <a:p>
            <a:pPr algn="ctr">
              <a:defRPr sz="1000" b="0" i="0">
                <a:solidFill>
                  <a:srgbClr val="C8D2E6"/>
                </a:solidFill>
              </a:defRPr>
            </a:pPr>
            <a:r>
              <a:t>LINKEDIN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Engagement Benchmarks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Performance metrics compared to industry standards</a:t>
            </a:r>
          </a:p>
        </p:txBody>
      </p:sp>
      <p:graphicFrame>
        <p:nvGraphicFramePr>
          <p:cNvPr id="5" name="Table 4"/>
          <p:cNvGraphicFramePr>
            <a:graphicFrameLocks noGrp="1"/>
          </p:cNvGraphicFramePr>
          <p:nvPr/>
        </p:nvGraphicFramePr>
        <p:xfrm>
          <a:off x="457200" y="1188720"/>
          <a:ext cx="11247120" cy="530352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89280">
                <a:tc>
                  <a:txBody>
                    <a:bodyPr/>
                    <a:lstStyle/>
                    <a:p>
                      <a:pPr algn="ctr">
                        <a:defRPr b="1" sz="1200">
                          <a:solidFill>
                            <a:srgbClr val="050C1A"/>
                          </a:solidFill>
                        </a:defRPr>
                      </a:pPr>
                      <a:r>
                        <a:t>Platform</a:t>
                      </a:r>
                    </a:p>
                  </a:txBody>
                  <a:tcPr>
                    <a:solidFill>
                      <a:srgbClr val="D4AF37"/>
                    </a:solidFill>
                  </a:tcPr>
                </a:tc>
                <a:tc>
                  <a:txBody>
                    <a:bodyPr/>
                    <a:lstStyle/>
                    <a:p>
                      <a:pPr algn="ctr">
                        <a:defRPr b="1" sz="1200">
                          <a:solidFill>
                            <a:srgbClr val="050C1A"/>
                          </a:solidFill>
                        </a:defRPr>
                      </a:pPr>
                      <a:r>
                        <a:t>Key 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c>
                  <a:txBody>
                    <a:bodyPr/>
                    <a:lstStyle/>
                    <a:p>
                      <a:pPr algn="ctr">
                        <a:defRPr b="1" sz="1200">
                          <a:solidFill>
                            <a:srgbClr val="050C1A"/>
                          </a:solidFill>
                        </a:defRPr>
                      </a:pPr>
                      <a:r>
                        <a:t>Benchmark</a:t>
                      </a:r>
                    </a:p>
                  </a:txBody>
                  <a:tcPr>
                    <a:solidFill>
                      <a:srgbClr val="D4AF37"/>
                    </a:solidFill>
                  </a:tcPr>
                </a:tc>
                <a:tc>
                  <a:txBody>
                    <a:bodyPr/>
                    <a:lstStyle/>
                    <a:p>
                      <a:pPr algn="ctr">
                        <a:defRPr b="1" sz="1200">
                          <a:solidFill>
                            <a:srgbClr val="050C1A"/>
                          </a:solidFill>
                        </a:defRPr>
                      </a:pPr>
                      <a:r>
                        <a:t>Status</a:t>
                      </a:r>
                    </a:p>
                  </a:txBody>
                  <a:tcPr>
                    <a:solidFill>
                      <a:srgbClr val="D4AF37"/>
                    </a:solidFill>
                  </a:tcPr>
                </a:tc>
              </a:tr>
              <a:tr h="5892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Engagement Rate</a:t>
                      </a:r>
                    </a:p>
                  </a:txBody>
                  <a:tcPr>
                    <a:solidFill>
                      <a:srgbClr val="0E1E3A"/>
                    </a:solidFill>
                  </a:tcPr>
                </a:tc>
                <a:tc>
                  <a:txBody>
                    <a:bodyPr/>
                    <a:lstStyle/>
                    <a:p>
                      <a:pPr algn="ctr">
                        <a:defRPr sz="1100">
                          <a:solidFill>
                            <a:srgbClr val="FFFFFF"/>
                          </a:solidFill>
                        </a:defRPr>
                      </a:pPr>
                      <a:r>
                        <a:t>8.49%</a:t>
                      </a:r>
                    </a:p>
                  </a:txBody>
                  <a:tcPr>
                    <a:solidFill>
                      <a:srgbClr val="0E1E3A"/>
                    </a:solidFill>
                  </a:tcPr>
                </a:tc>
                <a:tc>
                  <a:txBody>
                    <a:bodyPr/>
                    <a:lstStyle/>
                    <a:p>
                      <a:pPr algn="ctr">
                        <a:defRPr sz="1100">
                          <a:solidFill>
                            <a:srgbClr val="FFFFFF"/>
                          </a:solidFill>
                        </a:defRPr>
                      </a:pPr>
                      <a:r>
                        <a:t>&gt;3% is good</a:t>
                      </a:r>
                    </a:p>
                  </a:txBody>
                  <a:tcPr>
                    <a:solidFill>
                      <a:srgbClr val="0E1E3A"/>
                    </a:solidFill>
                  </a:tcPr>
                </a:tc>
                <a:tc>
                  <a:txBody>
                    <a:bodyPr/>
                    <a:lstStyle/>
                    <a:p>
                      <a:pPr algn="ctr">
                        <a:defRPr sz="1100">
                          <a:solidFill>
                            <a:srgbClr val="FFFFFF"/>
                          </a:solidFill>
                        </a:defRPr>
                      </a:pPr>
                      <a:r>
                        <a:t>🟢 Strong</a:t>
                      </a:r>
                    </a:p>
                  </a:txBody>
                  <a:tcPr>
                    <a:solidFill>
                      <a:srgbClr val="0E1E3A"/>
                    </a:solidFill>
                  </a:tcPr>
                </a:tc>
              </a:tr>
              <a:tr h="589280">
                <a:tc>
                  <a:txBody>
                    <a:bodyPr/>
                    <a:lstStyle/>
                    <a:p>
                      <a:pPr algn="ctr">
                        <a:defRPr sz="1100">
                          <a:solidFill>
                            <a:srgbClr val="FFFFFF"/>
                          </a:solidFill>
                        </a:defRPr>
                      </a:pPr>
                      <a:r>
                        <a:t>📸 Instagram</a:t>
                      </a:r>
                    </a:p>
                  </a:txBody>
                  <a:tcPr>
                    <a:solidFill>
                      <a:srgbClr val="050C1A"/>
                    </a:solidFill>
                  </a:tcPr>
                </a:tc>
                <a:tc>
                  <a:txBody>
                    <a:bodyPr/>
                    <a:lstStyle/>
                    <a:p>
                      <a:pPr algn="ctr">
                        <a:defRPr sz="1100">
                          <a:solidFill>
                            <a:srgbClr val="FFFFFF"/>
                          </a:solidFill>
                        </a:defRPr>
                      </a:pPr>
                      <a:r>
                        <a:t>Avg Likes/Post</a:t>
                      </a:r>
                    </a:p>
                  </a:txBody>
                  <a:tcPr>
                    <a:solidFill>
                      <a:srgbClr val="050C1A"/>
                    </a:solidFill>
                  </a:tcPr>
                </a:tc>
                <a:tc>
                  <a:txBody>
                    <a:bodyPr/>
                    <a:lstStyle/>
                    <a:p>
                      <a:pPr algn="ctr">
                        <a:defRPr sz="1100">
                          <a:solidFill>
                            <a:srgbClr val="FFFFFF"/>
                          </a:solidFill>
                        </a:defRPr>
                      </a:pPr>
                      <a:r>
                        <a:t>18</a:t>
                      </a:r>
                    </a:p>
                  </a:txBody>
                  <a:tcPr>
                    <a:solidFill>
                      <a:srgbClr val="050C1A"/>
                    </a:solidFill>
                  </a:tcPr>
                </a:tc>
                <a:tc>
                  <a:txBody>
                    <a:bodyPr/>
                    <a:lstStyle/>
                    <a:p>
                      <a:pPr algn="ctr">
                        <a:defRPr sz="1100">
                          <a:solidFill>
                            <a:srgbClr val="FFFFFF"/>
                          </a:solidFill>
                        </a:defRPr>
                      </a:pPr>
                      <a:r>
                        <a:t>Varies by niche</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Avg Comments/Post</a:t>
                      </a:r>
                    </a:p>
                  </a:txBody>
                  <a:tcPr>
                    <a:solidFill>
                      <a:srgbClr val="0E1E3A"/>
                    </a:solidFill>
                  </a:tcPr>
                </a:tc>
                <a:tc>
                  <a:txBody>
                    <a:bodyPr/>
                    <a:lstStyle/>
                    <a:p>
                      <a:pPr algn="ctr">
                        <a:defRPr sz="1100">
                          <a:solidFill>
                            <a:srgbClr val="FFFFFF"/>
                          </a:solidFill>
                        </a:defRPr>
                      </a:pPr>
                      <a:r>
                        <a:t>N/A</a:t>
                      </a:r>
                    </a:p>
                  </a:txBody>
                  <a:tcPr>
                    <a:solidFill>
                      <a:srgbClr val="0E1E3A"/>
                    </a:solidFill>
                  </a:tcPr>
                </a:tc>
                <a:tc>
                  <a:txBody>
                    <a:bodyPr/>
                    <a:lstStyle/>
                    <a:p>
                      <a:pPr algn="ctr">
                        <a:defRPr sz="1100">
                          <a:solidFill>
                            <a:srgbClr val="FFFFFF"/>
                          </a:solidFill>
                        </a:defRPr>
                      </a:pPr>
                      <a:r>
                        <a:t>&gt;20 is strong</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Facebook</a:t>
                      </a:r>
                    </a:p>
                  </a:txBody>
                  <a:tcPr>
                    <a:solidFill>
                      <a:srgbClr val="050C1A"/>
                    </a:solidFill>
                  </a:tcPr>
                </a:tc>
                <a:tc>
                  <a:txBody>
                    <a:bodyPr/>
                    <a:lstStyle/>
                    <a:p>
                      <a:pPr algn="ctr">
                        <a:defRPr sz="1100">
                          <a:solidFill>
                            <a:srgbClr val="FFFFFF"/>
                          </a:solidFill>
                        </a:defRPr>
                      </a:pPr>
                      <a:r>
                        <a:t>Page Followers</a:t>
                      </a:r>
                    </a:p>
                  </a:txBody>
                  <a:tcPr>
                    <a:solidFill>
                      <a:srgbClr val="050C1A"/>
                    </a:solidFill>
                  </a:tcPr>
                </a:tc>
                <a:tc>
                  <a:txBody>
                    <a:bodyPr/>
                    <a:lstStyle/>
                    <a:p>
                      <a:pPr algn="ctr">
                        <a:defRPr sz="1100">
                          <a:solidFill>
                            <a:srgbClr val="FFFFFF"/>
                          </a:solidFill>
                        </a:defRPr>
                      </a:pPr>
                      <a:r>
                        <a:t>667</a:t>
                      </a:r>
                    </a:p>
                  </a:txBody>
                  <a:tcPr>
                    <a:solidFill>
                      <a:srgbClr val="050C1A"/>
                    </a:solidFill>
                  </a:tcPr>
                </a:tc>
                <a:tc>
                  <a:txBody>
                    <a:bodyPr/>
                    <a:lstStyle/>
                    <a:p>
                      <a:pPr algn="ctr">
                        <a:defRPr sz="1100">
                          <a:solidFill>
                            <a:srgbClr val="FFFFFF"/>
                          </a:solidFill>
                        </a:defRPr>
                      </a:pPr>
                      <a:r>
                        <a:t>Varies by industry</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Facebook</a:t>
                      </a:r>
                    </a:p>
                  </a:txBody>
                  <a:tcPr>
                    <a:solidFill>
                      <a:srgbClr val="0E1E3A"/>
                    </a:solidFill>
                  </a:tcPr>
                </a:tc>
                <a:tc>
                  <a:txBody>
                    <a:bodyPr/>
                    <a:lstStyle/>
                    <a:p>
                      <a:pPr algn="ctr">
                        <a:defRPr sz="1100">
                          <a:solidFill>
                            <a:srgbClr val="FFFFFF"/>
                          </a:solidFill>
                        </a:defRPr>
                      </a:pPr>
                      <a:r>
                        <a:t>Page Rating</a:t>
                      </a:r>
                    </a:p>
                  </a:txBody>
                  <a:tcPr>
                    <a:solidFill>
                      <a:srgbClr val="0E1E3A"/>
                    </a:solidFill>
                  </a:tcPr>
                </a:tc>
                <a:tc>
                  <a:txBody>
                    <a:bodyPr/>
                    <a:lstStyle/>
                    <a:p>
                      <a:pPr algn="ctr">
                        <a:defRPr sz="1100">
                          <a:solidFill>
                            <a:srgbClr val="FFFFFF"/>
                          </a:solidFill>
                        </a:defRPr>
                      </a:pPr>
                      <a:r>
                        <a:t>N/A</a:t>
                      </a:r>
                    </a:p>
                  </a:txBody>
                  <a:tcPr>
                    <a:solidFill>
                      <a:srgbClr val="0E1E3A"/>
                    </a:solidFill>
                  </a:tcPr>
                </a:tc>
                <a:tc>
                  <a:txBody>
                    <a:bodyPr/>
                    <a:lstStyle/>
                    <a:p>
                      <a:pPr algn="ctr">
                        <a:defRPr sz="1100">
                          <a:solidFill>
                            <a:srgbClr val="FFFFFF"/>
                          </a:solidFill>
                        </a:defRPr>
                      </a:pPr>
                      <a:r>
                        <a:t>&gt;4.0 is good</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YouTube</a:t>
                      </a:r>
                    </a:p>
                  </a:txBody>
                  <a:tcPr>
                    <a:solidFill>
                      <a:srgbClr val="050C1A"/>
                    </a:solidFill>
                  </a:tcPr>
                </a:tc>
                <a:tc>
                  <a:txBody>
                    <a:bodyPr/>
                    <a:lstStyle/>
                    <a:p>
                      <a:pPr algn="ctr">
                        <a:defRPr sz="1100">
                          <a:solidFill>
                            <a:srgbClr val="FFFFFF"/>
                          </a:solidFill>
                        </a:defRPr>
                      </a:pPr>
                      <a:r>
                        <a:t>Subscribers</a:t>
                      </a:r>
                    </a:p>
                  </a:txBody>
                  <a:tcPr>
                    <a:solidFill>
                      <a:srgbClr val="050C1A"/>
                    </a:solidFill>
                  </a:tcPr>
                </a:tc>
                <a:tc>
                  <a:txBody>
                    <a:bodyPr/>
                    <a:lstStyle/>
                    <a:p>
                      <a:pPr algn="ctr">
                        <a:defRPr sz="1100">
                          <a:solidFill>
                            <a:srgbClr val="FFFFFF"/>
                          </a:solidFill>
                        </a:defRPr>
                      </a:pPr>
                      <a:r>
                        <a:t>124</a:t>
                      </a:r>
                    </a:p>
                  </a:txBody>
                  <a:tcPr>
                    <a:solidFill>
                      <a:srgbClr val="050C1A"/>
                    </a:solidFill>
                  </a:tcPr>
                </a:tc>
                <a:tc>
                  <a:txBody>
                    <a:bodyPr/>
                    <a:lstStyle/>
                    <a:p>
                      <a:pPr algn="ctr">
                        <a:defRPr sz="1100">
                          <a:solidFill>
                            <a:srgbClr val="FFFFFF"/>
                          </a:solidFill>
                        </a:defRPr>
                      </a:pPr>
                      <a:r>
                        <a:t>Varies by niche</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YouTube</a:t>
                      </a:r>
                    </a:p>
                  </a:txBody>
                  <a:tcPr>
                    <a:solidFill>
                      <a:srgbClr val="0E1E3A"/>
                    </a:solidFill>
                  </a:tcPr>
                </a:tc>
                <a:tc>
                  <a:txBody>
                    <a:bodyPr/>
                    <a:lstStyle/>
                    <a:p>
                      <a:pPr algn="ctr">
                        <a:defRPr sz="1100">
                          <a:solidFill>
                            <a:srgbClr val="FFFFFF"/>
                          </a:solidFill>
                        </a:defRPr>
                      </a:pPr>
                      <a:r>
                        <a:t>Views per Video</a:t>
                      </a:r>
                    </a:p>
                  </a:txBody>
                  <a:tcPr>
                    <a:solidFill>
                      <a:srgbClr val="0E1E3A"/>
                    </a:solidFill>
                  </a:tcPr>
                </a:tc>
                <a:tc>
                  <a:txBody>
                    <a:bodyPr/>
                    <a:lstStyle/>
                    <a:p>
                      <a:pPr algn="ctr">
                        <a:defRPr sz="1100">
                          <a:solidFill>
                            <a:srgbClr val="FFFFFF"/>
                          </a:solidFill>
                        </a:defRPr>
                      </a:pPr>
                      <a:r>
                        <a:t>See slide 8</a:t>
                      </a:r>
                    </a:p>
                  </a:txBody>
                  <a:tcPr>
                    <a:solidFill>
                      <a:srgbClr val="0E1E3A"/>
                    </a:solidFill>
                  </a:tcPr>
                </a:tc>
                <a:tc>
                  <a:txBody>
                    <a:bodyPr/>
                    <a:lstStyle/>
                    <a:p>
                      <a:pPr algn="ctr">
                        <a:defRPr sz="1100">
                          <a:solidFill>
                            <a:srgbClr val="FFFFFF"/>
                          </a:solidFill>
                        </a:defRPr>
                      </a:pPr>
                      <a:r>
                        <a:t>&gt;1000 is good</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LinkedIn</a:t>
                      </a:r>
                    </a:p>
                  </a:txBody>
                  <a:tcPr>
                    <a:solidFill>
                      <a:srgbClr val="050C1A"/>
                    </a:solidFill>
                  </a:tcPr>
                </a:tc>
                <a:tc>
                  <a:txBody>
                    <a:bodyPr/>
                    <a:lstStyle/>
                    <a:p>
                      <a:pPr algn="ctr">
                        <a:defRPr sz="1100">
                          <a:solidFill>
                            <a:srgbClr val="FFFFFF"/>
                          </a:solidFill>
                        </a:defRPr>
                      </a:pPr>
                      <a:r>
                        <a:t>Followers</a:t>
                      </a:r>
                    </a:p>
                  </a:txBody>
                  <a:tcPr>
                    <a:solidFill>
                      <a:srgbClr val="050C1A"/>
                    </a:solidFill>
                  </a:tcPr>
                </a:tc>
                <a:tc>
                  <a:txBody>
                    <a:bodyPr/>
                    <a:lstStyle/>
                    <a:p>
                      <a:pPr algn="ctr">
                        <a:defRPr sz="1100">
                          <a:solidFill>
                            <a:srgbClr val="FFFFFF"/>
                          </a:solidFill>
                        </a:defRPr>
                      </a:pPr>
                      <a:r>
                        <a:t>17,111</a:t>
                      </a:r>
                    </a:p>
                  </a:txBody>
                  <a:tcPr>
                    <a:solidFill>
                      <a:srgbClr val="050C1A"/>
                    </a:solidFill>
                  </a:tcPr>
                </a:tc>
                <a:tc>
                  <a:txBody>
                    <a:bodyPr/>
                    <a:lstStyle/>
                    <a:p>
                      <a:pPr algn="ctr">
                        <a:defRPr sz="1100">
                          <a:solidFill>
                            <a:srgbClr val="FFFFFF"/>
                          </a:solidFill>
                        </a:defRPr>
                      </a:pPr>
                      <a:r>
                        <a:t>Varies by industry</a:t>
                      </a:r>
                    </a:p>
                  </a:txBody>
                  <a:tcPr>
                    <a:solidFill>
                      <a:srgbClr val="050C1A"/>
                    </a:solidFill>
                  </a:tcPr>
                </a:tc>
                <a:tc>
                  <a:txBody>
                    <a:bodyPr/>
                    <a:lstStyle/>
                    <a:p>
                      <a:pPr algn="ctr">
                        <a:defRPr sz="1100">
                          <a:solidFill>
                            <a:srgbClr val="FFFFFF"/>
                          </a:solidFill>
                        </a:defRPr>
                      </a:pPr>
                      <a:r>
                        <a:t>📊 Data</a:t>
                      </a:r>
                    </a:p>
                  </a:txBody>
                  <a:tcPr>
                    <a:solidFill>
                      <a:srgbClr val="050C1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Key Strengths &amp; Gaps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What's working and what needs attention</a:t>
            </a:r>
          </a:p>
        </p:txBody>
      </p:sp>
      <p:sp>
        <p:nvSpPr>
          <p:cNvPr id="5" name="TextBox 4"/>
          <p:cNvSpPr txBox="1"/>
          <p:nvPr/>
        </p:nvSpPr>
        <p:spPr>
          <a:xfrm>
            <a:off x="457200" y="1143000"/>
            <a:ext cx="5669280" cy="320040"/>
          </a:xfrm>
          <a:prstGeom prst="rect">
            <a:avLst/>
          </a:prstGeom>
          <a:noFill/>
        </p:spPr>
        <p:txBody>
          <a:bodyPr wrap="square">
            <a:spAutoFit/>
          </a:bodyPr>
          <a:lstStyle/>
          <a:p>
            <a:pPr algn="l">
              <a:defRPr sz="1100" b="1" i="0">
                <a:solidFill>
                  <a:srgbClr val="2ECC71"/>
                </a:solidFill>
              </a:defRPr>
            </a:pPr>
            <a:r>
              <a:t>STRONGEST PLATFORM</a:t>
            </a:r>
          </a:p>
        </p:txBody>
      </p:sp>
      <p:sp>
        <p:nvSpPr>
          <p:cNvPr id="6" name="Rectangle 5"/>
          <p:cNvSpPr/>
          <p:nvPr/>
        </p:nvSpPr>
        <p:spPr>
          <a:xfrm>
            <a:off x="457200" y="1463040"/>
            <a:ext cx="566928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5303520" cy="1005840"/>
          </a:xfrm>
          <a:prstGeom prst="rect">
            <a:avLst/>
          </a:prstGeom>
          <a:noFill/>
        </p:spPr>
        <p:txBody>
          <a:bodyPr wrap="square">
            <a:spAutoFit/>
          </a:bodyPr>
          <a:lstStyle/>
          <a:p>
            <a:pPr algn="l">
              <a:defRPr sz="1300" b="0" i="0">
                <a:solidFill>
                  <a:srgbClr val="FFFFFF"/>
                </a:solidFill>
              </a:defRPr>
            </a:pPr>
            <a:r>
              <a:t>LinkedIn is by far the strongest platform with 17,111 followers, reflecting the brand's B2B IT services positioning and its ability to reach decision-makers and professionals in the industry.</a:t>
            </a:r>
          </a:p>
        </p:txBody>
      </p:sp>
      <p:sp>
        <p:nvSpPr>
          <p:cNvPr id="8" name="TextBox 7"/>
          <p:cNvSpPr txBox="1"/>
          <p:nvPr/>
        </p:nvSpPr>
        <p:spPr>
          <a:xfrm>
            <a:off x="6263640" y="1143000"/>
            <a:ext cx="5394960" cy="320040"/>
          </a:xfrm>
          <a:prstGeom prst="rect">
            <a:avLst/>
          </a:prstGeom>
          <a:noFill/>
        </p:spPr>
        <p:txBody>
          <a:bodyPr wrap="square">
            <a:spAutoFit/>
          </a:bodyPr>
          <a:lstStyle/>
          <a:p>
            <a:pPr algn="l">
              <a:defRPr sz="1100" b="1" i="0">
                <a:solidFill>
                  <a:srgbClr val="FF3B30"/>
                </a:solidFill>
              </a:defRPr>
            </a:pPr>
            <a:r>
              <a:t>NEEDS MOST WORK</a:t>
            </a:r>
          </a:p>
        </p:txBody>
      </p:sp>
      <p:sp>
        <p:nvSpPr>
          <p:cNvPr id="9" name="Rectangle 8"/>
          <p:cNvSpPr/>
          <p:nvPr/>
        </p:nvSpPr>
        <p:spPr>
          <a:xfrm>
            <a:off x="6263640" y="1463040"/>
            <a:ext cx="539496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5029200" cy="1005840"/>
          </a:xfrm>
          <a:prstGeom prst="rect">
            <a:avLst/>
          </a:prstGeom>
          <a:noFill/>
        </p:spPr>
        <p:txBody>
          <a:bodyPr wrap="square">
            <a:spAutoFit/>
          </a:bodyPr>
          <a:lstStyle/>
          <a:p>
            <a:pPr algn="l">
              <a:defRPr sz="1300" b="0" i="0">
                <a:solidFill>
                  <a:srgbClr val="FFFFFF"/>
                </a:solidFill>
              </a:defRPr>
            </a:pPr>
            <a:r>
              <a:t>YouTube is the weakest platform with only 124 subscribers despite 9 years of activity and 71 videos, suggesting poor optimization and promotion of video content.</a:t>
            </a:r>
          </a:p>
        </p:txBody>
      </p:sp>
      <p:sp>
        <p:nvSpPr>
          <p:cNvPr id="11" name="Rectangle 10"/>
          <p:cNvSpPr/>
          <p:nvPr/>
        </p:nvSpPr>
        <p:spPr>
          <a:xfrm>
            <a:off x="457200" y="2880360"/>
            <a:ext cx="5669280" cy="12801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71800"/>
            <a:ext cx="5394960" cy="320040"/>
          </a:xfrm>
          <a:prstGeom prst="rect">
            <a:avLst/>
          </a:prstGeom>
          <a:noFill/>
        </p:spPr>
        <p:txBody>
          <a:bodyPr wrap="square">
            <a:spAutoFit/>
          </a:bodyPr>
          <a:lstStyle/>
          <a:p>
            <a:pPr algn="l">
              <a:defRPr sz="1200" b="1" i="0">
                <a:solidFill>
                  <a:srgbClr val="16A085"/>
                </a:solidFill>
              </a:defRPr>
            </a:pPr>
            <a:r>
              <a:t>🔄 Content Consistency</a:t>
            </a:r>
          </a:p>
        </p:txBody>
      </p:sp>
      <p:sp>
        <p:nvSpPr>
          <p:cNvPr id="13" name="TextBox 12"/>
          <p:cNvSpPr txBox="1"/>
          <p:nvPr/>
        </p:nvSpPr>
        <p:spPr>
          <a:xfrm>
            <a:off x="594360" y="3291840"/>
            <a:ext cx="5394960" cy="777239"/>
          </a:xfrm>
          <a:prstGeom prst="rect">
            <a:avLst/>
          </a:prstGeom>
          <a:noFill/>
        </p:spPr>
        <p:txBody>
          <a:bodyPr wrap="square">
            <a:spAutoFit/>
          </a:bodyPr>
          <a:lstStyle/>
          <a:p>
            <a:pPr algn="l">
              <a:defRPr sz="1100" b="0" i="0">
                <a:solidFill>
                  <a:srgbClr val="FFFFFF"/>
                </a:solidFill>
              </a:defRPr>
            </a:pPr>
            <a:r>
              <a:t>The brand is inconsistent across platforms — profiles lack bios, about sections, and contact details on most channels, and the massive follower gap between LinkedIn and other platforms suggests uneven investment in social media strategy.</a:t>
            </a:r>
          </a:p>
        </p:txBody>
      </p:sp>
      <p:sp>
        <p:nvSpPr>
          <p:cNvPr id="14" name="Rectangle 13"/>
          <p:cNvSpPr/>
          <p:nvPr/>
        </p:nvSpPr>
        <p:spPr>
          <a:xfrm>
            <a:off x="6263640" y="2880360"/>
            <a:ext cx="5394960" cy="12801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971800"/>
            <a:ext cx="5120640" cy="320040"/>
          </a:xfrm>
          <a:prstGeom prst="rect">
            <a:avLst/>
          </a:prstGeom>
          <a:noFill/>
        </p:spPr>
        <p:txBody>
          <a:bodyPr wrap="square">
            <a:spAutoFit/>
          </a:bodyPr>
          <a:lstStyle/>
          <a:p>
            <a:pPr algn="l">
              <a:defRPr sz="1200" b="1" i="0">
                <a:solidFill>
                  <a:srgbClr val="D4AF37"/>
                </a:solidFill>
              </a:defRPr>
            </a:pPr>
            <a:r>
              <a:t>🚀 Growth Opportunity</a:t>
            </a:r>
          </a:p>
        </p:txBody>
      </p:sp>
      <p:sp>
        <p:nvSpPr>
          <p:cNvPr id="16" name="TextBox 15"/>
          <p:cNvSpPr txBox="1"/>
          <p:nvPr/>
        </p:nvSpPr>
        <p:spPr>
          <a:xfrm>
            <a:off x="6400800" y="3291840"/>
            <a:ext cx="5120640" cy="777239"/>
          </a:xfrm>
          <a:prstGeom prst="rect">
            <a:avLst/>
          </a:prstGeom>
          <a:noFill/>
        </p:spPr>
        <p:txBody>
          <a:bodyPr wrap="square">
            <a:spAutoFit/>
          </a:bodyPr>
          <a:lstStyle/>
          <a:p>
            <a:pPr algn="l">
              <a:defRPr sz="1100" b="0" i="0">
                <a:solidFill>
                  <a:srgbClr val="FFFFFF"/>
                </a:solidFill>
              </a:defRPr>
            </a:pPr>
            <a:r>
              <a:t>The biggest growth opportunity lies in repurposing LinkedIn content across Instagram, Facebook, and YouTube to leverage the existing 17,111 LinkedIn followers and drive cross-platform audience growth.</a:t>
            </a:r>
          </a:p>
        </p:txBody>
      </p:sp>
      <p:sp>
        <p:nvSpPr>
          <p:cNvPr id="17" name="Rectangle 16"/>
          <p:cNvSpPr/>
          <p:nvPr/>
        </p:nvSpPr>
        <p:spPr>
          <a:xfrm>
            <a:off x="457200" y="4343400"/>
            <a:ext cx="112471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34840"/>
            <a:ext cx="4572000" cy="320040"/>
          </a:xfrm>
          <a:prstGeom prst="rect">
            <a:avLst/>
          </a:prstGeom>
          <a:noFill/>
        </p:spPr>
        <p:txBody>
          <a:bodyPr wrap="square">
            <a:spAutoFit/>
          </a:bodyPr>
          <a:lstStyle/>
          <a:p>
            <a:pPr algn="l">
              <a:defRPr sz="1100" b="1" i="0">
                <a:solidFill>
                  <a:srgbClr val="8E44AD"/>
                </a:solidFill>
              </a:defRPr>
            </a:pPr>
            <a:r>
              <a:t>OVERALL SUMMARY</a:t>
            </a:r>
          </a:p>
        </p:txBody>
      </p:sp>
      <p:sp>
        <p:nvSpPr>
          <p:cNvPr id="19" name="TextBox 18"/>
          <p:cNvSpPr txBox="1"/>
          <p:nvPr/>
        </p:nvSpPr>
        <p:spPr>
          <a:xfrm>
            <a:off x="685800" y="4800600"/>
            <a:ext cx="10789920" cy="1143000"/>
          </a:xfrm>
          <a:prstGeom prst="rect">
            <a:avLst/>
          </a:prstGeom>
          <a:noFill/>
        </p:spPr>
        <p:txBody>
          <a:bodyPr wrap="square">
            <a:spAutoFit/>
          </a:bodyPr>
          <a:lstStyle/>
          <a:p>
            <a:pPr algn="l">
              <a:defRPr sz="1300" b="0" i="0">
                <a:solidFill>
                  <a:srgbClr val="FFFFFF"/>
                </a:solidFill>
              </a:defRPr>
            </a:pPr>
            <a:r>
              <a:t>eReleGo Technologies has a fragmented social media presence with significant variation in follower counts across platforms, most notably a strong LinkedIn following of 17,111 compared to much smaller audiences on Instagram, Facebook, and YouTube. The brand appears to invest minimally in profile optimization, with missing bios, about sections, and contact details across multiple platforms. Their highest engagement is on Instagram with an 8.49% engagement rate, though the absolute numbers remain low due to a small follower base.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457200"/>
          </a:xfrm>
          <a:prstGeom prst="rect">
            <a:avLst/>
          </a:prstGeom>
          <a:noFill/>
        </p:spPr>
        <p:txBody>
          <a:bodyPr wrap="square">
            <a:spAutoFit/>
          </a:bodyPr>
          <a:lstStyle/>
          <a:p>
            <a:pPr algn="l">
              <a:defRPr sz="1300" b="1" i="1">
                <a:solidFill>
                  <a:srgbClr val="D4AF37"/>
                </a:solidFill>
              </a:defRPr>
            </a:pPr>
            <a:r>
              <a:t>STRATEGIC RECOMMENDATIONS</a:t>
            </a:r>
          </a:p>
        </p:txBody>
      </p:sp>
      <p:sp>
        <p:nvSpPr>
          <p:cNvPr id="4" name="TextBox 3"/>
          <p:cNvSpPr txBox="1"/>
          <p:nvPr/>
        </p:nvSpPr>
        <p:spPr>
          <a:xfrm>
            <a:off x="548640" y="640080"/>
            <a:ext cx="10972800" cy="594360"/>
          </a:xfrm>
          <a:prstGeom prst="rect">
            <a:avLst/>
          </a:prstGeom>
          <a:noFill/>
        </p:spPr>
        <p:txBody>
          <a:bodyPr wrap="square">
            <a:spAutoFit/>
          </a:bodyPr>
          <a:lstStyle/>
          <a:p>
            <a:pPr algn="l">
              <a:defRPr sz="3200" b="1" i="0">
                <a:solidFill>
                  <a:srgbClr val="FFFFFF"/>
                </a:solidFill>
              </a:defRPr>
            </a:pPr>
            <a:r>
              <a:t>Action Plan</a:t>
            </a:r>
          </a:p>
        </p:txBody>
      </p:sp>
      <p:sp>
        <p:nvSpPr>
          <p:cNvPr id="5" name="Rectangle 4"/>
          <p:cNvSpPr/>
          <p:nvPr/>
        </p:nvSpPr>
        <p:spPr>
          <a:xfrm>
            <a:off x="457200" y="1417320"/>
            <a:ext cx="548640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5120640" cy="347472"/>
          </a:xfrm>
          <a:prstGeom prst="rect">
            <a:avLst/>
          </a:prstGeom>
          <a:noFill/>
        </p:spPr>
        <p:txBody>
          <a:bodyPr wrap="square">
            <a:spAutoFit/>
          </a:bodyPr>
          <a:lstStyle/>
          <a:p>
            <a:pPr algn="l">
              <a:defRPr sz="1300" b="1" i="0">
                <a:solidFill>
                  <a:srgbClr val="2ECC71"/>
                </a:solidFill>
              </a:defRPr>
            </a:pPr>
            <a:r>
              <a:t>📸  Instagram</a:t>
            </a:r>
          </a:p>
        </p:txBody>
      </p:sp>
      <p:sp>
        <p:nvSpPr>
          <p:cNvPr id="7" name="TextBox 6"/>
          <p:cNvSpPr txBox="1"/>
          <p:nvPr/>
        </p:nvSpPr>
        <p:spPr>
          <a:xfrm>
            <a:off x="640080" y="1892808"/>
            <a:ext cx="5120640" cy="621792"/>
          </a:xfrm>
          <a:prstGeom prst="rect">
            <a:avLst/>
          </a:prstGeom>
          <a:noFill/>
        </p:spPr>
        <p:txBody>
          <a:bodyPr wrap="square">
            <a:spAutoFit/>
          </a:bodyPr>
          <a:lstStyle/>
          <a:p>
            <a:pPr algn="l">
              <a:defRPr sz="1200" b="0" i="0">
                <a:solidFill>
                  <a:srgbClr val="FFFFFF"/>
                </a:solidFill>
              </a:defRPr>
            </a:pPr>
            <a:r>
              <a:t>Add a compelling bio with a clear value proposition and a link to the website to convert profile visitors into followers and leads.</a:t>
            </a:r>
          </a:p>
        </p:txBody>
      </p:sp>
      <p:sp>
        <p:nvSpPr>
          <p:cNvPr id="8" name="Rectangle 7"/>
          <p:cNvSpPr/>
          <p:nvPr/>
        </p:nvSpPr>
        <p:spPr>
          <a:xfrm>
            <a:off x="457200" y="2834640"/>
            <a:ext cx="5486400" cy="118872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26080"/>
            <a:ext cx="5120640" cy="347472"/>
          </a:xfrm>
          <a:prstGeom prst="rect">
            <a:avLst/>
          </a:prstGeom>
          <a:noFill/>
        </p:spPr>
        <p:txBody>
          <a:bodyPr wrap="square">
            <a:spAutoFit/>
          </a:bodyPr>
          <a:lstStyle/>
          <a:p>
            <a:pPr algn="l">
              <a:defRPr sz="1300" b="1" i="0">
                <a:solidFill>
                  <a:srgbClr val="1A5AFF"/>
                </a:solidFill>
              </a:defRPr>
            </a:pPr>
            <a:r>
              <a:t>👥  Facebook</a:t>
            </a:r>
          </a:p>
        </p:txBody>
      </p:sp>
      <p:sp>
        <p:nvSpPr>
          <p:cNvPr id="10" name="TextBox 9"/>
          <p:cNvSpPr txBox="1"/>
          <p:nvPr/>
        </p:nvSpPr>
        <p:spPr>
          <a:xfrm>
            <a:off x="640080" y="3310128"/>
            <a:ext cx="5120640" cy="621792"/>
          </a:xfrm>
          <a:prstGeom prst="rect">
            <a:avLst/>
          </a:prstGeom>
          <a:noFill/>
        </p:spPr>
        <p:txBody>
          <a:bodyPr wrap="square">
            <a:spAutoFit/>
          </a:bodyPr>
          <a:lstStyle/>
          <a:p>
            <a:pPr algn="l">
              <a:defRPr sz="1200" b="0" i="0">
                <a:solidFill>
                  <a:srgbClr val="FFFFFF"/>
                </a:solidFill>
              </a:defRPr>
            </a:pPr>
            <a:r>
              <a:t>Complete the Facebook page by adding a business category, about section, phone number, email, and website to improve discoverability and credibility.</a:t>
            </a:r>
          </a:p>
        </p:txBody>
      </p:sp>
      <p:sp>
        <p:nvSpPr>
          <p:cNvPr id="11" name="Rectangle 10"/>
          <p:cNvSpPr/>
          <p:nvPr/>
        </p:nvSpPr>
        <p:spPr>
          <a:xfrm>
            <a:off x="6309360" y="1417320"/>
            <a:ext cx="548640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08760"/>
            <a:ext cx="5120640" cy="347472"/>
          </a:xfrm>
          <a:prstGeom prst="rect">
            <a:avLst/>
          </a:prstGeom>
          <a:noFill/>
        </p:spPr>
        <p:txBody>
          <a:bodyPr wrap="square">
            <a:spAutoFit/>
          </a:bodyPr>
          <a:lstStyle/>
          <a:p>
            <a:pPr algn="l">
              <a:defRPr sz="1300" b="1" i="0">
                <a:solidFill>
                  <a:srgbClr val="FF3B30"/>
                </a:solidFill>
              </a:defRPr>
            </a:pPr>
            <a:r>
              <a:t>▶️   YouTube</a:t>
            </a:r>
          </a:p>
        </p:txBody>
      </p:sp>
      <p:sp>
        <p:nvSpPr>
          <p:cNvPr id="13" name="TextBox 12"/>
          <p:cNvSpPr txBox="1"/>
          <p:nvPr/>
        </p:nvSpPr>
        <p:spPr>
          <a:xfrm>
            <a:off x="6492240" y="1892808"/>
            <a:ext cx="5120640" cy="621792"/>
          </a:xfrm>
          <a:prstGeom prst="rect">
            <a:avLst/>
          </a:prstGeom>
          <a:noFill/>
        </p:spPr>
        <p:txBody>
          <a:bodyPr wrap="square">
            <a:spAutoFit/>
          </a:bodyPr>
          <a:lstStyle/>
          <a:p>
            <a:pPr algn="l">
              <a:defRPr sz="1200" b="0" i="0">
                <a:solidFill>
                  <a:srgbClr val="FFFFFF"/>
                </a:solidFill>
              </a:defRPr>
            </a:pPr>
            <a:r>
              <a:t>Add a detailed channel description and optimize video titles and thumbnails with relevant keywords to improve search discoverability and subscriber growth.</a:t>
            </a:r>
          </a:p>
        </p:txBody>
      </p:sp>
      <p:sp>
        <p:nvSpPr>
          <p:cNvPr id="14" name="Rectangle 13"/>
          <p:cNvSpPr/>
          <p:nvPr/>
        </p:nvSpPr>
        <p:spPr>
          <a:xfrm>
            <a:off x="6309360" y="2834640"/>
            <a:ext cx="5486400" cy="118872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926080"/>
            <a:ext cx="5120640" cy="347472"/>
          </a:xfrm>
          <a:prstGeom prst="rect">
            <a:avLst/>
          </a:prstGeom>
          <a:noFill/>
        </p:spPr>
        <p:txBody>
          <a:bodyPr wrap="square">
            <a:spAutoFit/>
          </a:bodyPr>
          <a:lstStyle/>
          <a:p>
            <a:pPr algn="l">
              <a:defRPr sz="1300" b="1" i="0">
                <a:solidFill>
                  <a:srgbClr val="16A085"/>
                </a:solidFill>
              </a:defRPr>
            </a:pPr>
            <a:r>
              <a:t>💼  LinkedIn</a:t>
            </a:r>
          </a:p>
        </p:txBody>
      </p:sp>
      <p:sp>
        <p:nvSpPr>
          <p:cNvPr id="16" name="TextBox 15"/>
          <p:cNvSpPr txBox="1"/>
          <p:nvPr/>
        </p:nvSpPr>
        <p:spPr>
          <a:xfrm>
            <a:off x="6492240" y="3310128"/>
            <a:ext cx="5120640" cy="621792"/>
          </a:xfrm>
          <a:prstGeom prst="rect">
            <a:avLst/>
          </a:prstGeom>
          <a:noFill/>
        </p:spPr>
        <p:txBody>
          <a:bodyPr wrap="square">
            <a:spAutoFit/>
          </a:bodyPr>
          <a:lstStyle/>
          <a:p>
            <a:pPr algn="l">
              <a:defRPr sz="1200" b="0" i="0">
                <a:solidFill>
                  <a:srgbClr val="FFFFFF"/>
                </a:solidFill>
              </a:defRPr>
            </a:pPr>
            <a:r>
              <a:t>Leverage the large LinkedIn audience by publishing regular thought leadership content, case studies, and industry insights to convert followers into business leads.</a:t>
            </a:r>
          </a:p>
        </p:txBody>
      </p:sp>
      <p:sp>
        <p:nvSpPr>
          <p:cNvPr id="17" name="Rectangle 16"/>
          <p:cNvSpPr/>
          <p:nvPr/>
        </p:nvSpPr>
        <p:spPr>
          <a:xfrm>
            <a:off x="457200" y="4343400"/>
            <a:ext cx="11247120" cy="137160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34840"/>
            <a:ext cx="4572000" cy="320040"/>
          </a:xfrm>
          <a:prstGeom prst="rect">
            <a:avLst/>
          </a:prstGeom>
          <a:noFill/>
        </p:spPr>
        <p:txBody>
          <a:bodyPr wrap="square">
            <a:spAutoFit/>
          </a:bodyPr>
          <a:lstStyle/>
          <a:p>
            <a:pPr algn="l">
              <a:defRPr sz="1200" b="1" i="0">
                <a:solidFill>
                  <a:srgbClr val="D4AF37"/>
                </a:solidFill>
              </a:defRPr>
            </a:pPr>
            <a:r>
              <a:t>🎯  TOP PRIORITY</a:t>
            </a:r>
          </a:p>
        </p:txBody>
      </p:sp>
      <p:sp>
        <p:nvSpPr>
          <p:cNvPr id="19" name="TextBox 18"/>
          <p:cNvSpPr txBox="1"/>
          <p:nvPr/>
        </p:nvSpPr>
        <p:spPr>
          <a:xfrm>
            <a:off x="685800" y="4800600"/>
            <a:ext cx="10789920" cy="777240"/>
          </a:xfrm>
          <a:prstGeom prst="rect">
            <a:avLst/>
          </a:prstGeom>
          <a:noFill/>
        </p:spPr>
        <p:txBody>
          <a:bodyPr wrap="square">
            <a:spAutoFit/>
          </a:bodyPr>
          <a:lstStyle/>
          <a:p>
            <a:pPr algn="l">
              <a:defRPr sz="1400" b="0" i="0">
                <a:solidFill>
                  <a:srgbClr val="FFFFFF"/>
                </a:solidFill>
              </a:defRPr>
            </a:pPr>
            <a:r>
              <a:t>Prioritize completing and optimizing all social media profiles with bios, contact information, and consistent branding, then cross-promote LinkedIn content to grow weaker platforms.</a:t>
            </a:r>
          </a:p>
        </p:txBody>
      </p:sp>
      <p:sp>
        <p:nvSpPr>
          <p:cNvPr id="20" name="TextBox 19"/>
          <p:cNvSpPr txBox="1"/>
          <p:nvPr/>
        </p:nvSpPr>
        <p:spPr>
          <a:xfrm>
            <a:off x="457200" y="6492240"/>
            <a:ext cx="11247120" cy="274320"/>
          </a:xfrm>
          <a:prstGeom prst="rect">
            <a:avLst/>
          </a:prstGeom>
          <a:noFill/>
        </p:spPr>
        <p:txBody>
          <a:bodyPr wrap="square">
            <a:spAutoFit/>
          </a:bodyPr>
          <a:lstStyle/>
          <a:p>
            <a:pPr algn="ctr">
              <a:defRPr sz="1000" b="0" i="1">
                <a:solidFill>
                  <a:srgbClr val="C8D2E6"/>
                </a:solidFill>
              </a:defRPr>
            </a:pPr>
            <a:r>
              <a:t>Report for eReleGo Technologies Pvt Ltd (https://erelego.com/)  •  SearchAPI.io + Claude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