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Posts</c:v>
                </c:pt>
              </c:strCache>
            </c:strRef>
          </c:tx>
          <c:dPt>
            <c:idx val="0"/>
            <c:spPr>
              <a:solidFill>
                <a:srgbClr val="16A085"/>
              </a:solidFill>
            </c:spPr>
          </c:dPt>
          <c:dPt>
            <c:idx val="1"/>
            <c:spPr>
              <a:solidFill>
                <a:srgbClr val="D4AF37"/>
              </a:solidFill>
            </c:spPr>
          </c:dPt>
          <c:dPt>
            <c:idx val="2"/>
            <c:spPr>
              <a:solidFill>
                <a:srgbClr val="8E44AD"/>
              </a:solidFill>
            </c:spPr>
          </c:dPt>
          <c:cat>
            <c:strRef>
              <c:f>Sheet1!$A$2:$A$4</c:f>
              <c:strCache>
                <c:ptCount val="3"/>
                <c:pt idx="0">
                  <c:v>Images</c:v>
                </c:pt>
                <c:pt idx="1">
                  <c:v>Carousels</c:v>
                </c:pt>
                <c:pt idx="2">
                  <c:v>Videos / Reels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0</c:v>
                </c:pt>
                <c:pt idx="2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FFFFF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1">
                <a:solidFill>
                  <a:srgbClr val="D4AF37"/>
                </a:solidFill>
              </a:defRPr>
            </a:pPr>
            <a:r>
              <a:t>INSTAGRAM PROFILE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FFFFFF"/>
                </a:solidFill>
              </a:defRPr>
            </a:pPr>
            <a:r>
              <a:t>@erelego_technologies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C8D2E6"/>
                </a:solidFill>
              </a:defRPr>
            </a:pPr>
            <a:r>
              <a:t>eReleGo Technologies Pvt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D4AF37"/>
                </a:solidFill>
              </a:defRPr>
            </a:pPr>
            <a:r>
              <a:t>IT Solutions &amp; Digital Marketing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D2E6"/>
                </a:solidFill>
              </a:defRPr>
            </a:pPr>
            <a:r>
              <a:t>🌐  https://erelego.com/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251960"/>
            <a:ext cx="2468880" cy="1417320"/>
          </a:xfrm>
          <a:prstGeom prst="rect">
            <a:avLst/>
          </a:prstGeom>
          <a:solidFill>
            <a:srgbClr val="0E1E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251960"/>
            <a:ext cx="246888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416552"/>
            <a:ext cx="2249424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211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1" y="5074005"/>
            <a:ext cx="2322576" cy="538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FOLLOWERS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4251960"/>
            <a:ext cx="2468880" cy="1417320"/>
          </a:xfrm>
          <a:prstGeom prst="rect">
            <a:avLst/>
          </a:prstGeom>
          <a:solidFill>
            <a:srgbClr val="0E1E3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4251960"/>
            <a:ext cx="246888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3008" y="4416552"/>
            <a:ext cx="2249424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8.49%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5074005"/>
            <a:ext cx="2322576" cy="538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ENGAGEMENT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4251960"/>
            <a:ext cx="2468880" cy="1417320"/>
          </a:xfrm>
          <a:prstGeom prst="rect">
            <a:avLst/>
          </a:prstGeom>
          <a:solidFill>
            <a:srgbClr val="0E1E3A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4251960"/>
            <a:ext cx="2468880" cy="54864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4416552"/>
            <a:ext cx="2249424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566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5074005"/>
            <a:ext cx="2322576" cy="538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TOTAL POSTS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C8D2E6"/>
                </a:solidFill>
              </a:defRPr>
            </a:pPr>
            <a:r>
              <a:t>Business Account  •  https://erelego.com/  •  Powered by SearchAPI.io + Claude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D4AF37"/>
                </a:solidFill>
              </a:defRPr>
            </a:pPr>
            <a:r>
              <a:t>Profile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C8D2E6"/>
                </a:solidFill>
              </a:defRPr>
            </a:pPr>
            <a:r>
              <a:t>@erelego_technologies  —  IT Solutions &amp; Digital Marketing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4747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353312"/>
            <a:ext cx="3255263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196388"/>
            <a:ext cx="3328415" cy="660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FOLLOWERS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474720" cy="54864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1353312"/>
            <a:ext cx="3255263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2196388"/>
            <a:ext cx="3328415" cy="660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FOLLOWING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188720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47472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353312"/>
            <a:ext cx="3255263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566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196388"/>
            <a:ext cx="3328415" cy="660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TOTAL POSTS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347472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913631"/>
            <a:ext cx="3255263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4756708"/>
            <a:ext cx="3328415" cy="660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AVG LIKES/POST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749039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749039"/>
            <a:ext cx="3474720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07408" y="3913631"/>
            <a:ext cx="3255263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2" y="4756708"/>
            <a:ext cx="3328415" cy="660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AVG COMMENTS/POST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749039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49039"/>
            <a:ext cx="34747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3913631"/>
            <a:ext cx="3255263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8.49%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4756708"/>
            <a:ext cx="3328415" cy="660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ENGAGEMENT RATE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D4AF37"/>
                </a:solidFill>
              </a:defRPr>
            </a:pPr>
            <a:r>
              <a:t>Engagement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C8D2E6"/>
                </a:solidFill>
              </a:defRPr>
            </a:pPr>
            <a:r>
              <a:t>Key performance metrics at a glance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270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50C1A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50C1A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50C1A"/>
                          </a:solidFill>
                        </a:defRPr>
                      </a:pPr>
                      <a:r>
                        <a:t>Benchmark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50C1A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Followers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211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Varies by niche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📊 Data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Engagement Rate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8.49%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&gt; 3% is good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🟢 Strong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Avg Likes/Post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Varies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📊 Data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Avg Comments/Post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&gt; 20 is strong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📊 Data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Posting Frequency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Approximately 2-3x per week based on 566 posts over the account lifetime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3-5x/week ideal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📊 Data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Account Type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Business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Business preferred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📊 Data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C8D2E6"/>
                </a:solidFill>
              </a:defRPr>
            </a:pPr>
            <a:r>
              <a:t>Despite a very small follower base of 211, the 8.49% engagement rate is significantly above the industry average, indicating a highly responsive niche audience.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D4AF37"/>
                </a:solidFill>
              </a:defRPr>
            </a:pPr>
            <a:r>
              <a:t>Content Mix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C8D2E6"/>
                </a:solidFill>
              </a:defRPr>
            </a:pPr>
            <a:r>
              <a:t>Breakdown from recent 12 posts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88720"/>
          <a:ext cx="68580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772400" y="1371600"/>
            <a:ext cx="3931920" cy="1463040"/>
          </a:xfrm>
          <a:prstGeom prst="rect">
            <a:avLst/>
          </a:prstGeom>
          <a:solidFill>
            <a:srgbClr val="0E1E3A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0" y="1371600"/>
            <a:ext cx="3931920" cy="54864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82127" y="1536192"/>
            <a:ext cx="37124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7 posts (58%)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45552" y="2220163"/>
            <a:ext cx="3785615" cy="555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IMAGES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3108960"/>
            <a:ext cx="3931920" cy="1463040"/>
          </a:xfrm>
          <a:prstGeom prst="rect">
            <a:avLst/>
          </a:prstGeom>
          <a:solidFill>
            <a:srgbClr val="0E1E3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0" y="3108960"/>
            <a:ext cx="393192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82127" y="3273552"/>
            <a:ext cx="37124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0 posts (0%)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5552" y="3957523"/>
            <a:ext cx="3785615" cy="555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CAROUSELS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4846320"/>
            <a:ext cx="3931920" cy="1463040"/>
          </a:xfrm>
          <a:prstGeom prst="rect">
            <a:avLst/>
          </a:prstGeom>
          <a:solidFill>
            <a:srgbClr val="0E1E3A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4846320"/>
            <a:ext cx="3931920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5010912"/>
            <a:ext cx="37124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5 posts (41%)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5694883"/>
            <a:ext cx="3785615" cy="555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VIDEOS / REELS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C8D2E6"/>
                </a:solidFill>
              </a:defRPr>
            </a:pPr>
            <a:r>
              <a:t>Images: 7 (58%), Carousels: 0 (0%), Videos: 5 (42%)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D4AF37"/>
                </a:solidFill>
              </a:defRPr>
            </a:pPr>
            <a:r>
              <a:t>Content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C8D2E6"/>
                </a:solidFill>
              </a:defRPr>
            </a:pPr>
            <a:r>
              <a:t>What works for this account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50C1A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50C1A"/>
                          </a:solidFill>
                        </a:defRPr>
                      </a:pPr>
                      <a:r>
                        <a:t>Content Type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50C1A"/>
                          </a:solidFill>
                        </a:defRPr>
                      </a:pPr>
                      <a:r>
                        <a:t>Strategic Insight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Images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Primary content driver — keep investing here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Videos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Strong engagement format — use consistently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Educational/Promotional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Diversifies reach — great for discoverability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480560"/>
            <a:ext cx="11247120" cy="1645920"/>
          </a:xfrm>
          <a:prstGeom prst="rect">
            <a:avLst/>
          </a:prstGeom>
          <a:solidFill>
            <a:srgbClr val="0E1E3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572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4AF37"/>
                </a:solidFill>
              </a:defRPr>
            </a:pPr>
            <a:r>
              <a:t>BIO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93776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</a:defRPr>
            </a:pPr>
            <a:r>
              <a:t>eReleGo Technologies is a B2B IT solutions company offering digital marketing, programmatic advertising, publisher monetization, ePaper solutions, and ERP systems. They focus on helping businesses improve efficiency through tailored technology products.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1">
                <a:solidFill>
                  <a:srgbClr val="D4AF37"/>
                </a:solidFill>
              </a:defRPr>
            </a:pPr>
            <a:r>
              <a:t>GROWTH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</a:defRPr>
            </a:pPr>
            <a:r>
              <a:t>Strategic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486400" cy="1417320"/>
          </a:xfrm>
          <a:prstGeom prst="rect">
            <a:avLst/>
          </a:prstGeom>
          <a:solidFill>
            <a:srgbClr val="0E1E3A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64207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6A085"/>
                </a:solidFill>
              </a:defRPr>
            </a:pPr>
            <a:r>
              <a:t>📈  Growth Insight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</a:defRPr>
            </a:pPr>
            <a:r>
              <a:t>With 566 posts and only 211 followers, the account has a very low follower-to-post ratio, suggesting content discoverability and audience growth strategies need urgent improvement.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00400"/>
            <a:ext cx="5486400" cy="1417320"/>
          </a:xfrm>
          <a:prstGeom prst="rect">
            <a:avLst/>
          </a:prstGeom>
          <a:solidFill>
            <a:srgbClr val="0E1E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3101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2ECC71"/>
                </a:solidFill>
              </a:defRPr>
            </a:pPr>
            <a:r>
              <a:t>💪  Key Strength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</a:defRPr>
            </a:pPr>
            <a:r>
              <a:t>Above-average engagement rate demonstrates that existing followers are genuinely interested in the content being shared.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486400" cy="1417320"/>
          </a:xfrm>
          <a:prstGeom prst="rect">
            <a:avLst/>
          </a:prstGeom>
          <a:solidFill>
            <a:srgbClr val="0E1E3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64207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D4AF37"/>
                </a:solidFill>
              </a:defRPr>
            </a:pPr>
            <a:r>
              <a:t>🎯  Recommendation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5740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</a:defRPr>
            </a:pPr>
            <a:r>
              <a:t>Introduce carousel posts with step-by-step IT tips or case studies, as carousels typically drive higher reach and saves on Instagram, and pair them with relevant trending hashtags to improve discoverability and follower growth.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200400"/>
            <a:ext cx="5486400" cy="1417320"/>
          </a:xfrm>
          <a:prstGeom prst="rect">
            <a:avLst/>
          </a:prstGeom>
          <a:solidFill>
            <a:srgbClr val="0E1E3A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3101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8E44AD"/>
                </a:solidFill>
              </a:defRPr>
            </a:pPr>
            <a:r>
              <a:t>🔄  Posting Frequency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0332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</a:defRPr>
            </a:pPr>
            <a:r>
              <a:t>Approximately 2-3x per week based on 566 posts over the account lifetime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C8D2E6"/>
                </a:solidFill>
              </a:defRPr>
            </a:pPr>
            <a:r>
              <a:t>Report for @erelego_technologies (https://erelego.com/)  •  SearchAPI.io + Claude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